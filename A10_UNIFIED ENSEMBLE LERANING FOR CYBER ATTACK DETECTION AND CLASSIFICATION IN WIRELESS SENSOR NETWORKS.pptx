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handoutMasterIdLst>
    <p:handoutMasterId r:id="rId36"/>
  </p:handoutMasterIdLst>
  <p:sldIdLst>
    <p:sldId id="327" r:id="rId2"/>
    <p:sldId id="287" r:id="rId3"/>
    <p:sldId id="273" r:id="rId4"/>
    <p:sldId id="281" r:id="rId5"/>
    <p:sldId id="283" r:id="rId6"/>
    <p:sldId id="288" r:id="rId7"/>
    <p:sldId id="290" r:id="rId8"/>
    <p:sldId id="297" r:id="rId9"/>
    <p:sldId id="301" r:id="rId10"/>
    <p:sldId id="302" r:id="rId11"/>
    <p:sldId id="303" r:id="rId12"/>
    <p:sldId id="304" r:id="rId13"/>
    <p:sldId id="307" r:id="rId14"/>
    <p:sldId id="308" r:id="rId15"/>
    <p:sldId id="332" r:id="rId16"/>
    <p:sldId id="333" r:id="rId17"/>
    <p:sldId id="310" r:id="rId18"/>
    <p:sldId id="328" r:id="rId19"/>
    <p:sldId id="311" r:id="rId20"/>
    <p:sldId id="312" r:id="rId21"/>
    <p:sldId id="313" r:id="rId22"/>
    <p:sldId id="314" r:id="rId23"/>
    <p:sldId id="331" r:id="rId24"/>
    <p:sldId id="315" r:id="rId25"/>
    <p:sldId id="316" r:id="rId26"/>
    <p:sldId id="319" r:id="rId27"/>
    <p:sldId id="323" r:id="rId28"/>
    <p:sldId id="322" r:id="rId29"/>
    <p:sldId id="329" r:id="rId30"/>
    <p:sldId id="330" r:id="rId31"/>
    <p:sldId id="334" r:id="rId32"/>
    <p:sldId id="335" r:id="rId33"/>
    <p:sldId id="27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BFAAFBF-3D3D-4D11-B41C-39409C732DF9}">
          <p14:sldIdLst>
            <p14:sldId id="327"/>
            <p14:sldId id="287"/>
            <p14:sldId id="273"/>
            <p14:sldId id="281"/>
            <p14:sldId id="283"/>
            <p14:sldId id="288"/>
            <p14:sldId id="290"/>
            <p14:sldId id="297"/>
            <p14:sldId id="301"/>
            <p14:sldId id="302"/>
            <p14:sldId id="303"/>
            <p14:sldId id="304"/>
            <p14:sldId id="307"/>
            <p14:sldId id="308"/>
            <p14:sldId id="332"/>
            <p14:sldId id="333"/>
            <p14:sldId id="310"/>
            <p14:sldId id="328"/>
            <p14:sldId id="311"/>
            <p14:sldId id="312"/>
            <p14:sldId id="313"/>
            <p14:sldId id="314"/>
            <p14:sldId id="331"/>
            <p14:sldId id="315"/>
            <p14:sldId id="316"/>
            <p14:sldId id="319"/>
            <p14:sldId id="323"/>
            <p14:sldId id="322"/>
            <p14:sldId id="329"/>
            <p14:sldId id="330"/>
            <p14:sldId id="334"/>
            <p14:sldId id="335"/>
          </p14:sldIdLst>
        </p14:section>
        <p14:section name="Untitled Section" id="{E4EEA6A0-01D7-44EB-B418-472908ED146D}">
          <p14:sldIdLst>
            <p14:sldId id="27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9900"/>
    <a:srgbClr val="F4AF83"/>
    <a:srgbClr val="006666"/>
    <a:srgbClr val="0099FF"/>
    <a:srgbClr val="008080"/>
    <a:srgbClr val="0F9F7D"/>
    <a:srgbClr val="008000"/>
    <a:srgbClr val="373545"/>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5208" autoAdjust="0"/>
  </p:normalViewPr>
  <p:slideViewPr>
    <p:cSldViewPr snapToGrid="0">
      <p:cViewPr varScale="1">
        <p:scale>
          <a:sx n="81" d="100"/>
          <a:sy n="81" d="100"/>
        </p:scale>
        <p:origin x="907" y="72"/>
      </p:cViewPr>
      <p:guideLst/>
    </p:cSldViewPr>
  </p:slideViewPr>
  <p:outlineViewPr>
    <p:cViewPr>
      <p:scale>
        <a:sx n="33" d="100"/>
        <a:sy n="33" d="100"/>
      </p:scale>
      <p:origin x="0" y="-23299"/>
    </p:cViewPr>
  </p:outlineViewPr>
  <p:notesTextViewPr>
    <p:cViewPr>
      <p:scale>
        <a:sx n="1" d="1"/>
        <a:sy n="1" d="1"/>
      </p:scale>
      <p:origin x="0" y="0"/>
    </p:cViewPr>
  </p:notesTextViewPr>
  <p:notesViewPr>
    <p:cSldViewPr snapToGrid="0">
      <p:cViewPr varScale="1">
        <p:scale>
          <a:sx n="52" d="100"/>
          <a:sy n="52" d="100"/>
        </p:scale>
        <p:origin x="2680" y="6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E5FBE0-5C21-4E83-8069-52D09BCDD71E}" type="datetimeFigureOut">
              <a:rPr lang="en-IN" smtClean="0"/>
              <a:t>22-04-2026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6C5872-5BF2-424D-ADD9-174D7927D36A}"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46DD5-0A30-46AD-B2E1-F25508726044}" type="datetimeFigureOut">
              <a:rPr lang="en-IN" smtClean="0"/>
              <a:t>22-04-2026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FBC11-2ED2-450E-A0CC-CEA7380C613F}" type="slidenum">
              <a:rPr lang="en-IN" smtClean="0"/>
              <a:t>‹#›</a:t>
            </a:fld>
            <a:endParaRPr lang="en-IN"/>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defRPr b="0" cap="none" spc="0">
                <a:ln w="0"/>
                <a:solidFill>
                  <a:schemeClr val="bg1"/>
                </a:solidFill>
                <a:effectLst>
                  <a:outerShdw blurRad="38100" dist="25400" dir="5400000" algn="ctr" rotWithShape="0">
                    <a:srgbClr val="6E747A">
                      <a:alpha val="43000"/>
                    </a:srgbClr>
                  </a:outerShdw>
                </a:effectLst>
              </a:defRPr>
            </a:lvl1pPr>
          </a:lstStyle>
          <a:p>
            <a:r>
              <a:rPr lang="en-US" dirty="0"/>
              <a:t>Click to edit Master title style</a:t>
            </a:r>
            <a:endParaRPr lang="en-IN" dirty="0"/>
          </a:p>
        </p:txBody>
      </p:sp>
      <p:sp>
        <p:nvSpPr>
          <p:cNvPr id="3" name="Content Placeholder 2"/>
          <p:cNvSpPr>
            <a:spLocks noGrp="1"/>
          </p:cNvSpPr>
          <p:nvPr>
            <p:ph idx="1"/>
          </p:nvPr>
        </p:nvSpPr>
        <p:spPr>
          <a:xfrm>
            <a:off x="199505" y="1097279"/>
            <a:ext cx="11779135" cy="5394960"/>
          </a:xfrm>
        </p:spPr>
        <p:txBody>
          <a:bodyPr/>
          <a:lstStyle>
            <a:lvl1pPr marL="228600" indent="-228600">
              <a:buFont typeface="Wingdings" panose="05000000000000000000" pitchFamily="2" charset="2"/>
              <a:buChar char="Ø"/>
              <a:defRPr/>
            </a:lvl1pPr>
            <a:lvl2pPr marL="685800" indent="-228600">
              <a:buFont typeface="Wingdings" panose="05000000000000000000" pitchFamily="2" charset="2"/>
              <a:buChar char="q"/>
              <a:defRPr/>
            </a:lvl2pPr>
            <a:lvl3pPr marL="1143000" indent="-228600">
              <a:buFont typeface="Courier New" panose="02070309020205020404" pitchFamily="49" charset="0"/>
              <a:buChar char="o"/>
              <a:defRPr/>
            </a:lvl3pPr>
            <a:lvl4pPr marL="1600200" indent="-228600">
              <a:buFont typeface="Wingdings" panose="05000000000000000000" pitchFamily="2" charset="2"/>
              <a:buChar char="§"/>
              <a:defRPr/>
            </a:lvl4pPr>
            <a:lvl5pPr marL="2057400" indent="-228600">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3"/>
          <p:cNvSpPr txBox="1"/>
          <p:nvPr userDrawn="1"/>
        </p:nvSpPr>
        <p:spPr>
          <a:xfrm>
            <a:off x="777239" y="6642828"/>
            <a:ext cx="5654039" cy="215172"/>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Dept. of Computer Science and Engineering( data science )</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6431278" y="6641866"/>
            <a:ext cx="5322917" cy="216133"/>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Srinivasa Ramanujan Institute of Technology</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1754196" y="6641865"/>
            <a:ext cx="437803" cy="216133"/>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DAC095C-C545-42F9-B93D-2B3224753C51}" type="slidenum">
              <a:rPr lang="en-US" sz="16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fld>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1" y="0"/>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i="1" dirty="0">
                <a:solidFill>
                  <a:schemeClr val="bg1"/>
                </a:solidFill>
                <a:effectLst/>
                <a:latin typeface="Times New Roman" panose="02020603050405020304" pitchFamily="18" charset="0"/>
                <a:cs typeface="Times New Roman" panose="02020603050405020304" pitchFamily="18" charset="0"/>
              </a:rPr>
              <a:t>Unified Ensemble Learning for Cyber Attack Detection and Classification in Wireless Sensor Networks</a:t>
            </a: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06200" y="5956065"/>
            <a:ext cx="685800" cy="685800"/>
          </a:xfrm>
          <a:prstGeom prst="rect">
            <a:avLst/>
          </a:prstGeom>
        </p:spPr>
      </p:pic>
      <p:sp>
        <p:nvSpPr>
          <p:cNvPr id="10" name="Date Placeholder 3"/>
          <p:cNvSpPr txBox="1"/>
          <p:nvPr userDrawn="1"/>
        </p:nvSpPr>
        <p:spPr>
          <a:xfrm>
            <a:off x="0" y="6642828"/>
            <a:ext cx="777239" cy="21517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A - 10</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1">
            <a:extLst>
              <a:ext uri="{FF2B5EF4-FFF2-40B4-BE49-F238E27FC236}">
                <a16:creationId xmlns:a16="http://schemas.microsoft.com/office/drawing/2014/main" id="{CB5ACD3F-98FF-9774-A685-880C56CCC02C}"/>
              </a:ext>
            </a:extLst>
          </p:cNvPr>
          <p:cNvSpPr txBox="1">
            <a:spLocks/>
          </p:cNvSpPr>
          <p:nvPr/>
        </p:nvSpPr>
        <p:spPr>
          <a:xfrm>
            <a:off x="6320572" y="1752604"/>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Karthik P</a:t>
            </a:r>
          </a:p>
          <a:p>
            <a:pPr>
              <a:spcBef>
                <a:spcPts val="300"/>
              </a:spcBef>
            </a:pPr>
            <a:r>
              <a:rPr lang="en-US" sz="1200" b="0" dirty="0"/>
              <a:t>Roll No. 224G1A3239</a:t>
            </a:r>
          </a:p>
        </p:txBody>
      </p:sp>
      <p:sp>
        <p:nvSpPr>
          <p:cNvPr id="3" name="Subtitle 11">
            <a:extLst>
              <a:ext uri="{FF2B5EF4-FFF2-40B4-BE49-F238E27FC236}">
                <a16:creationId xmlns:a16="http://schemas.microsoft.com/office/drawing/2014/main" id="{90EAEEC8-91BC-FD98-D734-A70812C4C8B3}"/>
              </a:ext>
            </a:extLst>
          </p:cNvPr>
          <p:cNvSpPr txBox="1">
            <a:spLocks/>
          </p:cNvSpPr>
          <p:nvPr/>
        </p:nvSpPr>
        <p:spPr>
          <a:xfrm>
            <a:off x="3759654" y="2569201"/>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300"/>
              </a:spcBef>
            </a:pPr>
            <a:r>
              <a:rPr lang="en-US" sz="2000" b="0" dirty="0">
                <a:effectLst>
                  <a:outerShdw blurRad="38100" dist="38100" dir="2700000" algn="tl">
                    <a:srgbClr val="000000">
                      <a:alpha val="43137"/>
                    </a:srgbClr>
                  </a:outerShdw>
                </a:effectLst>
              </a:rPr>
              <a:t>Dr. P. </a:t>
            </a:r>
            <a:r>
              <a:rPr lang="en-US" sz="2000" b="0" dirty="0" err="1">
                <a:effectLst>
                  <a:outerShdw blurRad="38100" dist="38100" dir="2700000" algn="tl">
                    <a:srgbClr val="000000">
                      <a:alpha val="43137"/>
                    </a:srgbClr>
                  </a:outerShdw>
                </a:effectLst>
              </a:rPr>
              <a:t>Chitralingappa</a:t>
            </a:r>
            <a:r>
              <a:rPr lang="en-US" sz="2000" b="0" dirty="0">
                <a:effectLst>
                  <a:outerShdw blurRad="38100" dist="38100" dir="2700000" algn="tl">
                    <a:srgbClr val="000000">
                      <a:alpha val="43137"/>
                    </a:srgbClr>
                  </a:outerShdw>
                </a:effectLst>
              </a:rPr>
              <a:t> </a:t>
            </a:r>
            <a:r>
              <a:rPr lang="en-US" sz="2400" b="0" baseline="-25000" dirty="0">
                <a:effectLst>
                  <a:outerShdw blurRad="38100" dist="38100" dir="2700000" algn="tl">
                    <a:srgbClr val="000000">
                      <a:alpha val="43137"/>
                    </a:srgbClr>
                  </a:outerShdw>
                </a:effectLst>
              </a:rPr>
              <a:t>M. </a:t>
            </a:r>
            <a:r>
              <a:rPr lang="en-US" sz="2400" b="0" baseline="-25000">
                <a:effectLst>
                  <a:outerShdw blurRad="38100" dist="38100" dir="2700000" algn="tl">
                    <a:srgbClr val="000000">
                      <a:alpha val="43137"/>
                    </a:srgbClr>
                  </a:outerShdw>
                </a:effectLst>
              </a:rPr>
              <a:t>Tech., Ph.D.</a:t>
            </a:r>
            <a:endParaRPr lang="en-IN" sz="2400" b="0" baseline="-25000" dirty="0">
              <a:effectLst>
                <a:outerShdw blurRad="38100" dist="38100" dir="2700000" algn="tl">
                  <a:srgbClr val="000000">
                    <a:alpha val="43137"/>
                  </a:srgbClr>
                </a:outerShdw>
              </a:effectLst>
            </a:endParaRPr>
          </a:p>
          <a:p>
            <a:pPr>
              <a:spcBef>
                <a:spcPts val="200"/>
              </a:spcBef>
            </a:pPr>
            <a:r>
              <a:rPr lang="en-IN" sz="1400" b="0" dirty="0"/>
              <a:t>Associate Professor &amp; HOD</a:t>
            </a:r>
          </a:p>
        </p:txBody>
      </p:sp>
      <p:sp>
        <p:nvSpPr>
          <p:cNvPr id="8" name="Subtitle 11">
            <a:extLst>
              <a:ext uri="{FF2B5EF4-FFF2-40B4-BE49-F238E27FC236}">
                <a16:creationId xmlns:a16="http://schemas.microsoft.com/office/drawing/2014/main" id="{380CE817-AF00-F68E-6F5A-DC8DEC45CA92}"/>
              </a:ext>
            </a:extLst>
          </p:cNvPr>
          <p:cNvSpPr txBox="1">
            <a:spLocks/>
          </p:cNvSpPr>
          <p:nvPr/>
        </p:nvSpPr>
        <p:spPr>
          <a:xfrm>
            <a:off x="1514475" y="5162533"/>
            <a:ext cx="9163049" cy="1427181"/>
          </a:xfrm>
          <a:prstGeom prst="rect">
            <a:avLst/>
          </a:prstGeom>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(Data Science)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2100" dirty="0">
                <a:effectLst/>
                <a:ea typeface="Times New Roman" panose="02020603050405020304" pitchFamily="18" charset="0"/>
              </a:rPr>
              <a:t>(Affiliated to JNTUA &amp; Approved by AICTE) (Accredited by NAAC with ‘A’ Grade &amp; Accredited by NBA (EEE, ECE &amp; CSE)</a:t>
            </a:r>
            <a:endParaRPr lang="en-US" sz="2100" b="0" dirty="0"/>
          </a:p>
          <a:p>
            <a:pPr>
              <a:spcBef>
                <a:spcPts val="300"/>
              </a:spcBef>
            </a:pPr>
            <a:r>
              <a:rPr lang="en-US" sz="2300" dirty="0" err="1"/>
              <a:t>Rotarypuram</a:t>
            </a:r>
            <a:r>
              <a:rPr lang="en-US" sz="2300" dirty="0"/>
              <a:t> Village, B K </a:t>
            </a:r>
            <a:r>
              <a:rPr lang="en-US" sz="2300" dirty="0" err="1"/>
              <a:t>Samudram</a:t>
            </a:r>
            <a:r>
              <a:rPr lang="en-US" sz="2300" dirty="0"/>
              <a:t> Mandal, </a:t>
            </a:r>
            <a:r>
              <a:rPr lang="en-US" sz="2300" dirty="0" err="1"/>
              <a:t>Ananthapuramu</a:t>
            </a:r>
            <a:r>
              <a:rPr lang="en-US" sz="2300" dirty="0"/>
              <a:t> – 515701.</a:t>
            </a:r>
          </a:p>
          <a:p>
            <a:pPr>
              <a:spcAft>
                <a:spcPts val="100"/>
              </a:spcAft>
            </a:pPr>
            <a:r>
              <a:rPr lang="en-US" sz="2500" dirty="0">
                <a:solidFill>
                  <a:schemeClr val="accent1">
                    <a:lumMod val="50000"/>
                  </a:schemeClr>
                </a:solidFill>
              </a:rPr>
              <a:t>2025 - 2026</a:t>
            </a:r>
            <a:endParaRPr lang="en-US" sz="2500" b="0" dirty="0"/>
          </a:p>
          <a:p>
            <a:endParaRPr lang="en-IN" b="0" dirty="0"/>
          </a:p>
        </p:txBody>
      </p:sp>
      <p:sp>
        <p:nvSpPr>
          <p:cNvPr id="9" name="Subtitle 11">
            <a:extLst>
              <a:ext uri="{FF2B5EF4-FFF2-40B4-BE49-F238E27FC236}">
                <a16:creationId xmlns:a16="http://schemas.microsoft.com/office/drawing/2014/main" id="{AC3D1776-6849-C7D5-17D7-651C13F1B8B2}"/>
              </a:ext>
            </a:extLst>
          </p:cNvPr>
          <p:cNvSpPr txBox="1">
            <a:spLocks/>
          </p:cNvSpPr>
          <p:nvPr/>
        </p:nvSpPr>
        <p:spPr>
          <a:xfrm>
            <a:off x="3377464" y="1788947"/>
            <a:ext cx="3214275" cy="584534"/>
          </a:xfrm>
          <a:prstGeom prst="rect">
            <a:avLst/>
          </a:prstGeom>
        </p:spPr>
        <p:txBody>
          <a:bodyPr vert="horz" lIns="91440" tIns="45720" rIns="91440" bIns="45720" rtlCol="0">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9600" b="0" dirty="0">
                <a:effectLst>
                  <a:outerShdw blurRad="38100" dist="38100" dir="2700000" algn="tl">
                    <a:srgbClr val="000000">
                      <a:alpha val="43137"/>
                    </a:srgbClr>
                  </a:outerShdw>
                </a:effectLst>
              </a:rPr>
              <a:t>  Dinesh Reddy C</a:t>
            </a:r>
          </a:p>
          <a:p>
            <a:pPr>
              <a:spcBef>
                <a:spcPts val="300"/>
              </a:spcBef>
            </a:pPr>
            <a:r>
              <a:rPr lang="en-US" sz="4400" b="0" dirty="0"/>
              <a:t>Roll No. 224G1A3218</a:t>
            </a:r>
          </a:p>
        </p:txBody>
      </p:sp>
      <p:sp>
        <p:nvSpPr>
          <p:cNvPr id="10" name="Subtitle 11">
            <a:extLst>
              <a:ext uri="{FF2B5EF4-FFF2-40B4-BE49-F238E27FC236}">
                <a16:creationId xmlns:a16="http://schemas.microsoft.com/office/drawing/2014/main" id="{98A2AEDC-6ABD-AE72-3B69-7B3C633A2C75}"/>
              </a:ext>
            </a:extLst>
          </p:cNvPr>
          <p:cNvSpPr txBox="1">
            <a:spLocks/>
          </p:cNvSpPr>
          <p:nvPr/>
        </p:nvSpPr>
        <p:spPr>
          <a:xfrm>
            <a:off x="8432328" y="1752604"/>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Akash R</a:t>
            </a:r>
          </a:p>
          <a:p>
            <a:pPr>
              <a:spcBef>
                <a:spcPts val="300"/>
              </a:spcBef>
            </a:pPr>
            <a:r>
              <a:rPr lang="en-US" sz="1200" b="0" dirty="0"/>
              <a:t>Roll No. 224G1A3206</a:t>
            </a:r>
          </a:p>
        </p:txBody>
      </p:sp>
      <p:sp>
        <p:nvSpPr>
          <p:cNvPr id="11" name="Subtitle 11">
            <a:extLst>
              <a:ext uri="{FF2B5EF4-FFF2-40B4-BE49-F238E27FC236}">
                <a16:creationId xmlns:a16="http://schemas.microsoft.com/office/drawing/2014/main" id="{D5CAF6E7-12FF-45AE-DA53-18D755E487C0}"/>
              </a:ext>
            </a:extLst>
          </p:cNvPr>
          <p:cNvSpPr txBox="1">
            <a:spLocks/>
          </p:cNvSpPr>
          <p:nvPr/>
        </p:nvSpPr>
        <p:spPr>
          <a:xfrm>
            <a:off x="919785" y="1807527"/>
            <a:ext cx="2676135" cy="584534"/>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3800" b="0" dirty="0">
                <a:effectLst>
                  <a:outerShdw blurRad="38100" dist="38100" dir="2700000" algn="tl">
                    <a:srgbClr val="000000">
                      <a:alpha val="43137"/>
                    </a:srgbClr>
                  </a:outerShdw>
                </a:effectLst>
              </a:rPr>
              <a:t>Lakshmi Moksha B</a:t>
            </a:r>
          </a:p>
          <a:p>
            <a:pPr>
              <a:spcBef>
                <a:spcPts val="300"/>
              </a:spcBef>
            </a:pPr>
            <a:r>
              <a:rPr lang="en-US" sz="1800" b="0" dirty="0"/>
              <a:t>Roll No. 224G1A3246</a:t>
            </a:r>
          </a:p>
        </p:txBody>
      </p:sp>
      <p:sp>
        <p:nvSpPr>
          <p:cNvPr id="15" name="Rectangle: Rounded Corners 14">
            <a:extLst>
              <a:ext uri="{FF2B5EF4-FFF2-40B4-BE49-F238E27FC236}">
                <a16:creationId xmlns:a16="http://schemas.microsoft.com/office/drawing/2014/main" id="{537BB18A-8638-8901-DA80-0B72965E9E9F}"/>
              </a:ext>
            </a:extLst>
          </p:cNvPr>
          <p:cNvSpPr/>
          <p:nvPr/>
        </p:nvSpPr>
        <p:spPr>
          <a:xfrm>
            <a:off x="755008" y="335270"/>
            <a:ext cx="10656331" cy="926426"/>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Unified Ensemble Learning for Cyber Attack Detection and Classification in Wireless Sensor Networks</a:t>
            </a:r>
          </a:p>
        </p:txBody>
      </p:sp>
      <p:sp>
        <p:nvSpPr>
          <p:cNvPr id="16" name="Rectangle 15">
            <a:extLst>
              <a:ext uri="{FF2B5EF4-FFF2-40B4-BE49-F238E27FC236}">
                <a16:creationId xmlns:a16="http://schemas.microsoft.com/office/drawing/2014/main" id="{B39DEE4E-8296-1802-785C-44E357AA9A5F}"/>
              </a:ext>
            </a:extLst>
          </p:cNvPr>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19" name="Picture 18">
            <a:extLst>
              <a:ext uri="{FF2B5EF4-FFF2-40B4-BE49-F238E27FC236}">
                <a16:creationId xmlns:a16="http://schemas.microsoft.com/office/drawing/2014/main" id="{3051423C-FC39-F56E-3279-3CED3A757F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2105" y="3477046"/>
            <a:ext cx="1843673" cy="16854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FA1A1-B61A-C2BE-13CC-DCBF15E7ED9F}"/>
              </a:ext>
            </a:extLst>
          </p:cNvPr>
          <p:cNvSpPr>
            <a:spLocks noGrp="1"/>
          </p:cNvSpPr>
          <p:nvPr>
            <p:ph type="title"/>
          </p:nvPr>
        </p:nvSpPr>
        <p:spPr>
          <a:xfrm>
            <a:off x="0" y="232759"/>
            <a:ext cx="12192000" cy="714892"/>
          </a:xfrm>
        </p:spPr>
        <p:txBody>
          <a:bodyPr/>
          <a:lstStyle/>
          <a:p>
            <a:r>
              <a:rPr lang="en-IN" dirty="0"/>
              <a:t>Abstract</a:t>
            </a:r>
          </a:p>
        </p:txBody>
      </p:sp>
      <p:sp>
        <p:nvSpPr>
          <p:cNvPr id="3" name="Content Placeholder 2">
            <a:extLst>
              <a:ext uri="{FF2B5EF4-FFF2-40B4-BE49-F238E27FC236}">
                <a16:creationId xmlns:a16="http://schemas.microsoft.com/office/drawing/2014/main" id="{D392ECDA-A153-65FD-13C9-AFD9436AB93F}"/>
              </a:ext>
            </a:extLst>
          </p:cNvPr>
          <p:cNvSpPr>
            <a:spLocks noGrp="1"/>
          </p:cNvSpPr>
          <p:nvPr>
            <p:ph idx="1"/>
          </p:nvPr>
        </p:nvSpPr>
        <p:spPr>
          <a:xfrm>
            <a:off x="199505" y="1317812"/>
            <a:ext cx="11779135" cy="5174427"/>
          </a:xfrm>
        </p:spPr>
        <p:txBody>
          <a:bodyPr>
            <a:normAutofit/>
          </a:bodyPr>
          <a:lstStyle/>
          <a:p>
            <a:pPr marL="0" indent="0">
              <a:buNone/>
            </a:pPr>
            <a:r>
              <a:rPr lang="en-US" sz="2400" dirty="0"/>
              <a:t>Cyber security plays a vital role in protecting Wireless Sensor Networks (WSNs), which are widely used in industrial monitoring, environmental sensing, and smart applications. Due to wireless communication and limited computational resources, WSNs are highly vulnerable to various cyber-attacks. Many existing security solutions mainly focus on detecting attacks and fail to accurately classify different attack types. This project proposes an ensemble-based cyber attack detection and classification system using machine learning and deep learning models such as Stacking, </a:t>
            </a:r>
            <a:r>
              <a:rPr lang="en-US" sz="2400" dirty="0" err="1"/>
              <a:t>XGBoost</a:t>
            </a:r>
            <a:r>
              <a:rPr lang="en-US" sz="2400" dirty="0"/>
              <a:t>, AdaBoost, MLP, and Autoencoder. The system analyzes network behavior using the WSN-DS dataset to detect and classify cyber-attacks effectively. Simulation is performed using the COOJA simulator to analyze node communication behavior and validate the system performance. The proposed system improves detection accuracy, reliability, and security of Wireless Sensor Networks.</a:t>
            </a:r>
          </a:p>
          <a:p>
            <a:pPr marL="0" indent="0">
              <a:buNone/>
            </a:pPr>
            <a:endParaRPr lang="en-IN" sz="2400" dirty="0"/>
          </a:p>
        </p:txBody>
      </p:sp>
    </p:spTree>
    <p:extLst>
      <p:ext uri="{BB962C8B-B14F-4D97-AF65-F5344CB8AC3E}">
        <p14:creationId xmlns:p14="http://schemas.microsoft.com/office/powerpoint/2010/main" val="1255885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endParaRPr lang="en-IN" dirty="0"/>
          </a:p>
        </p:txBody>
      </p:sp>
      <p:sp>
        <p:nvSpPr>
          <p:cNvPr id="3" name="Content Placeholder 2"/>
          <p:cNvSpPr>
            <a:spLocks noGrp="1"/>
          </p:cNvSpPr>
          <p:nvPr>
            <p:ph idx="1"/>
          </p:nvPr>
        </p:nvSpPr>
        <p:spPr>
          <a:xfrm>
            <a:off x="199506" y="1097279"/>
            <a:ext cx="5582730" cy="5394960"/>
          </a:xfrm>
        </p:spPr>
        <p:txBody>
          <a:bodyPr>
            <a:normAutofit/>
          </a:bodyPr>
          <a:lstStyle/>
          <a:p>
            <a:pPr marL="462280" indent="-462280">
              <a:buBlip>
                <a:blip r:embed="rId2">
                  <a:extLst>
                    <a:ext uri="{96DAC541-7B7A-43D3-8B79-37D633B846F1}">
                      <asvg:svgBlip xmlns:asvg="http://schemas.microsoft.com/office/drawing/2016/SVG/main" r:embed="rId3"/>
                    </a:ext>
                  </a:extLst>
                </a:blip>
              </a:buBlip>
            </a:pPr>
            <a:r>
              <a:rPr lang="en-US" dirty="0"/>
              <a:t>Introduction</a:t>
            </a:r>
          </a:p>
          <a:p>
            <a:pPr marL="462280" indent="-462280">
              <a:buBlip>
                <a:blip r:embed="rId2">
                  <a:extLst>
                    <a:ext uri="{96DAC541-7B7A-43D3-8B79-37D633B846F1}">
                      <asvg:svgBlip xmlns:asvg="http://schemas.microsoft.com/office/drawing/2016/SVG/main" r:embed="rId3"/>
                    </a:ext>
                  </a:extLst>
                </a:blip>
              </a:buBlip>
            </a:pPr>
            <a:r>
              <a:rPr lang="en-US" altLang="en-IN" dirty="0"/>
              <a:t>Literature Survey</a:t>
            </a:r>
            <a:endParaRPr lang="en-US" dirty="0"/>
          </a:p>
          <a:p>
            <a:pPr marL="462280" indent="-462280">
              <a:buBlip>
                <a:blip r:embed="rId2">
                  <a:extLst>
                    <a:ext uri="{96DAC541-7B7A-43D3-8B79-37D633B846F1}">
                      <asvg:svgBlip xmlns:asvg="http://schemas.microsoft.com/office/drawing/2016/SVG/main" r:embed="rId3"/>
                    </a:ext>
                  </a:extLst>
                </a:blip>
              </a:buBlip>
            </a:pPr>
            <a:r>
              <a:rPr lang="en-US" dirty="0"/>
              <a:t>Existing System</a:t>
            </a:r>
          </a:p>
          <a:p>
            <a:pPr marL="462280" indent="-462280">
              <a:buBlip>
                <a:blip r:embed="rId2">
                  <a:extLst>
                    <a:ext uri="{96DAC541-7B7A-43D3-8B79-37D633B846F1}">
                      <asvg:svgBlip xmlns:asvg="http://schemas.microsoft.com/office/drawing/2016/SVG/main" r:embed="rId3"/>
                    </a:ext>
                  </a:extLst>
                </a:blip>
              </a:buBlip>
            </a:pPr>
            <a:r>
              <a:rPr lang="en-US" dirty="0"/>
              <a:t>Proposed System</a:t>
            </a:r>
          </a:p>
          <a:p>
            <a:pPr marL="462280" indent="-462280">
              <a:buBlip>
                <a:blip r:embed="rId2">
                  <a:extLst>
                    <a:ext uri="{96DAC541-7B7A-43D3-8B79-37D633B846F1}">
                      <asvg:svgBlip xmlns:asvg="http://schemas.microsoft.com/office/drawing/2016/SVG/main" r:embed="rId3"/>
                    </a:ext>
                  </a:extLst>
                </a:blip>
              </a:buBlip>
            </a:pPr>
            <a:r>
              <a:rPr lang="en-US" dirty="0"/>
              <a:t>Objectives of Project</a:t>
            </a:r>
          </a:p>
          <a:p>
            <a:pPr marL="462280" indent="-462280">
              <a:buBlip>
                <a:blip r:embed="rId2">
                  <a:extLst>
                    <a:ext uri="{96DAC541-7B7A-43D3-8B79-37D633B846F1}">
                      <asvg:svgBlip xmlns:asvg="http://schemas.microsoft.com/office/drawing/2016/SVG/main" r:embed="rId3"/>
                    </a:ext>
                  </a:extLst>
                </a:blip>
              </a:buBlip>
            </a:pPr>
            <a:r>
              <a:rPr lang="en-US" dirty="0"/>
              <a:t>Planning and Design</a:t>
            </a:r>
          </a:p>
          <a:p>
            <a:pPr marL="462280" indent="-462280">
              <a:buBlip>
                <a:blip r:embed="rId2">
                  <a:extLst>
                    <a:ext uri="{96DAC541-7B7A-43D3-8B79-37D633B846F1}">
                      <asvg:svgBlip xmlns:asvg="http://schemas.microsoft.com/office/drawing/2016/SVG/main" r:embed="rId3"/>
                    </a:ext>
                  </a:extLst>
                </a:blip>
              </a:buBlip>
            </a:pPr>
            <a:r>
              <a:rPr lang="en-IN" dirty="0"/>
              <a:t>Requirements</a:t>
            </a:r>
          </a:p>
          <a:p>
            <a:pPr marL="0" indent="0">
              <a:buNone/>
            </a:pPr>
            <a:endParaRPr lang="en-US" dirty="0"/>
          </a:p>
          <a:p>
            <a:pPr marL="0" indent="0">
              <a:buNone/>
            </a:pPr>
            <a:endParaRPr lang="en-IN" dirty="0"/>
          </a:p>
        </p:txBody>
      </p:sp>
      <p:sp>
        <p:nvSpPr>
          <p:cNvPr id="4" name="Content Placeholder 2">
            <a:extLst>
              <a:ext uri="{FF2B5EF4-FFF2-40B4-BE49-F238E27FC236}">
                <a16:creationId xmlns:a16="http://schemas.microsoft.com/office/drawing/2014/main" id="{338C5E98-DA32-4F7A-9C04-3684B2B6F0A4}"/>
              </a:ext>
            </a:extLst>
          </p:cNvPr>
          <p:cNvSpPr txBox="1">
            <a:spLocks/>
          </p:cNvSpPr>
          <p:nvPr/>
        </p:nvSpPr>
        <p:spPr>
          <a:xfrm>
            <a:off x="5878647" y="1097279"/>
            <a:ext cx="5582730" cy="5394960"/>
          </a:xfrm>
          <a:prstGeom prst="rect">
            <a:avLst/>
          </a:prstGeom>
        </p:spPr>
        <p:txBody>
          <a:bodyPr vert="horz" lIns="91440" tIns="45720" rIns="91440" bIns="45720" rtlCol="0">
            <a:normAutofit/>
          </a:bodyPr>
          <a:lstStyle>
            <a:lvl1pPr marL="228600" indent="-228600" algn="just" defTabSz="914400" rtl="0" eaLnBrk="1" latinLnBrk="0" hangingPunct="1">
              <a:lnSpc>
                <a:spcPct val="90000"/>
              </a:lnSpc>
              <a:spcBef>
                <a:spcPts val="1000"/>
              </a:spcBef>
              <a:buFont typeface="Wingdings" panose="05000000000000000000" pitchFamily="2" charset="2"/>
              <a:buChar char="Ø"/>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q"/>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2280" indent="-462280">
              <a:buFont typeface="Wingdings" panose="05000000000000000000" pitchFamily="2" charset="2"/>
              <a:buBlip>
                <a:blip r:embed="rId4">
                  <a:extLst>
                    <a:ext uri="{96DAC541-7B7A-43D3-8B79-37D633B846F1}">
                      <asvg:svgBlip xmlns:asvg="http://schemas.microsoft.com/office/drawing/2016/SVG/main" r:embed="rId3"/>
                    </a:ext>
                  </a:extLst>
                </a:blip>
              </a:buBlip>
            </a:pPr>
            <a:r>
              <a:rPr lang="en-US" dirty="0"/>
              <a:t>Modules</a:t>
            </a:r>
          </a:p>
          <a:p>
            <a:pPr marL="462280" indent="-462280">
              <a:buFont typeface="Wingdings" panose="05000000000000000000" pitchFamily="2" charset="2"/>
              <a:buBlip>
                <a:blip r:embed="rId4">
                  <a:extLst>
                    <a:ext uri="{96DAC541-7B7A-43D3-8B79-37D633B846F1}">
                      <asvg:svgBlip xmlns:asvg="http://schemas.microsoft.com/office/drawing/2016/SVG/main" r:embed="rId3"/>
                    </a:ext>
                  </a:extLst>
                </a:blip>
              </a:buBlip>
            </a:pPr>
            <a:r>
              <a:rPr lang="en-US" dirty="0"/>
              <a:t>UML Diagrams</a:t>
            </a:r>
          </a:p>
          <a:p>
            <a:pPr marL="462280" indent="-462280">
              <a:buFont typeface="Wingdings" panose="05000000000000000000" pitchFamily="2" charset="2"/>
              <a:buBlip>
                <a:blip r:embed="rId4">
                  <a:extLst>
                    <a:ext uri="{96DAC541-7B7A-43D3-8B79-37D633B846F1}">
                      <asvg:svgBlip xmlns:asvg="http://schemas.microsoft.com/office/drawing/2016/SVG/main" r:embed="rId3"/>
                    </a:ext>
                  </a:extLst>
                </a:blip>
              </a:buBlip>
            </a:pPr>
            <a:r>
              <a:rPr lang="en-US" dirty="0"/>
              <a:t>Data Flow Diagram</a:t>
            </a:r>
          </a:p>
          <a:p>
            <a:pPr marL="462280" indent="-462280">
              <a:buFont typeface="Wingdings" panose="05000000000000000000" pitchFamily="2" charset="2"/>
              <a:buBlip>
                <a:blip r:embed="rId4">
                  <a:extLst>
                    <a:ext uri="{96DAC541-7B7A-43D3-8B79-37D633B846F1}">
                      <asvg:svgBlip xmlns:asvg="http://schemas.microsoft.com/office/drawing/2016/SVG/main" r:embed="rId3"/>
                    </a:ext>
                  </a:extLst>
                </a:blip>
              </a:buBlip>
            </a:pPr>
            <a:r>
              <a:rPr lang="en-US" dirty="0"/>
              <a:t>Screenshots (Project Output)</a:t>
            </a:r>
          </a:p>
          <a:p>
            <a:pPr marL="462280" indent="-462280">
              <a:buFont typeface="Wingdings" panose="05000000000000000000" pitchFamily="2" charset="2"/>
              <a:buBlip>
                <a:blip r:embed="rId4">
                  <a:extLst>
                    <a:ext uri="{96DAC541-7B7A-43D3-8B79-37D633B846F1}">
                      <asvg:svgBlip xmlns:asvg="http://schemas.microsoft.com/office/drawing/2016/SVG/main" r:embed="rId3"/>
                    </a:ext>
                  </a:extLst>
                </a:blip>
              </a:buBlip>
            </a:pPr>
            <a:r>
              <a:rPr lang="en-US" dirty="0"/>
              <a:t>References</a:t>
            </a:r>
          </a:p>
          <a:p>
            <a:pPr marL="462280" indent="-462280">
              <a:buFont typeface="Wingdings" panose="05000000000000000000" pitchFamily="2" charset="2"/>
              <a:buBlip>
                <a:blip r:embed="rId4">
                  <a:extLst>
                    <a:ext uri="{96DAC541-7B7A-43D3-8B79-37D633B846F1}">
                      <asvg:svgBlip xmlns:asvg="http://schemas.microsoft.com/office/drawing/2016/SVG/main" r:embed="rId3"/>
                    </a:ext>
                  </a:extLst>
                </a:blip>
              </a:buBlip>
            </a:pPr>
            <a:r>
              <a:rPr lang="en-US" dirty="0"/>
              <a:t>Conclusion</a:t>
            </a:r>
          </a:p>
          <a:p>
            <a:pPr marL="462280" indent="-462280">
              <a:buFont typeface="Wingdings" panose="05000000000000000000" pitchFamily="2" charset="2"/>
              <a:buBlip>
                <a:blip r:embed="rId4">
                  <a:extLst>
                    <a:ext uri="{96DAC541-7B7A-43D3-8B79-37D633B846F1}">
                      <asvg:svgBlip xmlns:asvg="http://schemas.microsoft.com/office/drawing/2016/SVG/main" r:embed="rId3"/>
                    </a:ext>
                  </a:extLst>
                </a:blip>
              </a:buBlip>
            </a:pPr>
            <a:r>
              <a:rPr lang="en-US" dirty="0"/>
              <a:t>Paper Submission Proof</a:t>
            </a:r>
          </a:p>
          <a:p>
            <a:pPr marL="0" indent="0">
              <a:buFont typeface="Wingdings" panose="05000000000000000000" pitchFamily="2" charset="2"/>
              <a:buNone/>
            </a:pP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Introduction</a:t>
            </a:r>
          </a:p>
        </p:txBody>
      </p:sp>
      <p:sp>
        <p:nvSpPr>
          <p:cNvPr id="3" name="Content Placeholder 2"/>
          <p:cNvSpPr>
            <a:spLocks noGrp="1"/>
          </p:cNvSpPr>
          <p:nvPr>
            <p:ph idx="1"/>
          </p:nvPr>
        </p:nvSpPr>
        <p:spPr>
          <a:xfrm>
            <a:off x="199505" y="1277471"/>
            <a:ext cx="11779135" cy="5069541"/>
          </a:xfrm>
        </p:spPr>
        <p:txBody>
          <a:bodyPr>
            <a:normAutofit/>
          </a:bodyPr>
          <a:lstStyle/>
          <a:p>
            <a:r>
              <a:rPr lang="en-US" sz="2400" dirty="0"/>
              <a:t>Cyber security is important for protecting networks, communication systems, and data from cyber-attacks and unauthorized access</a:t>
            </a:r>
            <a:r>
              <a:rPr lang="en-US" sz="2400" dirty="0">
                <a:sym typeface="+mn-ea"/>
              </a:rPr>
              <a:t>.</a:t>
            </a:r>
          </a:p>
          <a:p>
            <a:r>
              <a:rPr lang="en-US" sz="2400" dirty="0"/>
              <a:t>Wireless Sensor Networks (WSNs) consist of sensor nodes that collect and transmit data wirelessly to a base station</a:t>
            </a:r>
            <a:r>
              <a:rPr lang="en-US" sz="2400" dirty="0">
                <a:sym typeface="+mn-ea"/>
              </a:rPr>
              <a:t>.</a:t>
            </a:r>
          </a:p>
          <a:p>
            <a:r>
              <a:rPr lang="en-US" sz="2400" dirty="0"/>
              <a:t>WSNs are widely used in industrial monitoring, environmental monitoring, healthcare, military applications, and smart city systems</a:t>
            </a:r>
            <a:r>
              <a:rPr lang="en-US" sz="2400" dirty="0">
                <a:sym typeface="+mn-ea"/>
              </a:rPr>
              <a:t>.</a:t>
            </a:r>
          </a:p>
          <a:p>
            <a:r>
              <a:rPr lang="en-US" sz="2400" dirty="0"/>
              <a:t>Due to wireless communication and limited battery, memory, and processing power, WSNs are highly vulnerable to cyber-attacks</a:t>
            </a:r>
            <a:r>
              <a:rPr lang="en-US" sz="2400" dirty="0">
                <a:sym typeface="+mn-ea"/>
              </a:rPr>
              <a:t>.</a:t>
            </a:r>
          </a:p>
          <a:p>
            <a:r>
              <a:rPr lang="en-US" sz="2400" dirty="0"/>
              <a:t>Attacks such as Flooding, Blackhole, </a:t>
            </a:r>
            <a:r>
              <a:rPr lang="en-US" sz="2400" dirty="0" err="1"/>
              <a:t>Grayhole</a:t>
            </a:r>
            <a:r>
              <a:rPr lang="en-US" sz="2400" dirty="0"/>
              <a:t>, and TDMA scheduling attacks can disrupt network communication and affect data reliability</a:t>
            </a:r>
            <a:r>
              <a:rPr lang="en-US" sz="2400" dirty="0">
                <a:sym typeface="+mn-ea"/>
              </a:rPr>
              <a:t>.</a:t>
            </a:r>
          </a:p>
          <a:p>
            <a:r>
              <a:rPr lang="en-US" sz="2400" dirty="0"/>
              <a:t>Machine learning, deep learning, and ensemble learning techniques help in detecting and classifying cyber-attacks by analyzing network behavior</a:t>
            </a:r>
            <a:r>
              <a:rPr lang="en-US" sz="2400" dirty="0">
                <a:sym typeface="+mn-ea"/>
              </a:rPr>
              <a:t>.</a:t>
            </a:r>
            <a:endParaRPr lang="en-US" sz="2400" dirty="0"/>
          </a:p>
        </p:txBody>
      </p:sp>
      <p:sp>
        <p:nvSpPr>
          <p:cNvPr id="4" name="Rectangle 1">
            <a:extLst>
              <a:ext uri="{FF2B5EF4-FFF2-40B4-BE49-F238E27FC236}">
                <a16:creationId xmlns:a16="http://schemas.microsoft.com/office/drawing/2014/main" id="{15E65DA8-2AB4-4204-B0AC-C50B869EA722}"/>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4B1F9-5637-475E-835E-7AA9BC8EA59B}"/>
              </a:ext>
            </a:extLst>
          </p:cNvPr>
          <p:cNvSpPr>
            <a:spLocks noGrp="1"/>
          </p:cNvSpPr>
          <p:nvPr>
            <p:ph type="title"/>
          </p:nvPr>
        </p:nvSpPr>
        <p:spPr>
          <a:xfrm>
            <a:off x="-2" y="232759"/>
            <a:ext cx="12192000" cy="714892"/>
          </a:xfrm>
        </p:spPr>
        <p:txBody>
          <a:bodyPr/>
          <a:lstStyle/>
          <a:p>
            <a:pPr algn="just"/>
            <a:r>
              <a:rPr lang="en-US" dirty="0"/>
              <a:t>Literature Survey</a:t>
            </a:r>
            <a:endParaRPr lang="en-IN" dirty="0"/>
          </a:p>
        </p:txBody>
      </p:sp>
      <p:graphicFrame>
        <p:nvGraphicFramePr>
          <p:cNvPr id="3" name="Table 2">
            <a:extLst>
              <a:ext uri="{FF2B5EF4-FFF2-40B4-BE49-F238E27FC236}">
                <a16:creationId xmlns:a16="http://schemas.microsoft.com/office/drawing/2014/main" id="{E3724B96-9C9C-BF71-74CF-E01F6539898C}"/>
              </a:ext>
            </a:extLst>
          </p:cNvPr>
          <p:cNvGraphicFramePr>
            <a:graphicFrameLocks noGrp="1"/>
          </p:cNvGraphicFramePr>
          <p:nvPr>
            <p:extLst>
              <p:ext uri="{D42A27DB-BD31-4B8C-83A1-F6EECF244321}">
                <p14:modId xmlns:p14="http://schemas.microsoft.com/office/powerpoint/2010/main" val="1558132376"/>
              </p:ext>
            </p:extLst>
          </p:nvPr>
        </p:nvGraphicFramePr>
        <p:xfrm>
          <a:off x="367645" y="1093510"/>
          <a:ext cx="10840824" cy="4957740"/>
        </p:xfrm>
        <a:graphic>
          <a:graphicData uri="http://schemas.openxmlformats.org/drawingml/2006/table">
            <a:tbl>
              <a:tblPr firstRow="1" bandRow="1">
                <a:tableStyleId>{5C22544A-7EE6-4342-B048-85BDC9FD1C3A}</a:tableStyleId>
              </a:tblPr>
              <a:tblGrid>
                <a:gridCol w="480379">
                  <a:extLst>
                    <a:ext uri="{9D8B030D-6E8A-4147-A177-3AD203B41FA5}">
                      <a16:colId xmlns:a16="http://schemas.microsoft.com/office/drawing/2014/main" val="1877128159"/>
                    </a:ext>
                  </a:extLst>
                </a:gridCol>
                <a:gridCol w="1870274">
                  <a:extLst>
                    <a:ext uri="{9D8B030D-6E8A-4147-A177-3AD203B41FA5}">
                      <a16:colId xmlns:a16="http://schemas.microsoft.com/office/drawing/2014/main" val="2353965450"/>
                    </a:ext>
                  </a:extLst>
                </a:gridCol>
                <a:gridCol w="1417928">
                  <a:extLst>
                    <a:ext uri="{9D8B030D-6E8A-4147-A177-3AD203B41FA5}">
                      <a16:colId xmlns:a16="http://schemas.microsoft.com/office/drawing/2014/main" val="4271515949"/>
                    </a:ext>
                  </a:extLst>
                </a:gridCol>
                <a:gridCol w="1358077">
                  <a:extLst>
                    <a:ext uri="{9D8B030D-6E8A-4147-A177-3AD203B41FA5}">
                      <a16:colId xmlns:a16="http://schemas.microsoft.com/office/drawing/2014/main" val="919807571"/>
                    </a:ext>
                  </a:extLst>
                </a:gridCol>
                <a:gridCol w="1843135">
                  <a:extLst>
                    <a:ext uri="{9D8B030D-6E8A-4147-A177-3AD203B41FA5}">
                      <a16:colId xmlns:a16="http://schemas.microsoft.com/office/drawing/2014/main" val="2381179260"/>
                    </a:ext>
                  </a:extLst>
                </a:gridCol>
                <a:gridCol w="2052952">
                  <a:extLst>
                    <a:ext uri="{9D8B030D-6E8A-4147-A177-3AD203B41FA5}">
                      <a16:colId xmlns:a16="http://schemas.microsoft.com/office/drawing/2014/main" val="1551066819"/>
                    </a:ext>
                  </a:extLst>
                </a:gridCol>
                <a:gridCol w="1818079">
                  <a:extLst>
                    <a:ext uri="{9D8B030D-6E8A-4147-A177-3AD203B41FA5}">
                      <a16:colId xmlns:a16="http://schemas.microsoft.com/office/drawing/2014/main" val="652884482"/>
                    </a:ext>
                  </a:extLst>
                </a:gridCol>
              </a:tblGrid>
              <a:tr h="780542">
                <a:tc>
                  <a:txBody>
                    <a:bodyPr/>
                    <a:lstStyle/>
                    <a:p>
                      <a:r>
                        <a:rPr lang="en-US" sz="1400" dirty="0"/>
                        <a:t>No</a:t>
                      </a:r>
                    </a:p>
                  </a:txBody>
                  <a:tcPr/>
                </a:tc>
                <a:tc>
                  <a:txBody>
                    <a:bodyPr/>
                    <a:lstStyle/>
                    <a:p>
                      <a:r>
                        <a:rPr lang="en-US" sz="1400" dirty="0"/>
                        <a:t>Title</a:t>
                      </a:r>
                    </a:p>
                  </a:txBody>
                  <a:tcPr/>
                </a:tc>
                <a:tc>
                  <a:txBody>
                    <a:bodyPr/>
                    <a:lstStyle/>
                    <a:p>
                      <a:r>
                        <a:rPr lang="en-US" sz="1400" dirty="0"/>
                        <a:t>Author</a:t>
                      </a:r>
                    </a:p>
                  </a:txBody>
                  <a:tcPr/>
                </a:tc>
                <a:tc>
                  <a:txBody>
                    <a:bodyPr/>
                    <a:lstStyle/>
                    <a:p>
                      <a:r>
                        <a:rPr lang="en-US" sz="1400" dirty="0"/>
                        <a:t>Journal Name &amp; Year</a:t>
                      </a:r>
                    </a:p>
                  </a:txBody>
                  <a:tcPr/>
                </a:tc>
                <a:tc>
                  <a:txBody>
                    <a:bodyPr/>
                    <a:lstStyle/>
                    <a:p>
                      <a:r>
                        <a:rPr lang="en-US" sz="1400" dirty="0"/>
                        <a:t>Methodology Adapted</a:t>
                      </a:r>
                    </a:p>
                  </a:txBody>
                  <a:tcPr/>
                </a:tc>
                <a:tc>
                  <a:txBody>
                    <a:bodyPr/>
                    <a:lstStyle/>
                    <a:p>
                      <a:r>
                        <a:rPr lang="en-US" sz="1400" dirty="0"/>
                        <a:t>Key Findings</a:t>
                      </a:r>
                    </a:p>
                  </a:txBody>
                  <a:tcPr/>
                </a:tc>
                <a:tc>
                  <a:txBody>
                    <a:bodyPr/>
                    <a:lstStyle/>
                    <a:p>
                      <a:r>
                        <a:rPr lang="en-US" sz="1400" dirty="0"/>
                        <a:t>Gaps</a:t>
                      </a:r>
                    </a:p>
                  </a:txBody>
                  <a:tcPr/>
                </a:tc>
                <a:extLst>
                  <a:ext uri="{0D108BD9-81ED-4DB2-BD59-A6C34878D82A}">
                    <a16:rowId xmlns:a16="http://schemas.microsoft.com/office/drawing/2014/main" val="4113324784"/>
                  </a:ext>
                </a:extLst>
              </a:tr>
              <a:tr h="2367645">
                <a:tc>
                  <a:txBody>
                    <a:bodyPr/>
                    <a:lstStyle/>
                    <a:p>
                      <a:r>
                        <a:rPr lang="en-US" sz="1400" dirty="0"/>
                        <a:t>1.</a:t>
                      </a:r>
                    </a:p>
                  </a:txBody>
                  <a:tcPr/>
                </a:tc>
                <a:tc>
                  <a:txBody>
                    <a:bodyPr/>
                    <a:lstStyle/>
                    <a:p>
                      <a:r>
                        <a:rPr lang="en-US" sz="1400" dirty="0">
                          <a:latin typeface="Times New Roman" panose="02020603050405020304" pitchFamily="18" charset="0"/>
                          <a:cs typeface="Times New Roman" panose="02020603050405020304" pitchFamily="18" charset="0"/>
                        </a:rPr>
                        <a:t>A Situation Based Predictive Approach for Cybersecurity Intrusion Detection and Prevention Using Machine Learning and Deep Learning Algorithms in Wireless Sensor Networks of Industry 4.0</a:t>
                      </a:r>
                      <a:endParaRPr lang="en-US" altLang="en-US"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FATIMA AL-QUAYED , ZULFIQAR AHMAD AND MAMOONAHUMAYUN </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US" altLang="en-US" sz="1400" dirty="0">
                          <a:latin typeface="Times New Roman" panose="02020603050405020304" pitchFamily="18" charset="0"/>
                          <a:cs typeface="Times New Roman" panose="02020603050405020304" pitchFamily="18" charset="0"/>
                        </a:rPr>
                        <a:t>I2CT ( IEEE 9th International Conference for Convergence in Technology) 2024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400" dirty="0">
                          <a:latin typeface="Times New Roman" panose="02020603050405020304" pitchFamily="18" charset="0"/>
                          <a:cs typeface="Times New Roman" panose="02020603050405020304" pitchFamily="18" charset="0"/>
                        </a:rPr>
                        <a:t>Decision Tree, MLP, Autoencoder</a:t>
                      </a:r>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Effective detection of WSN attacks using single model</a:t>
                      </a:r>
                    </a:p>
                  </a:txBody>
                  <a:tcPr/>
                </a:tc>
                <a:tc>
                  <a:txBody>
                    <a:bodyPr/>
                    <a:lstStyle/>
                    <a:p>
                      <a:r>
                        <a:rPr lang="en-US" sz="1400" dirty="0">
                          <a:latin typeface="Times New Roman" panose="02020603050405020304" pitchFamily="18" charset="0"/>
                          <a:cs typeface="Times New Roman" panose="02020603050405020304" pitchFamily="18" charset="0"/>
                        </a:rPr>
                        <a:t>Uses only single models at a time, does not combine methods or adapt to evolving attacks</a:t>
                      </a:r>
                      <a:endParaRPr lang="en-US" alt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43579915"/>
                  </a:ext>
                </a:extLst>
              </a:tr>
              <a:tr h="1809553">
                <a:tc>
                  <a:txBody>
                    <a:bodyPr/>
                    <a:lstStyle/>
                    <a:p>
                      <a:r>
                        <a:rPr lang="en-US" sz="1400" dirty="0"/>
                        <a:t>2.</a:t>
                      </a:r>
                    </a:p>
                  </a:txBody>
                  <a:tcPr/>
                </a:tc>
                <a:tc>
                  <a:txBody>
                    <a:bodyPr/>
                    <a:lstStyle/>
                    <a:p>
                      <a:r>
                        <a:rPr lang="en-US" altLang="en-US" sz="1400" dirty="0">
                          <a:latin typeface="Times New Roman" panose="02020603050405020304" pitchFamily="18" charset="0"/>
                          <a:cs typeface="Times New Roman" panose="02020603050405020304" pitchFamily="18" charset="0"/>
                        </a:rPr>
                        <a:t>Evaluation of Machine Learning Algorithms for Intrusion</a:t>
                      </a:r>
                    </a:p>
                    <a:p>
                      <a:r>
                        <a:rPr lang="en-US" altLang="en-US" sz="1400" dirty="0">
                          <a:latin typeface="Times New Roman" panose="02020603050405020304" pitchFamily="18" charset="0"/>
                          <a:cs typeface="Times New Roman" panose="02020603050405020304" pitchFamily="18" charset="0"/>
                        </a:rPr>
                        <a:t>Detection System in Wireless Sensor Network</a:t>
                      </a:r>
                    </a:p>
                    <a:p>
                      <a:endParaRPr lang="en-US" sz="1400" dirty="0"/>
                    </a:p>
                  </a:txBody>
                  <a:tcPr/>
                </a:tc>
                <a:tc>
                  <a:txBody>
                    <a:bodyPr/>
                    <a:lstStyle/>
                    <a:p>
                      <a:r>
                        <a:rPr lang="en-US" altLang="en-US" sz="1400" dirty="0">
                          <a:latin typeface="Times New Roman" panose="02020603050405020304" pitchFamily="18" charset="0"/>
                          <a:cs typeface="Times New Roman" panose="02020603050405020304" pitchFamily="18" charset="0"/>
                        </a:rPr>
                        <a:t>Mousa </a:t>
                      </a:r>
                      <a:r>
                        <a:rPr lang="en-US" altLang="en-US" sz="1400" dirty="0" err="1">
                          <a:latin typeface="Times New Roman" panose="02020603050405020304" pitchFamily="18" charset="0"/>
                          <a:cs typeface="Times New Roman" panose="02020603050405020304" pitchFamily="18" charset="0"/>
                        </a:rPr>
                        <a:t>Tawfiq</a:t>
                      </a:r>
                      <a:r>
                        <a:rPr lang="en-US" altLang="en-US" sz="1400" dirty="0">
                          <a:latin typeface="Times New Roman" panose="02020603050405020304" pitchFamily="18" charset="0"/>
                          <a:cs typeface="Times New Roman" panose="02020603050405020304" pitchFamily="18" charset="0"/>
                        </a:rPr>
                        <a:t> AL-</a:t>
                      </a:r>
                      <a:r>
                        <a:rPr lang="en-US" altLang="en-US" sz="1400" dirty="0" err="1">
                          <a:latin typeface="Times New Roman" panose="02020603050405020304" pitchFamily="18" charset="0"/>
                          <a:cs typeface="Times New Roman" panose="02020603050405020304" pitchFamily="18" charset="0"/>
                        </a:rPr>
                        <a:t>Akhras</a:t>
                      </a:r>
                      <a:r>
                        <a:rPr lang="en-US" altLang="en-US" sz="1400" dirty="0">
                          <a:latin typeface="Times New Roman" panose="02020603050405020304" pitchFamily="18" charset="0"/>
                          <a:cs typeface="Times New Roman" panose="02020603050405020304" pitchFamily="18" charset="0"/>
                        </a:rPr>
                        <a:t> , Mohammed </a:t>
                      </a:r>
                      <a:r>
                        <a:rPr lang="en-US" altLang="en-US" sz="1400" dirty="0" err="1">
                          <a:latin typeface="Times New Roman" panose="02020603050405020304" pitchFamily="18" charset="0"/>
                          <a:cs typeface="Times New Roman" panose="02020603050405020304" pitchFamily="18" charset="0"/>
                        </a:rPr>
                        <a:t>Alawairdhi</a:t>
                      </a:r>
                      <a:endParaRPr lang="en-US" altLang="en-US" sz="1400" dirty="0">
                        <a:latin typeface="Times New Roman" panose="02020603050405020304" pitchFamily="18" charset="0"/>
                        <a:cs typeface="Times New Roman" panose="02020603050405020304" pitchFamily="18" charset="0"/>
                      </a:endParaRPr>
                    </a:p>
                    <a:p>
                      <a:endParaRPr lang="en-US" sz="1400" dirty="0"/>
                    </a:p>
                  </a:txBody>
                  <a:tcPr/>
                </a:tc>
                <a:tc>
                  <a:txBody>
                    <a:bodyPr/>
                    <a:lstStyle/>
                    <a:p>
                      <a:r>
                        <a:rPr lang="en-US" altLang="en-US" sz="1400" dirty="0">
                          <a:latin typeface="Times New Roman" panose="02020603050405020304" pitchFamily="18" charset="0"/>
                          <a:cs typeface="Times New Roman" panose="02020603050405020304" pitchFamily="18" charset="0"/>
                        </a:rPr>
                        <a:t>International Journal of Advanced Computer Science and Applications 2021</a:t>
                      </a:r>
                    </a:p>
                    <a:p>
                      <a:endParaRPr lang="en-US" sz="1400" dirty="0"/>
                    </a:p>
                  </a:txBody>
                  <a:tcPr/>
                </a:tc>
                <a:tc>
                  <a:txBody>
                    <a:bodyPr/>
                    <a:lstStyle/>
                    <a:p>
                      <a:r>
                        <a:rPr lang="en-US" altLang="en-US" sz="1400" dirty="0">
                          <a:latin typeface="Times New Roman" panose="02020603050405020304" pitchFamily="18" charset="0"/>
                          <a:cs typeface="Times New Roman" panose="02020603050405020304" pitchFamily="18" charset="0"/>
                        </a:rPr>
                        <a:t>Naive Bayes , Random Forest Algorithm </a:t>
                      </a:r>
                    </a:p>
                    <a:p>
                      <a:endParaRPr lang="en-US" sz="1400" dirty="0"/>
                    </a:p>
                  </a:txBody>
                  <a:tcPr/>
                </a:tc>
                <a:tc>
                  <a:txBody>
                    <a:bodyPr/>
                    <a:lstStyle/>
                    <a:p>
                      <a:r>
                        <a:rPr lang="en-US" altLang="en-US" sz="1400" b="0" dirty="0">
                          <a:latin typeface="Times New Roman" panose="02020603050405020304" pitchFamily="18" charset="0"/>
                          <a:cs typeface="Times New Roman" panose="02020603050405020304" pitchFamily="18" charset="0"/>
                        </a:rPr>
                        <a:t>Analyze and protect WSN networks in combination with firewalls and Deep Packet Inspection </a:t>
                      </a:r>
                    </a:p>
                    <a:p>
                      <a:endParaRPr lang="en-US" sz="1400" dirty="0"/>
                    </a:p>
                  </a:txBody>
                  <a:tcPr/>
                </a:tc>
                <a:tc>
                  <a:txBody>
                    <a:bodyPr/>
                    <a:lstStyle/>
                    <a:p>
                      <a:r>
                        <a:rPr lang="en-US" altLang="en-US" sz="1400" dirty="0">
                          <a:latin typeface="Times New Roman" panose="02020603050405020304" pitchFamily="18" charset="0"/>
                          <a:cs typeface="Times New Roman" panose="02020603050405020304" pitchFamily="18" charset="0"/>
                        </a:rPr>
                        <a:t>Not suitable for the advanced cyber attacks like Grey hole,</a:t>
                      </a:r>
                    </a:p>
                    <a:p>
                      <a:r>
                        <a:rPr lang="en-US" altLang="en-US" sz="1400" dirty="0">
                          <a:latin typeface="Times New Roman" panose="02020603050405020304" pitchFamily="18" charset="0"/>
                          <a:cs typeface="Times New Roman" panose="02020603050405020304" pitchFamily="18" charset="0"/>
                        </a:rPr>
                        <a:t>Flooding.</a:t>
                      </a:r>
                    </a:p>
                    <a:p>
                      <a:endParaRPr lang="en-US" sz="1400" dirty="0"/>
                    </a:p>
                  </a:txBody>
                  <a:tcPr/>
                </a:tc>
                <a:extLst>
                  <a:ext uri="{0D108BD9-81ED-4DB2-BD59-A6C34878D82A}">
                    <a16:rowId xmlns:a16="http://schemas.microsoft.com/office/drawing/2014/main" val="1578985494"/>
                  </a:ext>
                </a:extLst>
              </a:tr>
            </a:tbl>
          </a:graphicData>
        </a:graphic>
      </p:graphicFrame>
      <p:sp>
        <p:nvSpPr>
          <p:cNvPr id="5" name="Rectangle 4">
            <a:extLst>
              <a:ext uri="{FF2B5EF4-FFF2-40B4-BE49-F238E27FC236}">
                <a16:creationId xmlns:a16="http://schemas.microsoft.com/office/drawing/2014/main" id="{EEC52CB8-1911-4934-9C9D-B44DE52D215F}"/>
              </a:ext>
            </a:extLst>
          </p:cNvPr>
          <p:cNvSpPr/>
          <p:nvPr/>
        </p:nvSpPr>
        <p:spPr>
          <a:xfrm>
            <a:off x="0" y="6654812"/>
            <a:ext cx="762001" cy="1739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A-10</a:t>
            </a:r>
            <a:endParaRPr lang="en-IN" sz="16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B1C82B90-6CCA-44BA-BAF5-3D31372400B6}"/>
              </a:ext>
            </a:extLst>
          </p:cNvPr>
          <p:cNvSpPr/>
          <p:nvPr/>
        </p:nvSpPr>
        <p:spPr>
          <a:xfrm>
            <a:off x="-8960" y="0"/>
            <a:ext cx="12192000" cy="228600"/>
          </a:xfrm>
          <a:prstGeom prst="rect">
            <a:avLst/>
          </a:prstGeom>
          <a:solidFill>
            <a:srgbClr val="006666"/>
          </a:solidFill>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Detecting Cyber Attacks In WSNs using Ensemble Techniques</a:t>
            </a:r>
            <a:endParaRPr lang="en-IN"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533F8E3B-4143-4FB7-A06F-F7BD5CDC05F8}"/>
              </a:ext>
            </a:extLst>
          </p:cNvPr>
          <p:cNvSpPr/>
          <p:nvPr/>
        </p:nvSpPr>
        <p:spPr>
          <a:xfrm>
            <a:off x="-17918" y="0"/>
            <a:ext cx="12192000" cy="228600"/>
          </a:xfrm>
          <a:prstGeom prst="rect">
            <a:avLst/>
          </a:prstGeom>
          <a:solidFill>
            <a:srgbClr val="006666"/>
          </a:solidFill>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a:solidFill>
                  <a:schemeClr val="bg1"/>
                </a:solidFill>
                <a:latin typeface="Times New Roman" panose="02020603050405020304" pitchFamily="18" charset="0"/>
                <a:cs typeface="Times New Roman" panose="02020603050405020304" pitchFamily="18" charset="0"/>
              </a:rPr>
              <a:t>Unified Ensemble Learning for Cyber Attack Detection and Classification in Wireless Sensor Networks</a:t>
            </a:r>
            <a:endParaRPr lang="en-IN" b="1" i="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2479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p:txBody>
          <a:bodyPr/>
          <a:lstStyle/>
          <a:p>
            <a:r>
              <a:rPr lang="en-US" dirty="0"/>
              <a:t>Existing System</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a:xfrm>
            <a:off x="199505" y="947651"/>
            <a:ext cx="11779135" cy="5544588"/>
          </a:xfrm>
        </p:spPr>
        <p:txBody>
          <a:bodyPr>
            <a:normAutofit/>
          </a:bodyPr>
          <a:lstStyle/>
          <a:p>
            <a:pPr marL="0" indent="0">
              <a:buNone/>
            </a:pPr>
            <a:endParaRPr lang="en-US" sz="2400" dirty="0"/>
          </a:p>
          <a:p>
            <a:r>
              <a:rPr lang="en-US" sz="2400" dirty="0"/>
              <a:t>Existing cyber security systems for Wireless Sensor Networks mainly use individual machine learning or deep learning models to detect abnormal network behavior.</a:t>
            </a:r>
          </a:p>
          <a:p>
            <a:r>
              <a:rPr lang="en-US" sz="2400" dirty="0"/>
              <a:t>These systems analyze network parameters like packet transmission, node communication and energy usage to identify possible cyber-attacks.</a:t>
            </a:r>
          </a:p>
          <a:p>
            <a:r>
              <a:rPr lang="en-US" sz="2400" dirty="0"/>
              <a:t>Many existing approaches mainly focus on detecting the presence of attacks and may not clearly classify different types of cyber-attacks.</a:t>
            </a:r>
          </a:p>
          <a:p>
            <a:r>
              <a:rPr lang="en-US" sz="2400" dirty="0"/>
              <a:t>Detection performance of single models may vary based on attack type and network conditions.</a:t>
            </a:r>
          </a:p>
          <a:p>
            <a:r>
              <a:rPr lang="en-US" sz="2400" dirty="0"/>
              <a:t>Individual models may not effectively handle complex and diverse cyber attack patterns.</a:t>
            </a:r>
          </a:p>
          <a:p>
            <a:r>
              <a:rPr lang="en-US" sz="2400" dirty="0"/>
              <a:t>Most existing systems focus only on detection and do not provide proper prevention or mitigation methods after attack detection.</a:t>
            </a:r>
            <a:endParaRPr lang="en-IN" sz="2400" dirty="0"/>
          </a:p>
        </p:txBody>
      </p:sp>
    </p:spTree>
    <p:extLst>
      <p:ext uri="{BB962C8B-B14F-4D97-AF65-F5344CB8AC3E}">
        <p14:creationId xmlns:p14="http://schemas.microsoft.com/office/powerpoint/2010/main" val="1520325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p:txBody>
          <a:bodyPr/>
          <a:lstStyle/>
          <a:p>
            <a:r>
              <a:rPr lang="en-US" dirty="0"/>
              <a:t>Proposed System</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a:xfrm>
            <a:off x="199505" y="820271"/>
            <a:ext cx="11779135" cy="5671968"/>
          </a:xfrm>
        </p:spPr>
        <p:txBody>
          <a:bodyPr>
            <a:normAutofit/>
          </a:bodyPr>
          <a:lstStyle/>
          <a:p>
            <a:pPr marL="0" indent="0">
              <a:buNone/>
            </a:pPr>
            <a:endParaRPr lang="en-US" sz="2400" dirty="0"/>
          </a:p>
          <a:p>
            <a:r>
              <a:rPr lang="en-US" sz="2400" dirty="0"/>
              <a:t>The proposed system is designed to detect, classify, and prevent cyber-attacks in Wireless Sensor Networks using advanced learning techniques.</a:t>
            </a:r>
          </a:p>
          <a:p>
            <a:r>
              <a:rPr lang="en-US" sz="2400" dirty="0"/>
              <a:t>The system uses ensemble and deep learning models such as Stacking, </a:t>
            </a:r>
            <a:r>
              <a:rPr lang="en-US" sz="2400" dirty="0" err="1"/>
              <a:t>XGBoost</a:t>
            </a:r>
            <a:r>
              <a:rPr lang="en-US" sz="2400" dirty="0"/>
              <a:t>, AdaBoost, MLP, and Autoencoder for better detection performance.</a:t>
            </a:r>
          </a:p>
          <a:p>
            <a:r>
              <a:rPr lang="en-US" sz="2400" dirty="0"/>
              <a:t>The system can detect and classify multiple cyber-attacks such as Flooding, Blackhole, </a:t>
            </a:r>
            <a:r>
              <a:rPr lang="en-US" sz="2400" dirty="0" err="1"/>
              <a:t>Grayhole</a:t>
            </a:r>
            <a:r>
              <a:rPr lang="en-US" sz="2400" dirty="0"/>
              <a:t>, and TDMA scheduling attacks.</a:t>
            </a:r>
          </a:p>
          <a:p>
            <a:r>
              <a:rPr lang="en-US" sz="2400" dirty="0"/>
              <a:t>Ensemble learning improves detection accuracy and helps handle complex and diverse attack patterns compared to single models.</a:t>
            </a:r>
          </a:p>
          <a:p>
            <a:r>
              <a:rPr lang="en-US" sz="2400" dirty="0"/>
              <a:t>The system analyzes network behavior using the WSN-DS dataset for training and testing.</a:t>
            </a:r>
          </a:p>
          <a:p>
            <a:r>
              <a:rPr lang="en-US" sz="2400" dirty="0"/>
              <a:t>The system also provides prevention and mitigation suggestions after detecting cyber-attacks and is validated using COOJA simulation.</a:t>
            </a:r>
          </a:p>
          <a:p>
            <a:pPr marL="0" indent="0">
              <a:buNone/>
            </a:pPr>
            <a:endParaRPr lang="en-US" sz="2400" dirty="0"/>
          </a:p>
        </p:txBody>
      </p:sp>
    </p:spTree>
    <p:extLst>
      <p:ext uri="{BB962C8B-B14F-4D97-AF65-F5344CB8AC3E}">
        <p14:creationId xmlns:p14="http://schemas.microsoft.com/office/powerpoint/2010/main" val="1722225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FA1A1-B61A-C2BE-13CC-DCBF15E7ED9F}"/>
              </a:ext>
            </a:extLst>
          </p:cNvPr>
          <p:cNvSpPr>
            <a:spLocks noGrp="1"/>
          </p:cNvSpPr>
          <p:nvPr>
            <p:ph type="title"/>
          </p:nvPr>
        </p:nvSpPr>
        <p:spPr>
          <a:xfrm>
            <a:off x="0" y="232759"/>
            <a:ext cx="12192000" cy="714892"/>
          </a:xfrm>
        </p:spPr>
        <p:txBody>
          <a:bodyPr/>
          <a:lstStyle/>
          <a:p>
            <a:r>
              <a:rPr lang="en-IN" dirty="0"/>
              <a:t>Objectives of Project</a:t>
            </a:r>
          </a:p>
        </p:txBody>
      </p:sp>
      <p:sp>
        <p:nvSpPr>
          <p:cNvPr id="3" name="Content Placeholder 2">
            <a:extLst>
              <a:ext uri="{FF2B5EF4-FFF2-40B4-BE49-F238E27FC236}">
                <a16:creationId xmlns:a16="http://schemas.microsoft.com/office/drawing/2014/main" id="{D392ECDA-A153-65FD-13C9-AFD9436AB93F}"/>
              </a:ext>
            </a:extLst>
          </p:cNvPr>
          <p:cNvSpPr>
            <a:spLocks noGrp="1"/>
          </p:cNvSpPr>
          <p:nvPr>
            <p:ph idx="1"/>
          </p:nvPr>
        </p:nvSpPr>
        <p:spPr>
          <a:xfrm>
            <a:off x="199505" y="1116105"/>
            <a:ext cx="11779135" cy="5376133"/>
          </a:xfrm>
        </p:spPr>
        <p:txBody>
          <a:bodyPr>
            <a:normAutofit/>
          </a:bodyPr>
          <a:lstStyle/>
          <a:p>
            <a:pPr marL="0" indent="0">
              <a:buNone/>
            </a:pPr>
            <a:endParaRPr lang="en-US" sz="2400" dirty="0"/>
          </a:p>
          <a:p>
            <a:r>
              <a:rPr lang="en-US" dirty="0"/>
              <a:t>To detect cyber-attacks in Wireless Sensor Networks using machine learning techniques.</a:t>
            </a:r>
          </a:p>
          <a:p>
            <a:r>
              <a:rPr lang="en-US" dirty="0"/>
              <a:t>To classify different types of cyber-attacks such as Flooding, Blackhole, </a:t>
            </a:r>
            <a:r>
              <a:rPr lang="en-US" dirty="0" err="1"/>
              <a:t>Grayhole</a:t>
            </a:r>
            <a:r>
              <a:rPr lang="en-US" dirty="0"/>
              <a:t>, and TDMA attacks.</a:t>
            </a:r>
          </a:p>
          <a:p>
            <a:r>
              <a:rPr lang="en-US" dirty="0"/>
              <a:t>To improve detection accuracy using ensemble and deep learning models.</a:t>
            </a:r>
          </a:p>
          <a:p>
            <a:r>
              <a:rPr lang="en-US" dirty="0"/>
              <a:t>To analyze network behavior using the WSN-DS dataset.</a:t>
            </a:r>
          </a:p>
          <a:p>
            <a:r>
              <a:rPr lang="en-US" dirty="0"/>
              <a:t>To validate system performance using COOJA simulation</a:t>
            </a:r>
          </a:p>
          <a:p>
            <a:endParaRPr lang="en-IN" sz="7400" dirty="0"/>
          </a:p>
        </p:txBody>
      </p:sp>
    </p:spTree>
    <p:extLst>
      <p:ext uri="{BB962C8B-B14F-4D97-AF65-F5344CB8AC3E}">
        <p14:creationId xmlns:p14="http://schemas.microsoft.com/office/powerpoint/2010/main" val="1532225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r>
              <a:rPr lang="en-US" dirty="0"/>
              <a:t>Requirements</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p:txBody>
          <a:bodyPr>
            <a:normAutofit/>
          </a:bodyPr>
          <a:lstStyle/>
          <a:p>
            <a:pPr marL="0" indent="0">
              <a:buNone/>
            </a:pPr>
            <a:r>
              <a:rPr lang="en-US" sz="2600" b="1" dirty="0"/>
              <a:t>Functional Requirements:</a:t>
            </a:r>
          </a:p>
          <a:p>
            <a:r>
              <a:rPr lang="en-US" sz="2400" dirty="0"/>
              <a:t>The system should allow users to upload WSN network dataset files for analysis.</a:t>
            </a:r>
          </a:p>
          <a:p>
            <a:r>
              <a:rPr lang="en-US" sz="2400" dirty="0"/>
              <a:t>The system should allow selection of different machine learning models for cyber attack detection.</a:t>
            </a:r>
          </a:p>
          <a:p>
            <a:r>
              <a:rPr lang="en-US" sz="2400" dirty="0"/>
              <a:t>The system should detect cyber-attacks based on network traffic data.</a:t>
            </a:r>
          </a:p>
          <a:p>
            <a:r>
              <a:rPr lang="en-US" sz="2400" dirty="0"/>
              <a:t>The system should classify detected cyber-attacks into specific attack types.</a:t>
            </a:r>
          </a:p>
          <a:p>
            <a:r>
              <a:rPr lang="en-US" sz="2400" dirty="0"/>
              <a:t>The system should provide prevention and mitigation suggestions after attack detection.</a:t>
            </a:r>
          </a:p>
          <a:p>
            <a:r>
              <a:rPr lang="en-US" sz="2400" dirty="0"/>
              <a:t>The system should display prediction results and forensic analysis information to the user.</a:t>
            </a:r>
            <a:endParaRPr lang="en-IN" sz="2400" dirty="0"/>
          </a:p>
        </p:txBody>
      </p:sp>
    </p:spTree>
    <p:extLst>
      <p:ext uri="{BB962C8B-B14F-4D97-AF65-F5344CB8AC3E}">
        <p14:creationId xmlns:p14="http://schemas.microsoft.com/office/powerpoint/2010/main" val="168218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r>
              <a:rPr lang="en-US" dirty="0"/>
              <a:t>Requirements</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p:txBody>
          <a:bodyPr>
            <a:normAutofit/>
          </a:bodyPr>
          <a:lstStyle/>
          <a:p>
            <a:pPr marL="0" indent="0">
              <a:buNone/>
            </a:pPr>
            <a:r>
              <a:rPr lang="en-US" sz="2600" b="1" dirty="0"/>
              <a:t>Non-Functional Requirements:</a:t>
            </a:r>
          </a:p>
          <a:p>
            <a:r>
              <a:rPr lang="en-US" sz="2400" dirty="0"/>
              <a:t>The system should provide high detection accuracy for cyber attack identification.</a:t>
            </a:r>
          </a:p>
          <a:p>
            <a:r>
              <a:rPr lang="en-US" sz="2400" dirty="0"/>
              <a:t>The system should ensure reliable and consistent performance during analysis.</a:t>
            </a:r>
          </a:p>
          <a:p>
            <a:r>
              <a:rPr lang="en-US" sz="2400" dirty="0"/>
              <a:t>The system should provide fast processing and response time for prediction results.</a:t>
            </a:r>
          </a:p>
          <a:p>
            <a:r>
              <a:rPr lang="en-US" sz="2400" dirty="0"/>
              <a:t>The system should ensure data security and safe handling of uploaded datasets.</a:t>
            </a:r>
          </a:p>
          <a:p>
            <a:r>
              <a:rPr lang="en-US" sz="2400" dirty="0"/>
              <a:t>The system should provide a user-friendly interface for easy interaction.</a:t>
            </a:r>
          </a:p>
          <a:p>
            <a:r>
              <a:rPr lang="en-US" sz="2400" dirty="0"/>
              <a:t>The system should be scalable to handle large WSN datasets and multiple users.</a:t>
            </a:r>
            <a:endParaRPr lang="en-IN" sz="2400" dirty="0"/>
          </a:p>
        </p:txBody>
      </p:sp>
    </p:spTree>
    <p:extLst>
      <p:ext uri="{BB962C8B-B14F-4D97-AF65-F5344CB8AC3E}">
        <p14:creationId xmlns:p14="http://schemas.microsoft.com/office/powerpoint/2010/main" val="120312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r>
              <a:rPr lang="en-US" dirty="0"/>
              <a:t>Modules</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a:xfrm>
            <a:off x="206432" y="1097279"/>
            <a:ext cx="5575803" cy="5394960"/>
          </a:xfrm>
        </p:spPr>
        <p:txBody>
          <a:bodyPr>
            <a:normAutofit lnSpcReduction="10000"/>
          </a:bodyPr>
          <a:lstStyle/>
          <a:p>
            <a:pPr marL="0" indent="0">
              <a:buNone/>
            </a:pPr>
            <a:r>
              <a:rPr lang="en-US" sz="2600" b="1" dirty="0"/>
              <a:t>User Modules:</a:t>
            </a:r>
          </a:p>
          <a:p>
            <a:r>
              <a:rPr lang="en-US" sz="2400" b="1" dirty="0"/>
              <a:t>Registration &amp; Login: </a:t>
            </a:r>
            <a:r>
              <a:rPr lang="en-US" sz="2400" dirty="0"/>
              <a:t>Users can register and log in securely to access the system.</a:t>
            </a:r>
          </a:p>
          <a:p>
            <a:r>
              <a:rPr lang="en-IN" sz="2400" b="1" dirty="0"/>
              <a:t>Dataset Upload</a:t>
            </a:r>
            <a:r>
              <a:rPr lang="en-US" sz="2400" b="1" dirty="0"/>
              <a:t>: </a:t>
            </a:r>
            <a:r>
              <a:rPr lang="en-US" sz="2400" dirty="0"/>
              <a:t>Users can upload WSN network dataset files for cyber attack analysis.</a:t>
            </a:r>
          </a:p>
          <a:p>
            <a:r>
              <a:rPr lang="en-IN" sz="2400" b="1" dirty="0"/>
              <a:t>Model Selection &amp; Prediction</a:t>
            </a:r>
            <a:r>
              <a:rPr lang="en-US" sz="2400" b="1" dirty="0"/>
              <a:t>:</a:t>
            </a:r>
            <a:r>
              <a:rPr lang="en-US" sz="2400" dirty="0"/>
              <a:t>Users can select machine learning models and perform cyber attack detection. </a:t>
            </a:r>
          </a:p>
          <a:p>
            <a:r>
              <a:rPr lang="en-IN" sz="2400" b="1" dirty="0"/>
              <a:t>Attack </a:t>
            </a:r>
            <a:r>
              <a:rPr lang="en-IN" sz="2400" b="1" dirty="0" err="1"/>
              <a:t>DetectionResults</a:t>
            </a:r>
            <a:r>
              <a:rPr lang="en-US" sz="2400" b="1" dirty="0"/>
              <a:t>:</a:t>
            </a:r>
            <a:r>
              <a:rPr lang="en-US" sz="2400" dirty="0"/>
              <a:t>Users can view detected attack type, severity level, and analysis results.</a:t>
            </a:r>
          </a:p>
          <a:p>
            <a:r>
              <a:rPr lang="en-IN" sz="2400" b="1" dirty="0"/>
              <a:t>Prevention &amp; Forensic Report</a:t>
            </a:r>
            <a:r>
              <a:rPr lang="en-US" sz="2400" b="1" dirty="0"/>
              <a:t>: </a:t>
            </a:r>
            <a:r>
              <a:rPr lang="en-US" sz="2400" dirty="0"/>
              <a:t>Users can view prevention methods and forensic analysis details.</a:t>
            </a:r>
            <a:endParaRPr lang="en-IN" sz="2400" dirty="0"/>
          </a:p>
        </p:txBody>
      </p:sp>
      <p:sp>
        <p:nvSpPr>
          <p:cNvPr id="8" name="Content Placeholder 2">
            <a:extLst>
              <a:ext uri="{FF2B5EF4-FFF2-40B4-BE49-F238E27FC236}">
                <a16:creationId xmlns:a16="http://schemas.microsoft.com/office/drawing/2014/main" id="{0D19E6F1-3326-42C1-8B0F-B43D729E345D}"/>
              </a:ext>
            </a:extLst>
          </p:cNvPr>
          <p:cNvSpPr txBox="1">
            <a:spLocks/>
          </p:cNvSpPr>
          <p:nvPr/>
        </p:nvSpPr>
        <p:spPr>
          <a:xfrm>
            <a:off x="5948313" y="1178351"/>
            <a:ext cx="6037255" cy="5339884"/>
          </a:xfrm>
          <a:prstGeom prst="rect">
            <a:avLst/>
          </a:prstGeom>
        </p:spPr>
        <p:txBody>
          <a:bodyPr vert="horz" lIns="91440" tIns="45720" rIns="91440" bIns="45720" rtlCol="0">
            <a:normAutofit fontScale="92500"/>
          </a:bodyPr>
          <a:lstStyle>
            <a:lvl1pPr marL="228600" indent="-228600" algn="just" defTabSz="914400" rtl="0" eaLnBrk="1" latinLnBrk="0" hangingPunct="1">
              <a:lnSpc>
                <a:spcPct val="90000"/>
              </a:lnSpc>
              <a:spcBef>
                <a:spcPts val="1000"/>
              </a:spcBef>
              <a:buFont typeface="Wingdings" panose="05000000000000000000" pitchFamily="2" charset="2"/>
              <a:buChar char="Ø"/>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q"/>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sz="2600" b="1" dirty="0"/>
              <a:t>System Modules:</a:t>
            </a:r>
          </a:p>
          <a:p>
            <a:r>
              <a:rPr lang="en-IN" sz="2400" b="1" dirty="0"/>
              <a:t>Attack Detection Module</a:t>
            </a:r>
            <a:r>
              <a:rPr lang="en-US" sz="2400" b="1" dirty="0"/>
              <a:t>: </a:t>
            </a:r>
            <a:r>
              <a:rPr lang="en-US" sz="2400" dirty="0"/>
              <a:t>Uses machine learning, deep learning, and ensemble models to detect cyber attacks.</a:t>
            </a:r>
          </a:p>
          <a:p>
            <a:r>
              <a:rPr lang="en-IN" sz="2400" b="1" dirty="0"/>
              <a:t>Attack Classification Module</a:t>
            </a:r>
            <a:r>
              <a:rPr lang="en-US" sz="2400" b="1" dirty="0"/>
              <a:t>: </a:t>
            </a:r>
            <a:r>
              <a:rPr lang="en-US" sz="2400" dirty="0"/>
              <a:t>Classifies detected attacks into specific cyber attack types.</a:t>
            </a:r>
          </a:p>
          <a:p>
            <a:r>
              <a:rPr lang="en-IN" sz="2400" b="1" dirty="0"/>
              <a:t>Prevention Suggestion Module</a:t>
            </a:r>
            <a:r>
              <a:rPr lang="en-US" sz="2400" b="1" dirty="0"/>
              <a:t>: </a:t>
            </a:r>
            <a:r>
              <a:rPr lang="en-US" sz="2400" dirty="0"/>
              <a:t>Generates prevention and mitigation methods for detected attacks. </a:t>
            </a:r>
          </a:p>
          <a:p>
            <a:r>
              <a:rPr lang="en-IN" sz="2400" b="1" dirty="0"/>
              <a:t>Forensic Logging Module</a:t>
            </a:r>
            <a:r>
              <a:rPr lang="en-US" sz="2400" b="1" dirty="0"/>
              <a:t>: </a:t>
            </a:r>
            <a:r>
              <a:rPr lang="en-US" sz="2400" dirty="0"/>
              <a:t>Stores attack details, severity level, and mitigation data for analysis.</a:t>
            </a:r>
          </a:p>
          <a:p>
            <a:r>
              <a:rPr lang="en-IN" sz="2400" b="1" dirty="0"/>
              <a:t>Result Visualization Module </a:t>
            </a:r>
            <a:r>
              <a:rPr lang="en-US" sz="2400" b="1" dirty="0"/>
              <a:t>: </a:t>
            </a:r>
            <a:r>
              <a:rPr lang="en-US" sz="2400" dirty="0"/>
              <a:t>Displays attack results, severity levels, and analysis reports in a user-friendly format.</a:t>
            </a:r>
            <a:endParaRPr lang="en-IN" sz="2400" dirty="0"/>
          </a:p>
        </p:txBody>
      </p:sp>
    </p:spTree>
    <p:extLst>
      <p:ext uri="{BB962C8B-B14F-4D97-AF65-F5344CB8AC3E}">
        <p14:creationId xmlns:p14="http://schemas.microsoft.com/office/powerpoint/2010/main" val="2006278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r>
              <a:rPr lang="en-US" dirty="0"/>
              <a:t>UML Diagrams</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a:xfrm>
            <a:off x="199506" y="1097279"/>
            <a:ext cx="4305260" cy="5394960"/>
          </a:xfrm>
        </p:spPr>
        <p:txBody>
          <a:bodyPr>
            <a:normAutofit fontScale="92500"/>
          </a:bodyPr>
          <a:lstStyle/>
          <a:p>
            <a:pPr marL="0" indent="0">
              <a:buNone/>
            </a:pPr>
            <a:r>
              <a:rPr lang="en-US" sz="2600" b="1" dirty="0"/>
              <a:t>Use Case Diagram:</a:t>
            </a:r>
          </a:p>
          <a:p>
            <a:r>
              <a:rPr lang="en-US" sz="2400" dirty="0"/>
              <a:t>The UML Use Case Diagram shows the interaction between the user and the cyber attack detection and prevention system.. </a:t>
            </a:r>
          </a:p>
          <a:p>
            <a:r>
              <a:rPr lang="en-US" sz="2400" dirty="0"/>
              <a:t>The user can register, log in, upload WSN dataset, and select machine learning models for attack detection.</a:t>
            </a:r>
          </a:p>
          <a:p>
            <a:r>
              <a:rPr lang="en-US" sz="2400" dirty="0"/>
              <a:t>The system detects and classifies cyberattacks and provides prevention suggestions.</a:t>
            </a:r>
          </a:p>
          <a:p>
            <a:r>
              <a:rPr lang="en-US" sz="2400" dirty="0"/>
              <a:t>The system also stores attack details in forensic logs for monitoring and analysis.</a:t>
            </a:r>
            <a:endParaRPr lang="en-IN" sz="2400" dirty="0"/>
          </a:p>
        </p:txBody>
      </p:sp>
      <p:pic>
        <p:nvPicPr>
          <p:cNvPr id="4" name="Picture 3">
            <a:extLst>
              <a:ext uri="{FF2B5EF4-FFF2-40B4-BE49-F238E27FC236}">
                <a16:creationId xmlns:a16="http://schemas.microsoft.com/office/drawing/2014/main" id="{E7FE8267-CFFA-4817-930D-538322E567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073462" y="1528109"/>
            <a:ext cx="6267450" cy="4178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1226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r>
              <a:rPr lang="en-US" dirty="0"/>
              <a:t>Data Flow Diagram</a:t>
            </a:r>
            <a:endParaRPr lang="en-IN" dirty="0"/>
          </a:p>
        </p:txBody>
      </p:sp>
      <p:pic>
        <p:nvPicPr>
          <p:cNvPr id="7" name="Picture 6">
            <a:extLst>
              <a:ext uri="{FF2B5EF4-FFF2-40B4-BE49-F238E27FC236}">
                <a16:creationId xmlns:a16="http://schemas.microsoft.com/office/drawing/2014/main" id="{3365C996-109C-4105-8FE2-B76AB54463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3529" y="947651"/>
            <a:ext cx="7941487" cy="5294325"/>
          </a:xfrm>
          <a:prstGeom prst="rect">
            <a:avLst/>
          </a:prstGeom>
        </p:spPr>
      </p:pic>
    </p:spTree>
    <p:extLst>
      <p:ext uri="{BB962C8B-B14F-4D97-AF65-F5344CB8AC3E}">
        <p14:creationId xmlns:p14="http://schemas.microsoft.com/office/powerpoint/2010/main" val="2706814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r>
              <a:rPr lang="en-US" dirty="0"/>
              <a:t>Data Flow Diagram</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p:txBody>
          <a:bodyPr>
            <a:normAutofit/>
          </a:bodyPr>
          <a:lstStyle/>
          <a:p>
            <a:pPr marL="0" indent="0">
              <a:buNone/>
            </a:pPr>
            <a:endParaRPr lang="en-US" sz="2400" dirty="0"/>
          </a:p>
          <a:p>
            <a:r>
              <a:rPr lang="en-US" sz="2400" dirty="0"/>
              <a:t>The diagram shows how data flows between the user, system processing unit, and data storage components..</a:t>
            </a:r>
          </a:p>
          <a:p>
            <a:r>
              <a:rPr lang="en-US" sz="2400" dirty="0"/>
              <a:t>The user performs actions such as login, dataset upload, and machine learning model selection.</a:t>
            </a:r>
          </a:p>
          <a:p>
            <a:r>
              <a:rPr lang="en-US" sz="2400" dirty="0"/>
              <a:t>The system processes the uploaded dataset using trained machine learning models to detect cyber attacks.</a:t>
            </a:r>
          </a:p>
          <a:p>
            <a:r>
              <a:rPr lang="en-US" sz="2400" dirty="0"/>
              <a:t>The system classifies detected attacks and generates prevention suggestions and forensic reports.</a:t>
            </a:r>
          </a:p>
          <a:p>
            <a:r>
              <a:rPr lang="en-US" sz="2400" dirty="0"/>
              <a:t>Important data such as user information, dataset files, ML models, and forensic logs are stored in separate data storage modules.</a:t>
            </a:r>
          </a:p>
          <a:p>
            <a:r>
              <a:rPr lang="en-US" sz="2400" dirty="0"/>
              <a:t>The system sends detection results, attack classification details, and prevention suggestions back to the user.</a:t>
            </a:r>
            <a:endParaRPr lang="en-IN" sz="2400" dirty="0"/>
          </a:p>
        </p:txBody>
      </p:sp>
    </p:spTree>
    <p:extLst>
      <p:ext uri="{BB962C8B-B14F-4D97-AF65-F5344CB8AC3E}">
        <p14:creationId xmlns:p14="http://schemas.microsoft.com/office/powerpoint/2010/main" val="3503315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r>
              <a:rPr lang="en-US" dirty="0"/>
              <a:t>Sample Code</a:t>
            </a:r>
            <a:endParaRPr lang="en-IN" dirty="0"/>
          </a:p>
        </p:txBody>
      </p:sp>
      <p:pic>
        <p:nvPicPr>
          <p:cNvPr id="5" name="Content Placeholder 4">
            <a:extLst>
              <a:ext uri="{FF2B5EF4-FFF2-40B4-BE49-F238E27FC236}">
                <a16:creationId xmlns:a16="http://schemas.microsoft.com/office/drawing/2014/main" id="{1BC34293-79A9-4C79-B1B5-3A8D18F828B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3284" y="1096963"/>
            <a:ext cx="9592732" cy="5395912"/>
          </a:xfrm>
        </p:spPr>
      </p:pic>
    </p:spTree>
    <p:extLst>
      <p:ext uri="{BB962C8B-B14F-4D97-AF65-F5344CB8AC3E}">
        <p14:creationId xmlns:p14="http://schemas.microsoft.com/office/powerpoint/2010/main" val="498158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r>
              <a:rPr lang="en-US" dirty="0"/>
              <a:t>Sample Code</a:t>
            </a:r>
            <a:endParaRPr lang="en-IN" dirty="0"/>
          </a:p>
        </p:txBody>
      </p:sp>
      <p:pic>
        <p:nvPicPr>
          <p:cNvPr id="5" name="Content Placeholder 4">
            <a:extLst>
              <a:ext uri="{FF2B5EF4-FFF2-40B4-BE49-F238E27FC236}">
                <a16:creationId xmlns:a16="http://schemas.microsoft.com/office/drawing/2014/main" id="{C4F347F7-B632-4C4E-A97B-E76C226ABD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3284" y="1096963"/>
            <a:ext cx="9592732" cy="5395912"/>
          </a:xfrm>
        </p:spPr>
      </p:pic>
    </p:spTree>
    <p:extLst>
      <p:ext uri="{BB962C8B-B14F-4D97-AF65-F5344CB8AC3E}">
        <p14:creationId xmlns:p14="http://schemas.microsoft.com/office/powerpoint/2010/main" val="863378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17714"/>
            <a:ext cx="12192000" cy="686394"/>
          </a:xfrm>
        </p:spPr>
        <p:txBody>
          <a:bodyPr/>
          <a:lstStyle/>
          <a:p>
            <a:r>
              <a:rPr lang="en-US" dirty="0"/>
              <a:t>Output Screens</a:t>
            </a:r>
            <a:br>
              <a:rPr lang="en-IN" b="1" dirty="0"/>
            </a:br>
            <a:endParaRPr lang="en-IN" sz="2400" b="1" dirty="0">
              <a:solidFill>
                <a:schemeClr val="tx1"/>
              </a:solidFill>
              <a:effectLst/>
            </a:endParaRPr>
          </a:p>
        </p:txBody>
      </p:sp>
      <p:pic>
        <p:nvPicPr>
          <p:cNvPr id="4" name="Picture 3">
            <a:extLst>
              <a:ext uri="{FF2B5EF4-FFF2-40B4-BE49-F238E27FC236}">
                <a16:creationId xmlns:a16="http://schemas.microsoft.com/office/drawing/2014/main" id="{FC9C0D0D-A9BB-433A-A9E2-787BFFD6CB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5498" y="1481760"/>
            <a:ext cx="8721002" cy="4905564"/>
          </a:xfrm>
          <a:prstGeom prst="rect">
            <a:avLst/>
          </a:prstGeom>
        </p:spPr>
      </p:pic>
      <p:sp>
        <p:nvSpPr>
          <p:cNvPr id="5" name="TextBox 4">
            <a:extLst>
              <a:ext uri="{FF2B5EF4-FFF2-40B4-BE49-F238E27FC236}">
                <a16:creationId xmlns:a16="http://schemas.microsoft.com/office/drawing/2014/main" id="{C4855857-8FE4-4DBC-96B9-6E659B577782}"/>
              </a:ext>
            </a:extLst>
          </p:cNvPr>
          <p:cNvSpPr txBox="1"/>
          <p:nvPr/>
        </p:nvSpPr>
        <p:spPr>
          <a:xfrm>
            <a:off x="493486" y="1020095"/>
            <a:ext cx="11205027" cy="461665"/>
          </a:xfrm>
          <a:prstGeom prst="rect">
            <a:avLst/>
          </a:prstGeom>
          <a:noFill/>
        </p:spPr>
        <p:txBody>
          <a:bodyPr wrap="square" rtlCol="0">
            <a:spAutoFit/>
          </a:bodyPr>
          <a:lstStyle/>
          <a:p>
            <a:pPr algn="ctr"/>
            <a:r>
              <a:rPr lang="en-IN" sz="2400" b="1" dirty="0">
                <a:solidFill>
                  <a:schemeClr val="tx1"/>
                </a:solidFill>
                <a:effectLst/>
                <a:latin typeface="Times New Roman" panose="02020603050405020304" pitchFamily="18" charset="0"/>
                <a:cs typeface="Times New Roman" panose="02020603050405020304" pitchFamily="18" charset="0"/>
              </a:rPr>
              <a:t>Homepage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69067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17714"/>
            <a:ext cx="12192000" cy="686394"/>
          </a:xfrm>
        </p:spPr>
        <p:txBody>
          <a:bodyPr/>
          <a:lstStyle/>
          <a:p>
            <a:r>
              <a:rPr lang="en-US" dirty="0"/>
              <a:t>Output Screens</a:t>
            </a:r>
            <a:br>
              <a:rPr lang="en-IN" b="1" dirty="0"/>
            </a:br>
            <a:endParaRPr lang="en-IN" sz="2400" b="1" dirty="0">
              <a:solidFill>
                <a:schemeClr val="tx1"/>
              </a:solidFill>
              <a:effectLst/>
            </a:endParaRPr>
          </a:p>
        </p:txBody>
      </p:sp>
      <p:pic>
        <p:nvPicPr>
          <p:cNvPr id="4" name="Picture 3">
            <a:extLst>
              <a:ext uri="{FF2B5EF4-FFF2-40B4-BE49-F238E27FC236}">
                <a16:creationId xmlns:a16="http://schemas.microsoft.com/office/drawing/2014/main" id="{FC9C0D0D-A9BB-433A-A9E2-787BFFD6CB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5498" y="1481760"/>
            <a:ext cx="8721002" cy="4905563"/>
          </a:xfrm>
          <a:prstGeom prst="rect">
            <a:avLst/>
          </a:prstGeom>
        </p:spPr>
      </p:pic>
      <p:sp>
        <p:nvSpPr>
          <p:cNvPr id="5" name="TextBox 4">
            <a:extLst>
              <a:ext uri="{FF2B5EF4-FFF2-40B4-BE49-F238E27FC236}">
                <a16:creationId xmlns:a16="http://schemas.microsoft.com/office/drawing/2014/main" id="{C4855857-8FE4-4DBC-96B9-6E659B577782}"/>
              </a:ext>
            </a:extLst>
          </p:cNvPr>
          <p:cNvSpPr txBox="1"/>
          <p:nvPr/>
        </p:nvSpPr>
        <p:spPr>
          <a:xfrm>
            <a:off x="493486" y="1020095"/>
            <a:ext cx="11205027"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About </a:t>
            </a:r>
            <a:r>
              <a:rPr lang="en-IN" sz="2400" b="1" dirty="0">
                <a:solidFill>
                  <a:schemeClr val="tx1"/>
                </a:solidFill>
                <a:effectLst/>
                <a:latin typeface="Times New Roman" panose="02020603050405020304" pitchFamily="18" charset="0"/>
                <a:cs typeface="Times New Roman" panose="02020603050405020304" pitchFamily="18" charset="0"/>
              </a:rPr>
              <a:t>page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4268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47210"/>
            <a:ext cx="12192000" cy="714892"/>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0" y="1020095"/>
            <a:ext cx="11205027"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S</a:t>
            </a:r>
            <a:r>
              <a:rPr lang="en-IN" sz="2400" b="1" dirty="0" err="1">
                <a:latin typeface="Times New Roman" panose="02020603050405020304" pitchFamily="18" charset="0"/>
                <a:cs typeface="Times New Roman" panose="02020603050405020304" pitchFamily="18" charset="0"/>
              </a:rPr>
              <a:t>ignup</a:t>
            </a: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Create user account by providing the details</a:t>
            </a:r>
          </a:p>
        </p:txBody>
      </p:sp>
      <p:pic>
        <p:nvPicPr>
          <p:cNvPr id="10" name="Picture 9">
            <a:extLst>
              <a:ext uri="{FF2B5EF4-FFF2-40B4-BE49-F238E27FC236}">
                <a16:creationId xmlns:a16="http://schemas.microsoft.com/office/drawing/2014/main" id="{7D92BF64-A9F9-42F3-ABAA-E963891924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0462" y="1597747"/>
            <a:ext cx="8696218" cy="4891623"/>
          </a:xfrm>
          <a:prstGeom prst="rect">
            <a:avLst/>
          </a:prstGeom>
        </p:spPr>
      </p:pic>
    </p:spTree>
    <p:extLst>
      <p:ext uri="{BB962C8B-B14F-4D97-AF65-F5344CB8AC3E}">
        <p14:creationId xmlns:p14="http://schemas.microsoft.com/office/powerpoint/2010/main" val="115669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1" y="217714"/>
            <a:ext cx="12192000" cy="675768"/>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0" y="1020095"/>
            <a:ext cx="11205027" cy="461665"/>
          </a:xfrm>
          <a:prstGeom prst="rect">
            <a:avLst/>
          </a:prstGeom>
          <a:noFill/>
        </p:spPr>
        <p:txBody>
          <a:bodyPr wrap="square" rtlCol="0">
            <a:spAutoFit/>
          </a:bodyPr>
          <a:lstStyle/>
          <a:p>
            <a:pPr marL="8145" algn="ctr">
              <a:spcBef>
                <a:spcPts val="64"/>
              </a:spcBef>
            </a:pPr>
            <a:r>
              <a:rPr lang="en-US" sz="2400" b="1" dirty="0">
                <a:latin typeface="Times New Roman"/>
                <a:cs typeface="Times New Roman"/>
              </a:rPr>
              <a:t>Login page</a:t>
            </a:r>
            <a:endParaRPr lang="en-US" sz="2400" dirty="0">
              <a:latin typeface="Times New Roman"/>
              <a:cs typeface="Times New Roman"/>
            </a:endParaRPr>
          </a:p>
        </p:txBody>
      </p:sp>
      <p:pic>
        <p:nvPicPr>
          <p:cNvPr id="4" name="Picture 3">
            <a:extLst>
              <a:ext uri="{FF2B5EF4-FFF2-40B4-BE49-F238E27FC236}">
                <a16:creationId xmlns:a16="http://schemas.microsoft.com/office/drawing/2014/main" id="{214ACF94-75BD-43A8-BC68-9D8628F201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66" y="1481760"/>
            <a:ext cx="8923667" cy="5019563"/>
          </a:xfrm>
          <a:prstGeom prst="rect">
            <a:avLst/>
          </a:prstGeom>
        </p:spPr>
      </p:pic>
    </p:spTree>
    <p:extLst>
      <p:ext uri="{BB962C8B-B14F-4D97-AF65-F5344CB8AC3E}">
        <p14:creationId xmlns:p14="http://schemas.microsoft.com/office/powerpoint/2010/main" val="3067959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47210"/>
            <a:ext cx="12192000" cy="714892"/>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8965" y="1020095"/>
            <a:ext cx="11205027" cy="461665"/>
          </a:xfrm>
          <a:prstGeom prst="rect">
            <a:avLst/>
          </a:prstGeom>
          <a:noFill/>
        </p:spPr>
        <p:txBody>
          <a:bodyPr wrap="square" rtlCol="0">
            <a:spAutoFit/>
          </a:bodyPr>
          <a:lstStyle/>
          <a:p>
            <a:pPr marL="8145" algn="ctr">
              <a:spcBef>
                <a:spcPts val="64"/>
              </a:spcBef>
            </a:pPr>
            <a:r>
              <a:rPr lang="en-IN" sz="2400" b="1" dirty="0">
                <a:latin typeface="Times New Roman"/>
                <a:cs typeface="Times New Roman"/>
              </a:rPr>
              <a:t>Contact Page</a:t>
            </a:r>
            <a:endParaRPr lang="en-IN" sz="2400" dirty="0">
              <a:latin typeface="Times New Roman"/>
              <a:cs typeface="Times New Roman"/>
            </a:endParaRPr>
          </a:p>
        </p:txBody>
      </p:sp>
      <p:pic>
        <p:nvPicPr>
          <p:cNvPr id="4" name="Picture 3">
            <a:extLst>
              <a:ext uri="{FF2B5EF4-FFF2-40B4-BE49-F238E27FC236}">
                <a16:creationId xmlns:a16="http://schemas.microsoft.com/office/drawing/2014/main" id="{98E3F2BA-E128-490E-8D8C-B59E47872D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6144" y="1597747"/>
            <a:ext cx="8541998" cy="4804874"/>
          </a:xfrm>
          <a:prstGeom prst="rect">
            <a:avLst/>
          </a:prstGeom>
        </p:spPr>
      </p:pic>
    </p:spTree>
    <p:extLst>
      <p:ext uri="{BB962C8B-B14F-4D97-AF65-F5344CB8AC3E}">
        <p14:creationId xmlns:p14="http://schemas.microsoft.com/office/powerpoint/2010/main" val="37654318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51478"/>
            <a:ext cx="12192000" cy="714892"/>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0" y="1020095"/>
            <a:ext cx="11205027" cy="461665"/>
          </a:xfrm>
          <a:prstGeom prst="rect">
            <a:avLst/>
          </a:prstGeom>
          <a:noFill/>
        </p:spPr>
        <p:txBody>
          <a:bodyPr wrap="square" rtlCol="0">
            <a:spAutoFit/>
          </a:bodyPr>
          <a:lstStyle/>
          <a:p>
            <a:pPr marL="8145" algn="ctr">
              <a:spcBef>
                <a:spcPts val="64"/>
              </a:spcBef>
            </a:pPr>
            <a:r>
              <a:rPr lang="en-US" sz="2400" dirty="0">
                <a:latin typeface="Times New Roman"/>
                <a:cs typeface="Times New Roman"/>
              </a:rPr>
              <a:t>Datasets uploading page</a:t>
            </a:r>
          </a:p>
        </p:txBody>
      </p:sp>
      <p:pic>
        <p:nvPicPr>
          <p:cNvPr id="6" name="Picture 5">
            <a:extLst>
              <a:ext uri="{FF2B5EF4-FFF2-40B4-BE49-F238E27FC236}">
                <a16:creationId xmlns:a16="http://schemas.microsoft.com/office/drawing/2014/main" id="{644FBB4C-1191-43B8-A2A6-4287D73A8D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0656" y="1481760"/>
            <a:ext cx="9110688" cy="5124762"/>
          </a:xfrm>
          <a:prstGeom prst="rect">
            <a:avLst/>
          </a:prstGeom>
        </p:spPr>
      </p:pic>
    </p:spTree>
    <p:extLst>
      <p:ext uri="{BB962C8B-B14F-4D97-AF65-F5344CB8AC3E}">
        <p14:creationId xmlns:p14="http://schemas.microsoft.com/office/powerpoint/2010/main" val="1063595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51478"/>
            <a:ext cx="12192000" cy="714892"/>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0" y="1020095"/>
            <a:ext cx="11205027" cy="461665"/>
          </a:xfrm>
          <a:prstGeom prst="rect">
            <a:avLst/>
          </a:prstGeom>
          <a:noFill/>
        </p:spPr>
        <p:txBody>
          <a:bodyPr wrap="square" rtlCol="0">
            <a:spAutoFit/>
          </a:bodyPr>
          <a:lstStyle/>
          <a:p>
            <a:pPr marL="8145" algn="ctr">
              <a:spcBef>
                <a:spcPts val="64"/>
              </a:spcBef>
            </a:pPr>
            <a:r>
              <a:rPr lang="en-US" sz="2400" dirty="0">
                <a:latin typeface="Times New Roman"/>
                <a:cs typeface="Times New Roman"/>
              </a:rPr>
              <a:t>Prevention methods and attack classification</a:t>
            </a:r>
          </a:p>
        </p:txBody>
      </p:sp>
      <p:pic>
        <p:nvPicPr>
          <p:cNvPr id="3" name="Picture 2">
            <a:extLst>
              <a:ext uri="{FF2B5EF4-FFF2-40B4-BE49-F238E27FC236}">
                <a16:creationId xmlns:a16="http://schemas.microsoft.com/office/drawing/2014/main" id="{69F27892-0F83-4EF9-801A-4A446C28ED16}"/>
              </a:ext>
            </a:extLst>
          </p:cNvPr>
          <p:cNvPicPr>
            <a:picLocks noChangeAspect="1"/>
          </p:cNvPicPr>
          <p:nvPr/>
        </p:nvPicPr>
        <p:blipFill>
          <a:blip r:embed="rId2"/>
          <a:stretch>
            <a:fillRect/>
          </a:stretch>
        </p:blipFill>
        <p:spPr>
          <a:xfrm>
            <a:off x="1999673" y="1634836"/>
            <a:ext cx="8345054" cy="4655128"/>
          </a:xfrm>
          <a:prstGeom prst="rect">
            <a:avLst/>
          </a:prstGeom>
        </p:spPr>
      </p:pic>
    </p:spTree>
    <p:extLst>
      <p:ext uri="{BB962C8B-B14F-4D97-AF65-F5344CB8AC3E}">
        <p14:creationId xmlns:p14="http://schemas.microsoft.com/office/powerpoint/2010/main" val="28113994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7050"/>
            <a:ext cx="12192000" cy="714892"/>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0" y="1020095"/>
            <a:ext cx="11205027" cy="461665"/>
          </a:xfrm>
          <a:prstGeom prst="rect">
            <a:avLst/>
          </a:prstGeom>
          <a:noFill/>
        </p:spPr>
        <p:txBody>
          <a:bodyPr wrap="square" rtlCol="0">
            <a:spAutoFit/>
          </a:bodyPr>
          <a:lstStyle/>
          <a:p>
            <a:pPr marL="8145" algn="ctr">
              <a:spcBef>
                <a:spcPts val="64"/>
              </a:spcBef>
            </a:pPr>
            <a:r>
              <a:rPr lang="en-IN" sz="2400" b="1" spc="-13" dirty="0">
                <a:latin typeface="Times New Roman"/>
                <a:cs typeface="Times New Roman"/>
              </a:rPr>
              <a:t>View Data Page</a:t>
            </a:r>
            <a:r>
              <a:rPr lang="en-US" sz="2400" spc="-13" dirty="0">
                <a:latin typeface="Times New Roman"/>
                <a:cs typeface="Times New Roman"/>
              </a:rPr>
              <a:t> </a:t>
            </a:r>
            <a:endParaRPr lang="en-US" sz="2400" dirty="0">
              <a:latin typeface="Times New Roman"/>
              <a:cs typeface="Times New Roman"/>
            </a:endParaRPr>
          </a:p>
        </p:txBody>
      </p:sp>
      <p:pic>
        <p:nvPicPr>
          <p:cNvPr id="4" name="Picture 3">
            <a:extLst>
              <a:ext uri="{FF2B5EF4-FFF2-40B4-BE49-F238E27FC236}">
                <a16:creationId xmlns:a16="http://schemas.microsoft.com/office/drawing/2014/main" id="{20CA01B0-8E7B-456A-843A-67E5AC04B8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8412" y="1481760"/>
            <a:ext cx="9015176" cy="5071037"/>
          </a:xfrm>
          <a:prstGeom prst="rect">
            <a:avLst/>
          </a:prstGeom>
        </p:spPr>
      </p:pic>
    </p:spTree>
    <p:extLst>
      <p:ext uri="{BB962C8B-B14F-4D97-AF65-F5344CB8AC3E}">
        <p14:creationId xmlns:p14="http://schemas.microsoft.com/office/powerpoint/2010/main" val="7659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7050"/>
            <a:ext cx="12192000" cy="714892"/>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0" y="1020095"/>
            <a:ext cx="11205027" cy="461665"/>
          </a:xfrm>
          <a:prstGeom prst="rect">
            <a:avLst/>
          </a:prstGeom>
          <a:noFill/>
        </p:spPr>
        <p:txBody>
          <a:bodyPr wrap="square" rtlCol="0">
            <a:spAutoFit/>
          </a:bodyPr>
          <a:lstStyle/>
          <a:p>
            <a:pPr marL="8145" algn="ctr">
              <a:spcBef>
                <a:spcPts val="64"/>
              </a:spcBef>
            </a:pPr>
            <a:r>
              <a:rPr lang="en-US" sz="2400" b="1" dirty="0">
                <a:latin typeface="Times New Roman"/>
                <a:cs typeface="Times New Roman"/>
              </a:rPr>
              <a:t>Algorithm Accuracy Page</a:t>
            </a:r>
            <a:endParaRPr lang="en-US" sz="2400" dirty="0">
              <a:latin typeface="Times New Roman"/>
              <a:cs typeface="Times New Roman"/>
            </a:endParaRPr>
          </a:p>
        </p:txBody>
      </p:sp>
      <p:pic>
        <p:nvPicPr>
          <p:cNvPr id="6" name="Picture 5">
            <a:extLst>
              <a:ext uri="{FF2B5EF4-FFF2-40B4-BE49-F238E27FC236}">
                <a16:creationId xmlns:a16="http://schemas.microsoft.com/office/drawing/2014/main" id="{2E9BC4A8-FA59-46B1-9621-FC42EE3C34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4503" y="1481760"/>
            <a:ext cx="9122992" cy="5131683"/>
          </a:xfrm>
          <a:prstGeom prst="rect">
            <a:avLst/>
          </a:prstGeom>
        </p:spPr>
      </p:pic>
    </p:spTree>
    <p:extLst>
      <p:ext uri="{BB962C8B-B14F-4D97-AF65-F5344CB8AC3E}">
        <p14:creationId xmlns:p14="http://schemas.microsoft.com/office/powerpoint/2010/main" val="8241698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7050"/>
            <a:ext cx="12192000" cy="714892"/>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0" y="1020095"/>
            <a:ext cx="12061371" cy="461665"/>
          </a:xfrm>
          <a:prstGeom prst="rect">
            <a:avLst/>
          </a:prstGeom>
          <a:noFill/>
        </p:spPr>
        <p:txBody>
          <a:bodyPr wrap="square" rtlCol="0">
            <a:spAutoFit/>
          </a:bodyPr>
          <a:lstStyle/>
          <a:p>
            <a:pPr marL="8145" algn="ctr">
              <a:spcBef>
                <a:spcPts val="64"/>
              </a:spcBef>
            </a:pPr>
            <a:r>
              <a:rPr lang="en-US" sz="2400" dirty="0">
                <a:latin typeface="Times New Roman"/>
                <a:cs typeface="Times New Roman"/>
              </a:rPr>
              <a:t>Prediction Page</a:t>
            </a:r>
          </a:p>
        </p:txBody>
      </p:sp>
      <p:pic>
        <p:nvPicPr>
          <p:cNvPr id="4" name="Picture 3">
            <a:extLst>
              <a:ext uri="{FF2B5EF4-FFF2-40B4-BE49-F238E27FC236}">
                <a16:creationId xmlns:a16="http://schemas.microsoft.com/office/drawing/2014/main" id="{21063AC1-26D6-4560-A27A-FAD1E46A3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4985" y="1481760"/>
            <a:ext cx="9071399" cy="5102662"/>
          </a:xfrm>
          <a:prstGeom prst="rect">
            <a:avLst/>
          </a:prstGeom>
        </p:spPr>
      </p:pic>
    </p:spTree>
    <p:extLst>
      <p:ext uri="{BB962C8B-B14F-4D97-AF65-F5344CB8AC3E}">
        <p14:creationId xmlns:p14="http://schemas.microsoft.com/office/powerpoint/2010/main" val="24629953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7050"/>
            <a:ext cx="12192000" cy="714892"/>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0" y="1020095"/>
            <a:ext cx="12061371" cy="461665"/>
          </a:xfrm>
          <a:prstGeom prst="rect">
            <a:avLst/>
          </a:prstGeom>
          <a:noFill/>
        </p:spPr>
        <p:txBody>
          <a:bodyPr wrap="square" rtlCol="0">
            <a:spAutoFit/>
          </a:bodyPr>
          <a:lstStyle/>
          <a:p>
            <a:pPr marL="8145" algn="ctr">
              <a:spcBef>
                <a:spcPts val="64"/>
              </a:spcBef>
            </a:pPr>
            <a:r>
              <a:rPr lang="en-US" sz="2400" dirty="0">
                <a:latin typeface="Times New Roman"/>
                <a:cs typeface="Times New Roman"/>
              </a:rPr>
              <a:t>Dashboard</a:t>
            </a:r>
          </a:p>
        </p:txBody>
      </p:sp>
      <p:pic>
        <p:nvPicPr>
          <p:cNvPr id="4" name="Picture 3">
            <a:extLst>
              <a:ext uri="{FF2B5EF4-FFF2-40B4-BE49-F238E27FC236}">
                <a16:creationId xmlns:a16="http://schemas.microsoft.com/office/drawing/2014/main" id="{E2F0C66B-A699-4620-AFE1-37B11F1037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7015" y="1481760"/>
            <a:ext cx="8757969" cy="4926358"/>
          </a:xfrm>
          <a:prstGeom prst="rect">
            <a:avLst/>
          </a:prstGeom>
        </p:spPr>
      </p:pic>
    </p:spTree>
    <p:extLst>
      <p:ext uri="{BB962C8B-B14F-4D97-AF65-F5344CB8AC3E}">
        <p14:creationId xmlns:p14="http://schemas.microsoft.com/office/powerpoint/2010/main" val="965912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7050"/>
            <a:ext cx="12192000" cy="714892"/>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0" y="1020095"/>
            <a:ext cx="12061371" cy="461665"/>
          </a:xfrm>
          <a:prstGeom prst="rect">
            <a:avLst/>
          </a:prstGeom>
          <a:noFill/>
        </p:spPr>
        <p:txBody>
          <a:bodyPr wrap="square" rtlCol="0">
            <a:spAutoFit/>
          </a:bodyPr>
          <a:lstStyle/>
          <a:p>
            <a:pPr marL="8145" algn="ctr">
              <a:spcBef>
                <a:spcPts val="64"/>
              </a:spcBef>
            </a:pPr>
            <a:r>
              <a:rPr lang="en-US" sz="2400" dirty="0">
                <a:latin typeface="Times New Roman"/>
                <a:cs typeface="Times New Roman"/>
              </a:rPr>
              <a:t>Forensic Report</a:t>
            </a:r>
          </a:p>
        </p:txBody>
      </p:sp>
      <p:pic>
        <p:nvPicPr>
          <p:cNvPr id="6" name="Picture 5">
            <a:extLst>
              <a:ext uri="{FF2B5EF4-FFF2-40B4-BE49-F238E27FC236}">
                <a16:creationId xmlns:a16="http://schemas.microsoft.com/office/drawing/2014/main" id="{6BF2DBC9-96A6-42D6-84DC-5465C59006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1785" y="1481760"/>
            <a:ext cx="8657799" cy="4870012"/>
          </a:xfrm>
          <a:prstGeom prst="rect">
            <a:avLst/>
          </a:prstGeom>
        </p:spPr>
      </p:pic>
    </p:spTree>
    <p:extLst>
      <p:ext uri="{BB962C8B-B14F-4D97-AF65-F5344CB8AC3E}">
        <p14:creationId xmlns:p14="http://schemas.microsoft.com/office/powerpoint/2010/main" val="9585335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7050"/>
            <a:ext cx="12192000" cy="714892"/>
          </a:xfrm>
        </p:spPr>
        <p:txBody>
          <a:bodyPr/>
          <a:lstStyle/>
          <a:p>
            <a:r>
              <a:rPr lang="en-US" dirty="0"/>
              <a:t>Output Screens</a:t>
            </a:r>
            <a:br>
              <a:rPr lang="en-IN" b="1" dirty="0"/>
            </a:br>
            <a:endParaRPr lang="en-IN" sz="2400" b="1" dirty="0">
              <a:solidFill>
                <a:schemeClr val="tx1"/>
              </a:solidFill>
              <a:effectLst/>
            </a:endParaRPr>
          </a:p>
        </p:txBody>
      </p:sp>
      <p:sp>
        <p:nvSpPr>
          <p:cNvPr id="5" name="TextBox 4">
            <a:extLst>
              <a:ext uri="{FF2B5EF4-FFF2-40B4-BE49-F238E27FC236}">
                <a16:creationId xmlns:a16="http://schemas.microsoft.com/office/drawing/2014/main" id="{C4855857-8FE4-4DBC-96B9-6E659B577782}"/>
              </a:ext>
            </a:extLst>
          </p:cNvPr>
          <p:cNvSpPr txBox="1"/>
          <p:nvPr/>
        </p:nvSpPr>
        <p:spPr>
          <a:xfrm>
            <a:off x="0" y="1020095"/>
            <a:ext cx="12061371" cy="461665"/>
          </a:xfrm>
          <a:prstGeom prst="rect">
            <a:avLst/>
          </a:prstGeom>
          <a:noFill/>
        </p:spPr>
        <p:txBody>
          <a:bodyPr wrap="square" rtlCol="0">
            <a:spAutoFit/>
          </a:bodyPr>
          <a:lstStyle/>
          <a:p>
            <a:pPr marL="8145" algn="ctr">
              <a:spcBef>
                <a:spcPts val="64"/>
              </a:spcBef>
            </a:pPr>
            <a:r>
              <a:rPr lang="en-US" sz="2400" dirty="0">
                <a:latin typeface="Times New Roman"/>
                <a:cs typeface="Times New Roman"/>
              </a:rPr>
              <a:t>Chatbot</a:t>
            </a:r>
          </a:p>
        </p:txBody>
      </p:sp>
      <p:pic>
        <p:nvPicPr>
          <p:cNvPr id="6" name="Picture 5">
            <a:extLst>
              <a:ext uri="{FF2B5EF4-FFF2-40B4-BE49-F238E27FC236}">
                <a16:creationId xmlns:a16="http://schemas.microsoft.com/office/drawing/2014/main" id="{6BF2DBC9-96A6-42D6-84DC-5465C59006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1785" y="1481760"/>
            <a:ext cx="8657799" cy="4870011"/>
          </a:xfrm>
          <a:prstGeom prst="rect">
            <a:avLst/>
          </a:prstGeom>
        </p:spPr>
      </p:pic>
    </p:spTree>
    <p:extLst>
      <p:ext uri="{BB962C8B-B14F-4D97-AF65-F5344CB8AC3E}">
        <p14:creationId xmlns:p14="http://schemas.microsoft.com/office/powerpoint/2010/main" val="41055931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References</a:t>
            </a:r>
          </a:p>
        </p:txBody>
      </p:sp>
      <p:sp>
        <p:nvSpPr>
          <p:cNvPr id="3" name="Content Placeholder 2"/>
          <p:cNvSpPr>
            <a:spLocks noGrp="1"/>
          </p:cNvSpPr>
          <p:nvPr>
            <p:ph idx="1"/>
          </p:nvPr>
        </p:nvSpPr>
        <p:spPr/>
        <p:txBody>
          <a:bodyPr>
            <a:normAutofit fontScale="92500" lnSpcReduction="10000"/>
          </a:bodyPr>
          <a:lstStyle/>
          <a:p>
            <a:pPr marL="577850" indent="-577850">
              <a:buNone/>
            </a:pPr>
            <a:r>
              <a:rPr lang="en-US" sz="2600" dirty="0"/>
              <a:t>[1]. S. Karthikeyan, R. Kumar, and P. Rajesh, “Machine Learning-Based Cyber-Attack Detection in Wireless Sensor Networks,” </a:t>
            </a:r>
            <a:r>
              <a:rPr lang="en-US" sz="2600" i="1" dirty="0"/>
              <a:t>International Journal of Research in Engineering and Technology</a:t>
            </a:r>
            <a:r>
              <a:rPr lang="en-US" sz="2600" dirty="0"/>
              <a:t>, vol. 12, pp. 45–50, 2025.</a:t>
            </a:r>
          </a:p>
          <a:p>
            <a:pPr marL="577850" indent="-577850">
              <a:buNone/>
            </a:pPr>
            <a:r>
              <a:rPr lang="en-IN" sz="2600" dirty="0"/>
              <a:t>[2]. M. Al-</a:t>
            </a:r>
            <a:r>
              <a:rPr lang="en-IN" sz="2600" dirty="0" err="1"/>
              <a:t>Akhras</a:t>
            </a:r>
            <a:r>
              <a:rPr lang="en-IN" sz="2600" dirty="0"/>
              <a:t>, M. Al-</a:t>
            </a:r>
            <a:r>
              <a:rPr lang="en-IN" sz="2600" dirty="0" err="1"/>
              <a:t>Kasasbeh</a:t>
            </a:r>
            <a:r>
              <a:rPr lang="en-IN" sz="2600" dirty="0"/>
              <a:t>, and I. </a:t>
            </a:r>
            <a:r>
              <a:rPr lang="en-IN" sz="2600" dirty="0" err="1"/>
              <a:t>Almomani</a:t>
            </a:r>
            <a:r>
              <a:rPr lang="en-IN" sz="2600" dirty="0"/>
              <a:t>, “Evaluation of Machine Learning Algorithms for Intrusion Detection in Wireless Sensor Networks,” </a:t>
            </a:r>
            <a:r>
              <a:rPr lang="en-IN" sz="2600" i="1" dirty="0"/>
              <a:t>International Journal of Advanced Computer Science and Applications</a:t>
            </a:r>
            <a:r>
              <a:rPr lang="en-IN" sz="2600" dirty="0"/>
              <a:t>, vol. 12, pp. 300–308, 2021.</a:t>
            </a:r>
          </a:p>
          <a:p>
            <a:pPr marL="577850" indent="-577850">
              <a:buNone/>
            </a:pPr>
            <a:r>
              <a:rPr lang="en-US" sz="2600" dirty="0"/>
              <a:t>[3]. A. A. Al-</a:t>
            </a:r>
            <a:r>
              <a:rPr lang="en-US" sz="2600" dirty="0" err="1"/>
              <a:t>Quayed</a:t>
            </a:r>
            <a:r>
              <a:rPr lang="en-US" sz="2600" dirty="0"/>
              <a:t>, M. Al-</a:t>
            </a:r>
            <a:r>
              <a:rPr lang="en-US" sz="2600" dirty="0" err="1"/>
              <a:t>Hubaishi</a:t>
            </a:r>
            <a:r>
              <a:rPr lang="en-US" sz="2600" dirty="0"/>
              <a:t>, and S. A. Khan, “A Situation-Based Predictive Approach for Cybersecurity Intrusion Detection and Prevention Using Machine Learning and Deep Learning Algorithms in Wireless Sensor Networks of Industry 4.0,” </a:t>
            </a:r>
            <a:r>
              <a:rPr lang="en-US" sz="2600" i="1" dirty="0"/>
              <a:t>IEEE Access</a:t>
            </a:r>
            <a:r>
              <a:rPr lang="en-US" sz="2600" dirty="0"/>
              <a:t>, vol. 12, pp. 1–15, 2024.</a:t>
            </a:r>
          </a:p>
          <a:p>
            <a:pPr marL="577850" indent="-577850">
              <a:buNone/>
            </a:pPr>
            <a:r>
              <a:rPr lang="en-IN" sz="2600" dirty="0"/>
              <a:t>[4]. </a:t>
            </a:r>
            <a:r>
              <a:rPr lang="en-US" sz="2600" dirty="0"/>
              <a:t>R. </a:t>
            </a:r>
            <a:r>
              <a:rPr lang="en-US" sz="2600" dirty="0" err="1"/>
              <a:t>Hawi</a:t>
            </a:r>
            <a:r>
              <a:rPr lang="en-US" sz="2600" dirty="0"/>
              <a:t>, J. Karam, and H. Nassar, “Unveiling the Hidden Threat: How Wireless Networks Fuel Serious Cyber Attacks,” </a:t>
            </a:r>
            <a:r>
              <a:rPr lang="en-US" sz="2600" i="1" dirty="0"/>
              <a:t>Journal of Information Security and Applications</a:t>
            </a:r>
            <a:r>
              <a:rPr lang="en-US" sz="2600" dirty="0"/>
              <a:t>, vol. 78, pp. 1–10, 2024</a:t>
            </a:r>
            <a:r>
              <a:rPr lang="en-US" sz="2400" dirty="0"/>
              <a:t>.</a:t>
            </a:r>
          </a:p>
          <a:p>
            <a:pPr marL="577850" indent="-577850">
              <a:buNone/>
            </a:pPr>
            <a:r>
              <a:rPr lang="en-IN" sz="2600" dirty="0"/>
              <a:t>[5]. </a:t>
            </a:r>
            <a:r>
              <a:rPr lang="en-US" sz="2600" dirty="0"/>
              <a:t>T. </a:t>
            </a:r>
            <a:r>
              <a:rPr lang="en-US" sz="2600" dirty="0" err="1"/>
              <a:t>Zhukabayeva</a:t>
            </a:r>
            <a:r>
              <a:rPr lang="en-US" sz="2600" dirty="0"/>
              <a:t>, A. </a:t>
            </a:r>
            <a:r>
              <a:rPr lang="en-US" sz="2600" dirty="0" err="1"/>
              <a:t>Buja</a:t>
            </a:r>
            <a:r>
              <a:rPr lang="en-US" sz="2600" dirty="0"/>
              <a:t>, and M. </a:t>
            </a:r>
            <a:r>
              <a:rPr lang="en-US" sz="2600" dirty="0" err="1"/>
              <a:t>Pacolli</a:t>
            </a:r>
            <a:r>
              <a:rPr lang="en-US" sz="2600" dirty="0"/>
              <a:t>, “Detecting Network Security Incidents in Wireless Sensor Networks Using Machine Learning,” </a:t>
            </a:r>
            <a:r>
              <a:rPr lang="en-US" sz="2600" i="1" dirty="0"/>
              <a:t>Indonesian Journal of Electrical Engineering and Computer Science</a:t>
            </a:r>
            <a:r>
              <a:rPr lang="en-US" sz="2600" dirty="0"/>
              <a:t>, vol. 37, no. 3, pp. 1650–1660, Mar. 2025. </a:t>
            </a:r>
            <a:endParaRPr lang="en-IN" sz="2600" dirty="0"/>
          </a:p>
        </p:txBody>
      </p:sp>
      <p:sp>
        <p:nvSpPr>
          <p:cNvPr id="5" name="Rectangle 4">
            <a:extLst>
              <a:ext uri="{FF2B5EF4-FFF2-40B4-BE49-F238E27FC236}">
                <a16:creationId xmlns:a16="http://schemas.microsoft.com/office/drawing/2014/main" id="{2EBF2478-BFA7-4CC8-8FFC-7496B1D79DCA}"/>
              </a:ext>
            </a:extLst>
          </p:cNvPr>
          <p:cNvSpPr/>
          <p:nvPr/>
        </p:nvSpPr>
        <p:spPr>
          <a:xfrm>
            <a:off x="-2" y="6641867"/>
            <a:ext cx="762001" cy="1739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A-10</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Conclusion</a:t>
            </a:r>
          </a:p>
        </p:txBody>
      </p:sp>
      <p:sp>
        <p:nvSpPr>
          <p:cNvPr id="3" name="Content Placeholder 2"/>
          <p:cNvSpPr>
            <a:spLocks noGrp="1"/>
          </p:cNvSpPr>
          <p:nvPr>
            <p:ph idx="1"/>
          </p:nvPr>
        </p:nvSpPr>
        <p:spPr/>
        <p:txBody>
          <a:bodyPr>
            <a:normAutofit/>
          </a:bodyPr>
          <a:lstStyle/>
          <a:p>
            <a:r>
              <a:rPr lang="en-IN" sz="2400" dirty="0"/>
              <a:t>In conclusion, </a:t>
            </a:r>
            <a:r>
              <a:rPr lang="en-US" sz="2400" dirty="0"/>
              <a:t>the proposed unified ensemble learning based cyberattack detection system for Wireless Sensor Networks has been successfully designed and implemented. The system effectively detects and classifies different types of cyberattacks such as Blackhole, </a:t>
            </a:r>
            <a:r>
              <a:rPr lang="en-US" sz="2400" dirty="0" err="1"/>
              <a:t>Grayhole</a:t>
            </a:r>
            <a:r>
              <a:rPr lang="en-US" sz="2400" dirty="0"/>
              <a:t>, Flooding, and TDMA attacks using a combination of machine learning and deep learning models (Unified Ensemble Model) with 99.88% accuracy.</a:t>
            </a:r>
            <a:endParaRPr lang="en-IN" sz="2400" dirty="0"/>
          </a:p>
          <a:p>
            <a:r>
              <a:rPr lang="en-US" sz="2400" dirty="0"/>
              <a:t>The integration of multiple models in the form of a unified ensemble improves detection accuracy, classification stability, and overall system reliability. The system also supports anomaly detection to identify unknown or emerging attacks, making it more robust in dynamic network environments.</a:t>
            </a:r>
            <a:endParaRPr lang="en-IN" sz="2400" dirty="0"/>
          </a:p>
          <a:p>
            <a:r>
              <a:rPr lang="en-US" sz="2400" dirty="0"/>
              <a:t>The implementation includes features such as real-time attack detection, dashboard visualization, forensic logging, PDF and CSV report generation, and an AI chatbot for user assistance. These features enhance the usability and practical applicability of the system.</a:t>
            </a:r>
            <a:endParaRPr lang="en-IN" sz="2400" dirty="0"/>
          </a:p>
          <a:p>
            <a:pPr marL="577850" indent="-577850">
              <a:buNone/>
            </a:pPr>
            <a:endParaRPr lang="en-IN" sz="2600" dirty="0"/>
          </a:p>
        </p:txBody>
      </p:sp>
      <p:sp>
        <p:nvSpPr>
          <p:cNvPr id="5" name="Rectangle 4">
            <a:extLst>
              <a:ext uri="{FF2B5EF4-FFF2-40B4-BE49-F238E27FC236}">
                <a16:creationId xmlns:a16="http://schemas.microsoft.com/office/drawing/2014/main" id="{2EBF2478-BFA7-4CC8-8FFC-7496B1D79DCA}"/>
              </a:ext>
            </a:extLst>
          </p:cNvPr>
          <p:cNvSpPr/>
          <p:nvPr/>
        </p:nvSpPr>
        <p:spPr>
          <a:xfrm>
            <a:off x="-2" y="6641867"/>
            <a:ext cx="762001" cy="1739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A-10</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70711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8" y="232759"/>
            <a:ext cx="12192000" cy="714892"/>
          </a:xfrm>
        </p:spPr>
        <p:txBody>
          <a:bodyPr/>
          <a:lstStyle/>
          <a:p>
            <a:r>
              <a:rPr lang="en-IN" dirty="0"/>
              <a:t>Paper Submission Proof</a:t>
            </a:r>
          </a:p>
        </p:txBody>
      </p:sp>
      <p:sp>
        <p:nvSpPr>
          <p:cNvPr id="5" name="Rectangle 4">
            <a:extLst>
              <a:ext uri="{FF2B5EF4-FFF2-40B4-BE49-F238E27FC236}">
                <a16:creationId xmlns:a16="http://schemas.microsoft.com/office/drawing/2014/main" id="{2EBF2478-BFA7-4CC8-8FFC-7496B1D79DCA}"/>
              </a:ext>
            </a:extLst>
          </p:cNvPr>
          <p:cNvSpPr/>
          <p:nvPr/>
        </p:nvSpPr>
        <p:spPr>
          <a:xfrm>
            <a:off x="-2" y="6641867"/>
            <a:ext cx="762001" cy="1739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A-10</a:t>
            </a:r>
            <a:endParaRPr lang="en-IN" sz="1600" dirty="0">
              <a:latin typeface="Times New Roman" panose="02020603050405020304" pitchFamily="18" charset="0"/>
              <a:cs typeface="Times New Roman" panose="02020603050405020304" pitchFamily="18" charset="0"/>
            </a:endParaRPr>
          </a:p>
        </p:txBody>
      </p:sp>
      <p:pic>
        <p:nvPicPr>
          <p:cNvPr id="6" name="Content Placeholder 5" descr="C:\Users\laksh\Downloads\LM Gmail - Acceptance notification_ Registration deadline 4th April 2026_page-0001.jpg">
            <a:extLst>
              <a:ext uri="{FF2B5EF4-FFF2-40B4-BE49-F238E27FC236}">
                <a16:creationId xmlns:a16="http://schemas.microsoft.com/office/drawing/2014/main" id="{29FC1EF6-108B-4FF3-BCE9-95DB6859FA75}"/>
              </a:ext>
            </a:extLst>
          </p:cNvPr>
          <p:cNvPicPr>
            <a:picLocks noGrp="1"/>
          </p:cNvPicPr>
          <p:nvPr>
            <p:ph idx="1"/>
          </p:nvPr>
        </p:nvPicPr>
        <p:blipFill rotWithShape="1">
          <a:blip r:embed="rId2">
            <a:extLst>
              <a:ext uri="{28A0092B-C50C-407E-A947-70E740481C1C}">
                <a14:useLocalDpi xmlns:a14="http://schemas.microsoft.com/office/drawing/2010/main" val="0"/>
              </a:ext>
            </a:extLst>
          </a:blip>
          <a:srcRect t="1" b="40203"/>
          <a:stretch/>
        </p:blipFill>
        <p:spPr bwMode="auto">
          <a:xfrm>
            <a:off x="3348941" y="1146017"/>
            <a:ext cx="4934446" cy="5111348"/>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067583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603859"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Thank You!!!</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1425</TotalTime>
  <Words>1901</Words>
  <Application>Microsoft Office PowerPoint</Application>
  <PresentationFormat>Widescreen</PresentationFormat>
  <Paragraphs>179</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Courier New</vt:lpstr>
      <vt:lpstr>Times New Roman</vt:lpstr>
      <vt:lpstr>Wingdings</vt:lpstr>
      <vt:lpstr>Custom Design</vt:lpstr>
      <vt:lpstr>PowerPoint Presentation</vt:lpstr>
      <vt:lpstr>Abstract</vt:lpstr>
      <vt:lpstr>Contents</vt:lpstr>
      <vt:lpstr>Introduction</vt:lpstr>
      <vt:lpstr>Literature Survey</vt:lpstr>
      <vt:lpstr>Existing System</vt:lpstr>
      <vt:lpstr>Proposed System</vt:lpstr>
      <vt:lpstr>Objectives of Project</vt:lpstr>
      <vt:lpstr>Requirements</vt:lpstr>
      <vt:lpstr>Requirements</vt:lpstr>
      <vt:lpstr>Modules</vt:lpstr>
      <vt:lpstr>UML Diagrams</vt:lpstr>
      <vt:lpstr>Data Flow Diagram</vt:lpstr>
      <vt:lpstr>Data Flow Diagram</vt:lpstr>
      <vt:lpstr>Sample Code</vt:lpstr>
      <vt:lpstr>Sample Code</vt:lpstr>
      <vt:lpstr>Output Screens </vt:lpstr>
      <vt:lpstr>Output Screens </vt:lpstr>
      <vt:lpstr>Output Screens </vt:lpstr>
      <vt:lpstr>Output Screens </vt:lpstr>
      <vt:lpstr>Output Screens </vt:lpstr>
      <vt:lpstr>Output Screens </vt:lpstr>
      <vt:lpstr>Output Screens </vt:lpstr>
      <vt:lpstr>Output Screens </vt:lpstr>
      <vt:lpstr>Output Screens </vt:lpstr>
      <vt:lpstr>Output Screens </vt:lpstr>
      <vt:lpstr>Output Screens </vt:lpstr>
      <vt:lpstr>Output Screens </vt:lpstr>
      <vt:lpstr>Output Screens </vt:lpstr>
      <vt:lpstr>References</vt:lpstr>
      <vt:lpstr>Conclusion</vt:lpstr>
      <vt:lpstr>Paper Submission Proof</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lakshmi moksha</cp:lastModifiedBy>
  <cp:revision>197</cp:revision>
  <dcterms:created xsi:type="dcterms:W3CDTF">2019-06-11T05:35:00Z</dcterms:created>
  <dcterms:modified xsi:type="dcterms:W3CDTF">2026-04-22T15:42:01Z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B145199D08B64BC29E291925B1B5F72E</vt:lpwstr>
  </property>
  <property fmtid="{D5CDD505-2E9C-101B-9397-08002B2CF9AE}" pid="3" name="KSOProductBuildVer">
    <vt:lpwstr>1033-11.2.0.11254</vt:lpwstr>
  </property>
</Properties>
</file>