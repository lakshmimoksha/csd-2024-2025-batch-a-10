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2"/>
  </p:notesMasterIdLst>
  <p:handoutMasterIdLst>
    <p:handoutMasterId r:id="rId13"/>
  </p:handoutMasterIdLst>
  <p:sldIdLst>
    <p:sldId id="256" r:id="rId2"/>
    <p:sldId id="257" r:id="rId3"/>
    <p:sldId id="273" r:id="rId4"/>
    <p:sldId id="276" r:id="rId5"/>
    <p:sldId id="283" r:id="rId6"/>
    <p:sldId id="275" r:id="rId7"/>
    <p:sldId id="284" r:id="rId8"/>
    <p:sldId id="279" r:id="rId9"/>
    <p:sldId id="278"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85" d="100"/>
          <a:sy n="85" d="100"/>
        </p:scale>
        <p:origin x="744" y="101"/>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07-04-2026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Title of Project</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- 00</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0" y="1783000"/>
            <a:ext cx="2590810"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effectLst>
                  <a:outerShdw blurRad="38100" dist="38100" dir="2700000" algn="tl">
                    <a:srgbClr val="000000">
                      <a:alpha val="43137"/>
                    </a:srgbClr>
                  </a:outerShdw>
                </a:effectLst>
              </a:rPr>
              <a:t>Karthik P</a:t>
            </a:r>
          </a:p>
          <a:p>
            <a:pPr>
              <a:spcBef>
                <a:spcPts val="300"/>
              </a:spcBef>
            </a:pPr>
            <a:r>
              <a:rPr lang="en-US" sz="1200" b="0" dirty="0"/>
              <a:t>Roll No. 224G1A3239</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err="1">
                <a:effectLst>
                  <a:outerShdw blurRad="38100" dist="38100" dir="2700000" algn="tl">
                    <a:srgbClr val="000000">
                      <a:alpha val="43137"/>
                    </a:srgbClr>
                  </a:outerShdw>
                </a:effectLst>
              </a:rPr>
              <a:t>Dr.P.Chitralingappa</a:t>
            </a:r>
            <a:r>
              <a:rPr lang="en-US" sz="2400" b="0" dirty="0">
                <a:effectLst>
                  <a:outerShdw blurRad="38100" dist="38100" dir="2700000" algn="tl">
                    <a:srgbClr val="000000">
                      <a:alpha val="43137"/>
                    </a:srgbClr>
                  </a:outerShdw>
                </a:effectLst>
              </a:rPr>
              <a:t> </a:t>
            </a:r>
            <a:r>
              <a:rPr lang="en-US" sz="2400" b="0" baseline="-25000" dirty="0">
                <a:effectLst>
                  <a:outerShdw blurRad="38100" dist="38100" dir="2700000" algn="tl">
                    <a:srgbClr val="000000">
                      <a:alpha val="43137"/>
                    </a:srgbClr>
                  </a:outerShdw>
                </a:effectLst>
              </a:rPr>
              <a:t>M. </a:t>
            </a:r>
            <a:r>
              <a:rPr lang="en-US" sz="2400" b="0" baseline="-25000" dirty="0" err="1">
                <a:effectLst>
                  <a:outerShdw blurRad="38100" dist="38100" dir="2700000" algn="tl">
                    <a:srgbClr val="000000">
                      <a:alpha val="43137"/>
                    </a:srgbClr>
                  </a:outerShdw>
                </a:effectLst>
              </a:rPr>
              <a:t>Tech,Ph.D</a:t>
            </a:r>
            <a:r>
              <a:rPr lang="en-US" sz="2400" b="0" baseline="-25000" dirty="0">
                <a:effectLst>
                  <a:outerShdw blurRad="38100" dist="38100" dir="2700000" algn="tl">
                    <a:srgbClr val="000000">
                      <a:alpha val="43137"/>
                    </a:srgbClr>
                  </a:outerShdw>
                </a:effectLst>
              </a:rPr>
              <a:t>.</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Associate Professor &amp; HOD</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2025 - 2026</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713066"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effectLst>
                  <a:outerShdw blurRad="38100" dist="38100" dir="2700000" algn="tl">
                    <a:srgbClr val="000000">
                      <a:alpha val="43137"/>
                    </a:srgbClr>
                  </a:outerShdw>
                </a:effectLst>
              </a:rPr>
              <a:t>Dinesh Reddy C</a:t>
            </a:r>
          </a:p>
          <a:p>
            <a:pPr>
              <a:spcBef>
                <a:spcPts val="300"/>
              </a:spcBef>
            </a:pPr>
            <a:r>
              <a:rPr lang="en-US" sz="1200" b="0" dirty="0"/>
              <a:t>Roll No. 224G1A3218</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effectLst>
                  <a:outerShdw blurRad="38100" dist="38100" dir="2700000" algn="tl">
                    <a:srgbClr val="000000">
                      <a:alpha val="43137"/>
                    </a:srgbClr>
                  </a:outerShdw>
                </a:effectLst>
              </a:rPr>
              <a:t>Akash R</a:t>
            </a:r>
          </a:p>
          <a:p>
            <a:pPr>
              <a:spcBef>
                <a:spcPts val="300"/>
              </a:spcBef>
            </a:pPr>
            <a:r>
              <a:rPr lang="en-US" sz="1200" b="0" dirty="0"/>
              <a:t>Roll No. 224G1A3206</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191460" y="1783000"/>
            <a:ext cx="2382924" cy="584534"/>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200" b="0" dirty="0">
                <a:effectLst>
                  <a:outerShdw blurRad="38100" dist="38100" dir="2700000" algn="tl">
                    <a:srgbClr val="000000">
                      <a:alpha val="43137"/>
                    </a:srgbClr>
                  </a:outerShdw>
                </a:effectLst>
              </a:rPr>
              <a:t>Lakshmi Moksha B</a:t>
            </a:r>
          </a:p>
          <a:p>
            <a:pPr>
              <a:spcBef>
                <a:spcPts val="300"/>
              </a:spcBef>
            </a:pPr>
            <a:r>
              <a:rPr lang="en-US" sz="1200" b="0" dirty="0"/>
              <a:t>Roll No. 224G1A3246</a:t>
            </a:r>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299412"/>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Analyzing Cyber Attacks in WSNs using </a:t>
            </a:r>
          </a:p>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Ensemble Techniques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9505" y="1097279"/>
            <a:ext cx="11779135" cy="5394960"/>
          </a:xfrm>
        </p:spPr>
        <p:txBody>
          <a:bodyPr>
            <a:noAutofit/>
          </a:bodyPr>
          <a:lstStyle/>
          <a:p>
            <a:pPr marL="0" indent="0">
              <a:buNone/>
            </a:pPr>
            <a:r>
              <a:rPr lang="en-US" sz="2400" dirty="0"/>
              <a:t>Wireless Sensor Networks (WSNs) play a key role in Industry 4.0 by enabling real-time data sharing and monitoring. However, they are vulnerable to cyberattacks such as blackhole, </a:t>
            </a:r>
            <a:r>
              <a:rPr lang="en-US" sz="2400" dirty="0" err="1"/>
              <a:t>grayhole</a:t>
            </a:r>
            <a:r>
              <a:rPr lang="en-US" sz="2400" dirty="0"/>
              <a:t>, flooding, and scheduling, which threaten secure communication. Traditional methods like Decision Trees, Random Forests often have limited accuracy and adaptability. This research proposes a framework combining ensemble methods like Stacking, </a:t>
            </a:r>
            <a:r>
              <a:rPr lang="en-US" sz="2400" dirty="0" err="1"/>
              <a:t>XGBoost</a:t>
            </a:r>
            <a:r>
              <a:rPr lang="en-US" sz="2400" dirty="0"/>
              <a:t> and AdaBoost with deep learning models like MLP, Autoencoder to improve cyberattack detection in WSNs. </a:t>
            </a:r>
            <a:r>
              <a:rPr lang="en-US" sz="2400" spc="-1" dirty="0">
                <a:solidFill>
                  <a:srgbClr val="000000"/>
                </a:solidFill>
                <a:latin typeface="Times New Roman" panose="02020603050405020304"/>
              </a:rPr>
              <a:t>By integrating multiple models, these techniques achieve greater accuracy in identifying and mitigating security threats. Experimental results demonstrate significant improvements in safeguarding sensitive data transmission across Wireless Sensor Networks.</a:t>
            </a:r>
            <a:endParaRPr lang="en-US" sz="2400" dirty="0"/>
          </a:p>
        </p:txBody>
      </p:sp>
      <p:sp>
        <p:nvSpPr>
          <p:cNvPr id="4" name="Rectangle 3">
            <a:extLst>
              <a:ext uri="{FF2B5EF4-FFF2-40B4-BE49-F238E27FC236}">
                <a16:creationId xmlns:a16="http://schemas.microsoft.com/office/drawing/2014/main" id="{0BCBC2F4-81D3-4E0C-A280-718B3B4B2746}"/>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2A60E33-9F7B-4B27-9B55-E358B4AE0024}"/>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2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Abstract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Introduction</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Literature survey </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Work </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References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GitHub Link</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Queries</a:t>
            </a:r>
            <a:endParaRPr lang="en-IN" dirty="0"/>
          </a:p>
        </p:txBody>
      </p:sp>
      <p:sp>
        <p:nvSpPr>
          <p:cNvPr id="5" name="Rectangle 4">
            <a:extLst>
              <a:ext uri="{FF2B5EF4-FFF2-40B4-BE49-F238E27FC236}">
                <a16:creationId xmlns:a16="http://schemas.microsoft.com/office/drawing/2014/main" id="{F0E87FDE-6107-4AA6-BF13-1F43B5DBCB19}"/>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64B1C73-437E-45EA-A113-C04E5A345D11}"/>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2208F22-9C32-4116-8E8B-2D5ED6871D7C}"/>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09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779135" cy="4603725"/>
          </a:xfrm>
        </p:spPr>
        <p:txBody>
          <a:bodyPr>
            <a:normAutofit/>
          </a:bodyPr>
          <a:lstStyle/>
          <a:p>
            <a:pPr marL="457200" indent="-457200"/>
            <a:r>
              <a:rPr lang="en-US" dirty="0"/>
              <a:t>Industry 4.0 relies on Wireless Sensor Networks (WSNs) for automation, smart monitoring, and real-time data sharing.</a:t>
            </a:r>
          </a:p>
          <a:p>
            <a:pPr marL="457200" indent="-457200"/>
            <a:r>
              <a:rPr lang="en-US" dirty="0"/>
              <a:t>These networks are highly vulnerable to cyberattacks such as blackhole, </a:t>
            </a:r>
            <a:r>
              <a:rPr lang="en-US" dirty="0" err="1"/>
              <a:t>grayhole</a:t>
            </a:r>
            <a:r>
              <a:rPr lang="en-US" dirty="0"/>
              <a:t>, flooding, and scheduling, which disrupt secure communication.</a:t>
            </a:r>
          </a:p>
          <a:p>
            <a:pPr marL="457200" indent="-457200"/>
            <a:r>
              <a:rPr lang="en-US" dirty="0"/>
              <a:t>Traditional models like Decision Trees, Random Forest and have limited accuracy, adaptability, and resilience.</a:t>
            </a:r>
          </a:p>
          <a:p>
            <a:pPr marL="457200" indent="-457200"/>
            <a:r>
              <a:rPr lang="en-US" dirty="0"/>
              <a:t>Ensemble methods such as Stacking, </a:t>
            </a:r>
            <a:r>
              <a:rPr lang="en-US" dirty="0" err="1"/>
              <a:t>XGBoost</a:t>
            </a:r>
            <a:r>
              <a:rPr lang="en-US" dirty="0"/>
              <a:t>, and AdaBoost combined with deep learning models like MLP and Autoencoder provide stronger detection.</a:t>
            </a:r>
          </a:p>
          <a:p>
            <a:pPr marL="457200" indent="-457200"/>
            <a:r>
              <a:rPr lang="en-US" dirty="0"/>
              <a:t>The WSN-DS dataset shows that the framework can effectively detect and classify different types of cyberattacks.</a:t>
            </a:r>
          </a:p>
        </p:txBody>
      </p:sp>
      <p:sp>
        <p:nvSpPr>
          <p:cNvPr id="4" name="Rectangle 3">
            <a:extLst>
              <a:ext uri="{FF2B5EF4-FFF2-40B4-BE49-F238E27FC236}">
                <a16:creationId xmlns:a16="http://schemas.microsoft.com/office/drawing/2014/main" id="{C28307A7-1D06-410F-8757-6D0CFBAE63AC}"/>
              </a:ext>
            </a:extLst>
          </p:cNvPr>
          <p:cNvSpPr/>
          <p:nvPr/>
        </p:nvSpPr>
        <p:spPr>
          <a:xfrm>
            <a:off x="0" y="29171"/>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D679537-49FA-4F1C-B918-7C3E93E990A4}"/>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0120D3C-0345-4659-9401-DA8F3188DE51}"/>
              </a:ext>
            </a:extLst>
          </p:cNvPr>
          <p:cNvSpPr/>
          <p:nvPr/>
        </p:nvSpPr>
        <p:spPr>
          <a:xfrm>
            <a:off x="-6928" y="16665"/>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B1F9-5637-475E-835E-7AA9BC8EA59B}"/>
              </a:ext>
            </a:extLst>
          </p:cNvPr>
          <p:cNvSpPr>
            <a:spLocks noGrp="1"/>
          </p:cNvSpPr>
          <p:nvPr>
            <p:ph type="title"/>
          </p:nvPr>
        </p:nvSpPr>
        <p:spPr>
          <a:xfrm>
            <a:off x="-2" y="232759"/>
            <a:ext cx="12192000" cy="714892"/>
          </a:xfrm>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E3724B96-9C9C-BF71-74CF-E01F6539898C}"/>
              </a:ext>
            </a:extLst>
          </p:cNvPr>
          <p:cNvGraphicFramePr>
            <a:graphicFrameLocks noGrp="1"/>
          </p:cNvGraphicFramePr>
          <p:nvPr>
            <p:extLst>
              <p:ext uri="{D42A27DB-BD31-4B8C-83A1-F6EECF244321}">
                <p14:modId xmlns:p14="http://schemas.microsoft.com/office/powerpoint/2010/main" val="674821184"/>
              </p:ext>
            </p:extLst>
          </p:nvPr>
        </p:nvGraphicFramePr>
        <p:xfrm>
          <a:off x="116541" y="1048871"/>
          <a:ext cx="11214845" cy="5524647"/>
        </p:xfrm>
        <a:graphic>
          <a:graphicData uri="http://schemas.openxmlformats.org/drawingml/2006/table">
            <a:tbl>
              <a:tblPr firstRow="1" bandRow="1">
                <a:tableStyleId>{5C22544A-7EE6-4342-B048-85BDC9FD1C3A}</a:tableStyleId>
              </a:tblPr>
              <a:tblGrid>
                <a:gridCol w="496952">
                  <a:extLst>
                    <a:ext uri="{9D8B030D-6E8A-4147-A177-3AD203B41FA5}">
                      <a16:colId xmlns:a16="http://schemas.microsoft.com/office/drawing/2014/main" val="1877128159"/>
                    </a:ext>
                  </a:extLst>
                </a:gridCol>
                <a:gridCol w="1934801">
                  <a:extLst>
                    <a:ext uri="{9D8B030D-6E8A-4147-A177-3AD203B41FA5}">
                      <a16:colId xmlns:a16="http://schemas.microsoft.com/office/drawing/2014/main" val="2353965450"/>
                    </a:ext>
                  </a:extLst>
                </a:gridCol>
                <a:gridCol w="1466848">
                  <a:extLst>
                    <a:ext uri="{9D8B030D-6E8A-4147-A177-3AD203B41FA5}">
                      <a16:colId xmlns:a16="http://schemas.microsoft.com/office/drawing/2014/main" val="4271515949"/>
                    </a:ext>
                  </a:extLst>
                </a:gridCol>
                <a:gridCol w="1484847">
                  <a:extLst>
                    <a:ext uri="{9D8B030D-6E8A-4147-A177-3AD203B41FA5}">
                      <a16:colId xmlns:a16="http://schemas.microsoft.com/office/drawing/2014/main" val="919807571"/>
                    </a:ext>
                  </a:extLst>
                </a:gridCol>
                <a:gridCol w="1826811">
                  <a:extLst>
                    <a:ext uri="{9D8B030D-6E8A-4147-A177-3AD203B41FA5}">
                      <a16:colId xmlns:a16="http://schemas.microsoft.com/office/drawing/2014/main" val="2381179260"/>
                    </a:ext>
                  </a:extLst>
                </a:gridCol>
                <a:gridCol w="2123781">
                  <a:extLst>
                    <a:ext uri="{9D8B030D-6E8A-4147-A177-3AD203B41FA5}">
                      <a16:colId xmlns:a16="http://schemas.microsoft.com/office/drawing/2014/main" val="1551066819"/>
                    </a:ext>
                  </a:extLst>
                </a:gridCol>
                <a:gridCol w="1880805">
                  <a:extLst>
                    <a:ext uri="{9D8B030D-6E8A-4147-A177-3AD203B41FA5}">
                      <a16:colId xmlns:a16="http://schemas.microsoft.com/office/drawing/2014/main" val="652884482"/>
                    </a:ext>
                  </a:extLst>
                </a:gridCol>
              </a:tblGrid>
              <a:tr h="644542">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2793016">
                <a:tc>
                  <a:txBody>
                    <a:bodyPr/>
                    <a:lstStyle/>
                    <a:p>
                      <a:r>
                        <a:rPr lang="en-US" dirty="0"/>
                        <a:t>1.</a:t>
                      </a:r>
                    </a:p>
                  </a:txBody>
                  <a:tcPr/>
                </a:tc>
                <a:tc>
                  <a:txBody>
                    <a:bodyPr/>
                    <a:lstStyle/>
                    <a:p>
                      <a:r>
                        <a:rPr lang="en-US" sz="1600" dirty="0">
                          <a:latin typeface="Times New Roman" panose="02020603050405020304" pitchFamily="18" charset="0"/>
                          <a:cs typeface="Times New Roman" panose="02020603050405020304" pitchFamily="18" charset="0"/>
                        </a:rPr>
                        <a:t>A Situation Based Predictive Approach for Cybersecurity Intrusion Detection and Prevention Using Machine Learning and Deep Learning Algorithms in Wireless Sensor Networks of Industry 4.0</a:t>
                      </a:r>
                      <a:endParaRPr lang="en-US" altLang="en-US"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FATIMA AL-QUAYED , ZULFIQAR AHMAD AND MAMOONAHUMAYUN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altLang="en-US" sz="1600" dirty="0">
                          <a:latin typeface="Times New Roman" panose="02020603050405020304" pitchFamily="18" charset="0"/>
                          <a:cs typeface="Times New Roman" panose="02020603050405020304" pitchFamily="18" charset="0"/>
                        </a:rPr>
                        <a:t>I2CT ( IEEE 9th International Conference for Convergence in Technology)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600" dirty="0">
                          <a:latin typeface="Times New Roman" panose="02020603050405020304" pitchFamily="18" charset="0"/>
                          <a:cs typeface="Times New Roman" panose="02020603050405020304" pitchFamily="18" charset="0"/>
                        </a:rPr>
                        <a:t>Decision Tree, MLP, Autoencoder</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Effective detection of WSN attacks using single model</a:t>
                      </a:r>
                    </a:p>
                  </a:txBody>
                  <a:tcPr/>
                </a:tc>
                <a:tc>
                  <a:txBody>
                    <a:bodyPr/>
                    <a:lstStyle/>
                    <a:p>
                      <a:r>
                        <a:rPr lang="en-US" sz="1600" dirty="0">
                          <a:latin typeface="Times New Roman" panose="02020603050405020304" pitchFamily="18" charset="0"/>
                          <a:cs typeface="Times New Roman" panose="02020603050405020304" pitchFamily="18" charset="0"/>
                        </a:rPr>
                        <a:t>Uses only single models at a time, does not combine methods or adapt to evolving attacks</a:t>
                      </a:r>
                      <a:endParaRPr lang="en-US"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3579915"/>
                  </a:ext>
                </a:extLst>
              </a:tr>
              <a:tr h="2087089">
                <a:tc>
                  <a:txBody>
                    <a:bodyPr/>
                    <a:lstStyle/>
                    <a:p>
                      <a:r>
                        <a:rPr lang="en-US" dirty="0"/>
                        <a:t>2.</a:t>
                      </a:r>
                    </a:p>
                  </a:txBody>
                  <a:tcPr/>
                </a:tc>
                <a:tc>
                  <a:txBody>
                    <a:bodyPr/>
                    <a:lstStyle/>
                    <a:p>
                      <a:r>
                        <a:rPr lang="en-US" altLang="en-US" sz="1600" dirty="0">
                          <a:latin typeface="Times New Roman" panose="02020603050405020304" pitchFamily="18" charset="0"/>
                          <a:cs typeface="Times New Roman" panose="02020603050405020304" pitchFamily="18" charset="0"/>
                        </a:rPr>
                        <a:t>Evaluation of Machine Learning Algorithms for Intrusion</a:t>
                      </a:r>
                    </a:p>
                    <a:p>
                      <a:r>
                        <a:rPr lang="en-US" altLang="en-US" sz="1600" dirty="0">
                          <a:latin typeface="Times New Roman" panose="02020603050405020304" pitchFamily="18" charset="0"/>
                          <a:cs typeface="Times New Roman" panose="02020603050405020304" pitchFamily="18" charset="0"/>
                        </a:rPr>
                        <a:t>Detection System in Wireless Sensor Network</a:t>
                      </a:r>
                    </a:p>
                    <a:p>
                      <a:endParaRPr lang="en-US" dirty="0"/>
                    </a:p>
                  </a:txBody>
                  <a:tcPr/>
                </a:tc>
                <a:tc>
                  <a:txBody>
                    <a:bodyPr/>
                    <a:lstStyle/>
                    <a:p>
                      <a:r>
                        <a:rPr lang="en-US" altLang="en-US" sz="1600" dirty="0">
                          <a:latin typeface="Times New Roman" panose="02020603050405020304" pitchFamily="18" charset="0"/>
                          <a:cs typeface="Times New Roman" panose="02020603050405020304" pitchFamily="18" charset="0"/>
                        </a:rPr>
                        <a:t>Mousa </a:t>
                      </a:r>
                      <a:r>
                        <a:rPr lang="en-US" altLang="en-US" sz="1600" dirty="0" err="1">
                          <a:latin typeface="Times New Roman" panose="02020603050405020304" pitchFamily="18" charset="0"/>
                          <a:cs typeface="Times New Roman" panose="02020603050405020304" pitchFamily="18" charset="0"/>
                        </a:rPr>
                        <a:t>Tawfiq</a:t>
                      </a:r>
                      <a:r>
                        <a:rPr lang="en-US" altLang="en-US" sz="1600" dirty="0">
                          <a:latin typeface="Times New Roman" panose="02020603050405020304" pitchFamily="18" charset="0"/>
                          <a:cs typeface="Times New Roman" panose="02020603050405020304" pitchFamily="18" charset="0"/>
                        </a:rPr>
                        <a:t> AL-</a:t>
                      </a:r>
                      <a:r>
                        <a:rPr lang="en-US" altLang="en-US" sz="1600" dirty="0" err="1">
                          <a:latin typeface="Times New Roman" panose="02020603050405020304" pitchFamily="18" charset="0"/>
                          <a:cs typeface="Times New Roman" panose="02020603050405020304" pitchFamily="18" charset="0"/>
                        </a:rPr>
                        <a:t>Akhras</a:t>
                      </a:r>
                      <a:r>
                        <a:rPr lang="en-US" altLang="en-US" sz="1600" dirty="0">
                          <a:latin typeface="Times New Roman" panose="02020603050405020304" pitchFamily="18" charset="0"/>
                          <a:cs typeface="Times New Roman" panose="02020603050405020304" pitchFamily="18" charset="0"/>
                        </a:rPr>
                        <a:t> , Mohammed </a:t>
                      </a:r>
                      <a:r>
                        <a:rPr lang="en-US" altLang="en-US" sz="1600" dirty="0" err="1">
                          <a:latin typeface="Times New Roman" panose="02020603050405020304" pitchFamily="18" charset="0"/>
                          <a:cs typeface="Times New Roman" panose="02020603050405020304" pitchFamily="18" charset="0"/>
                        </a:rPr>
                        <a:t>Alawairdhi</a:t>
                      </a:r>
                      <a:endParaRPr lang="en-US" altLang="en-US" sz="1600" dirty="0">
                        <a:latin typeface="Times New Roman" panose="02020603050405020304" pitchFamily="18" charset="0"/>
                        <a:cs typeface="Times New Roman" panose="02020603050405020304" pitchFamily="18" charset="0"/>
                      </a:endParaRPr>
                    </a:p>
                    <a:p>
                      <a:endParaRPr lang="en-US" dirty="0"/>
                    </a:p>
                  </a:txBody>
                  <a:tcPr/>
                </a:tc>
                <a:tc>
                  <a:txBody>
                    <a:bodyPr/>
                    <a:lstStyle/>
                    <a:p>
                      <a:r>
                        <a:rPr lang="en-US" altLang="en-US" sz="1600" dirty="0">
                          <a:latin typeface="Times New Roman" panose="02020603050405020304" pitchFamily="18" charset="0"/>
                          <a:cs typeface="Times New Roman" panose="02020603050405020304" pitchFamily="18" charset="0"/>
                        </a:rPr>
                        <a:t>International Journal of Advanced Computer Science and Applications 2021</a:t>
                      </a:r>
                    </a:p>
                    <a:p>
                      <a:endParaRPr lang="en-US" dirty="0"/>
                    </a:p>
                  </a:txBody>
                  <a:tcPr/>
                </a:tc>
                <a:tc>
                  <a:txBody>
                    <a:bodyPr/>
                    <a:lstStyle/>
                    <a:p>
                      <a:r>
                        <a:rPr lang="en-US" altLang="en-US" sz="1600" dirty="0">
                          <a:latin typeface="Times New Roman" panose="02020603050405020304" pitchFamily="18" charset="0"/>
                          <a:cs typeface="Times New Roman" panose="02020603050405020304" pitchFamily="18" charset="0"/>
                        </a:rPr>
                        <a:t>Naive Bayes , Random Forest Algorithm </a:t>
                      </a:r>
                    </a:p>
                    <a:p>
                      <a:endParaRPr lang="en-US" dirty="0"/>
                    </a:p>
                  </a:txBody>
                  <a:tcPr/>
                </a:tc>
                <a:tc>
                  <a:txBody>
                    <a:bodyPr/>
                    <a:lstStyle/>
                    <a:p>
                      <a:r>
                        <a:rPr lang="en-US" altLang="en-US" sz="1600" b="0" dirty="0">
                          <a:latin typeface="Times New Roman" panose="02020603050405020304" pitchFamily="18" charset="0"/>
                          <a:cs typeface="Times New Roman" panose="02020603050405020304" pitchFamily="18" charset="0"/>
                        </a:rPr>
                        <a:t>Analyze and protect WSN networks in combination with firewalls and Deep Packet Inspection </a:t>
                      </a:r>
                    </a:p>
                    <a:p>
                      <a:endParaRPr lang="en-US" dirty="0"/>
                    </a:p>
                  </a:txBody>
                  <a:tcPr/>
                </a:tc>
                <a:tc>
                  <a:txBody>
                    <a:bodyPr/>
                    <a:lstStyle/>
                    <a:p>
                      <a:r>
                        <a:rPr lang="en-US" altLang="en-US" sz="1600" dirty="0">
                          <a:latin typeface="Times New Roman" panose="02020603050405020304" pitchFamily="18" charset="0"/>
                          <a:cs typeface="Times New Roman" panose="02020603050405020304" pitchFamily="18" charset="0"/>
                        </a:rPr>
                        <a:t>Not suitable for the advanced cyber attacks like Grey hole,</a:t>
                      </a:r>
                    </a:p>
                    <a:p>
                      <a:r>
                        <a:rPr lang="en-US" altLang="en-US" sz="1600" dirty="0">
                          <a:latin typeface="Times New Roman" panose="02020603050405020304" pitchFamily="18" charset="0"/>
                          <a:cs typeface="Times New Roman" panose="02020603050405020304" pitchFamily="18" charset="0"/>
                        </a:rPr>
                        <a:t>Flooding.</a:t>
                      </a:r>
                    </a:p>
                    <a:p>
                      <a:endParaRPr lang="en-US" dirty="0"/>
                    </a:p>
                  </a:txBody>
                  <a:tcPr/>
                </a:tc>
                <a:extLst>
                  <a:ext uri="{0D108BD9-81ED-4DB2-BD59-A6C34878D82A}">
                    <a16:rowId xmlns:a16="http://schemas.microsoft.com/office/drawing/2014/main" val="1578985494"/>
                  </a:ext>
                </a:extLst>
              </a:tr>
            </a:tbl>
          </a:graphicData>
        </a:graphic>
      </p:graphicFrame>
      <p:sp>
        <p:nvSpPr>
          <p:cNvPr id="5" name="Rectangle 4">
            <a:extLst>
              <a:ext uri="{FF2B5EF4-FFF2-40B4-BE49-F238E27FC236}">
                <a16:creationId xmlns:a16="http://schemas.microsoft.com/office/drawing/2014/main" id="{EEC52CB8-1911-4934-9C9D-B44DE52D215F}"/>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1C82B90-6CCA-44BA-BAF5-3D31372400B6}"/>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33F8E3B-4143-4FB7-A06F-F7BD5CDC05F8}"/>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479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Proposed System</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lnSpcReduction="10000"/>
          </a:bodyPr>
          <a:lstStyle/>
          <a:p>
            <a:pPr marL="457200" indent="-457200"/>
            <a:r>
              <a:rPr lang="en-US" dirty="0"/>
              <a:t>Implements a situation-based predictive approach using Ensemble Techniques to tackle growing cyber threats in Wireless Sensor Networks (WSNs) for Industry 4.0. </a:t>
            </a:r>
          </a:p>
          <a:p>
            <a:pPr marL="457200" indent="-457200"/>
            <a:r>
              <a:rPr lang="en-US" dirty="0"/>
              <a:t> Identifies and prioritizes cyber threats such as Blackhole and Flooding attacks before they can cause significant damage. </a:t>
            </a:r>
          </a:p>
          <a:p>
            <a:pPr marL="457200" indent="-457200"/>
            <a:r>
              <a:rPr lang="en-US" dirty="0"/>
              <a:t> Leverages advanced algorithms like Bagging, </a:t>
            </a:r>
            <a:r>
              <a:rPr lang="en-US" dirty="0" err="1"/>
              <a:t>XGBoost</a:t>
            </a:r>
            <a:r>
              <a:rPr lang="en-US" dirty="0"/>
              <a:t>, and AdaBoost to improve accuracy and adaptability of cybersecurity defenses. </a:t>
            </a:r>
          </a:p>
          <a:p>
            <a:pPr marL="457200" indent="-457200"/>
            <a:r>
              <a:rPr lang="en-US" dirty="0"/>
              <a:t> Overcomes limitations of traditional reactive systems by analyzing real-time data to detect complex attack patterns. </a:t>
            </a:r>
          </a:p>
          <a:p>
            <a:pPr marL="457200" indent="-457200"/>
            <a:r>
              <a:rPr lang="en-US" dirty="0"/>
              <a:t>Ensures quicker responses to potential threats through predictive Ensemble  models, reducing risks and vulnerabilities. </a:t>
            </a:r>
          </a:p>
          <a:p>
            <a:pPr marL="457200" indent="-457200"/>
            <a:r>
              <a:rPr lang="en-US" dirty="0"/>
              <a:t>Maintains secure and uninterrupted operations in Industry 4.0 environments by detecting threats proactively and minimizing disruptions</a:t>
            </a:r>
            <a:endParaRPr lang="en-US" b="1" dirty="0"/>
          </a:p>
        </p:txBody>
      </p:sp>
      <p:sp>
        <p:nvSpPr>
          <p:cNvPr id="4" name="Rectangle 3">
            <a:extLst>
              <a:ext uri="{FF2B5EF4-FFF2-40B4-BE49-F238E27FC236}">
                <a16:creationId xmlns:a16="http://schemas.microsoft.com/office/drawing/2014/main" id="{0D81D39C-F668-42DD-BD46-63B45C6DA351}"/>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3E2D2CA-B345-48EF-B642-8CADCA9B5C02}"/>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F5B3DA63-78EE-451B-976C-E0B53BD97415}"/>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08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a:xfrm>
            <a:off x="8960" y="219814"/>
            <a:ext cx="12192000" cy="714892"/>
          </a:xfrm>
        </p:spPr>
        <p:txBody>
          <a:bodyPr/>
          <a:lstStyle/>
          <a:p>
            <a:r>
              <a:rPr lang="en-IN" dirty="0"/>
              <a:t>Reference</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rmAutofit fontScale="92500" lnSpcReduction="10000"/>
          </a:bodyPr>
          <a:lstStyle/>
          <a:p>
            <a:pPr marL="577850" indent="-577850">
              <a:tabLst>
                <a:tab pos="0" algn="l"/>
              </a:tabLst>
            </a:pPr>
            <a:r>
              <a:rPr lang="en-US" spc="-1" dirty="0">
                <a:solidFill>
                  <a:srgbClr val="000000"/>
                </a:solidFill>
                <a:latin typeface="Times New Roman" panose="02020603050405020304"/>
              </a:rPr>
              <a:t>[1]</a:t>
            </a:r>
            <a:r>
              <a:rPr lang="en-US" sz="3200" spc="-1" dirty="0">
                <a:solidFill>
                  <a:srgbClr val="000000"/>
                </a:solidFill>
                <a:latin typeface="Times New Roman" panose="02020603050405020304"/>
              </a:rPr>
              <a:t>. </a:t>
            </a:r>
            <a:r>
              <a:rPr lang="en-US" spc="-1" dirty="0">
                <a:solidFill>
                  <a:srgbClr val="000000"/>
                </a:solidFill>
                <a:latin typeface="Times New Roman" panose="02020603050405020304"/>
              </a:rPr>
              <a:t>Fatima Al-</a:t>
            </a:r>
            <a:r>
              <a:rPr lang="en-US" spc="-1" dirty="0" err="1">
                <a:solidFill>
                  <a:srgbClr val="000000"/>
                </a:solidFill>
                <a:latin typeface="Times New Roman" panose="02020603050405020304"/>
              </a:rPr>
              <a:t>Quayed</a:t>
            </a:r>
            <a:r>
              <a:rPr lang="en-US" spc="-1" dirty="0">
                <a:solidFill>
                  <a:srgbClr val="000000"/>
                </a:solidFill>
                <a:latin typeface="Times New Roman" panose="02020603050405020304"/>
              </a:rPr>
              <a:t>, Zulfiqar Ahmad, and </a:t>
            </a:r>
            <a:r>
              <a:rPr lang="en-US" spc="-1" dirty="0" err="1">
                <a:solidFill>
                  <a:srgbClr val="000000"/>
                </a:solidFill>
                <a:latin typeface="Times New Roman" panose="02020603050405020304"/>
              </a:rPr>
              <a:t>Mamoona</a:t>
            </a:r>
            <a:r>
              <a:rPr lang="en-US" spc="-1" dirty="0">
                <a:solidFill>
                  <a:srgbClr val="000000"/>
                </a:solidFill>
                <a:latin typeface="Times New Roman" panose="02020603050405020304"/>
              </a:rPr>
              <a:t> Humayun's paper, "A Situation-Based Predictive Approach for Cyber Attacks Detection and Prevention Using Machine Learning and Deep Learning Algorithms in Wireless Sensor Networks of Industry 4.0," was published in IEEE Access, Volume 99, Pages 1-1, in January 2024 (DOI: 10.1109/ACCESS.2024.3372187).</a:t>
            </a:r>
          </a:p>
          <a:p>
            <a:pPr marL="577850" indent="-577850">
              <a:tabLst>
                <a:tab pos="0" algn="l"/>
              </a:tabLst>
            </a:pPr>
            <a:r>
              <a:rPr lang="en-US" spc="-1" dirty="0">
                <a:solidFill>
                  <a:srgbClr val="000000"/>
                </a:solidFill>
                <a:latin typeface="Times New Roman" panose="02020603050405020304"/>
              </a:rPr>
              <a:t>[2]</a:t>
            </a:r>
            <a:r>
              <a:rPr lang="en-US" sz="3200" spc="-1" dirty="0">
                <a:solidFill>
                  <a:srgbClr val="000000"/>
                </a:solidFill>
                <a:latin typeface="Times New Roman" panose="02020603050405020304"/>
              </a:rPr>
              <a:t>. </a:t>
            </a:r>
            <a:r>
              <a:rPr lang="en-IN" dirty="0"/>
              <a:t>Mohammed S. </a:t>
            </a:r>
            <a:r>
              <a:rPr lang="en-IN" dirty="0" err="1"/>
              <a:t>Alsahli</a:t>
            </a:r>
            <a:r>
              <a:rPr lang="en-IN" dirty="0"/>
              <a:t>, </a:t>
            </a:r>
            <a:r>
              <a:rPr lang="en-IN" dirty="0" err="1"/>
              <a:t>Marwah</a:t>
            </a:r>
            <a:r>
              <a:rPr lang="en-IN" dirty="0"/>
              <a:t> M. </a:t>
            </a:r>
            <a:r>
              <a:rPr lang="en-IN" dirty="0" err="1"/>
              <a:t>Almasri</a:t>
            </a:r>
            <a:r>
              <a:rPr lang="en-IN" dirty="0"/>
              <a:t>, Mousa Al-</a:t>
            </a:r>
            <a:r>
              <a:rPr lang="en-IN" dirty="0" err="1"/>
              <a:t>Akhras</a:t>
            </a:r>
            <a:r>
              <a:rPr lang="en-IN" dirty="0"/>
              <a:t>, </a:t>
            </a:r>
            <a:r>
              <a:rPr lang="en-IN" dirty="0" err="1"/>
              <a:t>Abdulaziz</a:t>
            </a:r>
            <a:r>
              <a:rPr lang="en-IN" dirty="0"/>
              <a:t> I. Al-Issa, and Mohammed </a:t>
            </a:r>
            <a:r>
              <a:rPr lang="en-IN" dirty="0" err="1"/>
              <a:t>Alawairdhi</a:t>
            </a:r>
            <a:r>
              <a:rPr lang="en-IN" dirty="0"/>
              <a:t>, “Evaluation of Machine Learning Algorithms for Intrusion Detection System in Wireless Sensor Network,” International Journal of Advanced Computer Science and Applications (IJACSA), Volume 12, Issue 5, 2021, with a CC BY-NC-ND 4.0 license.</a:t>
            </a:r>
          </a:p>
          <a:p>
            <a:pPr marL="577850" indent="-577850">
              <a:tabLst>
                <a:tab pos="0" algn="l"/>
              </a:tabLst>
            </a:pPr>
            <a:r>
              <a:rPr lang="en-US" spc="-1" dirty="0">
                <a:solidFill>
                  <a:srgbClr val="000000"/>
                </a:solidFill>
                <a:latin typeface="Times New Roman" panose="02020603050405020304"/>
              </a:rPr>
              <a:t>Shaik Razia and Venkata Ramani Varanasi's paper, "Intrusion Detection using Machine Learning and Deep Learning," was published in International Journal of Recent Technology and Engineering (IJRTE), Volume 8, Issue 4, in December 2019 (DOI: 10.35940/ijrte.D9999.118419), with a CC BY-NC-ND 4.0 license.</a:t>
            </a:r>
            <a:endParaRPr lang="en-IN" dirty="0"/>
          </a:p>
          <a:p>
            <a:pPr marL="577850" indent="-577850">
              <a:tabLst>
                <a:tab pos="0" algn="l"/>
              </a:tabLst>
            </a:pPr>
            <a:endParaRPr lang="en-US" spc="-1" dirty="0">
              <a:solidFill>
                <a:srgbClr val="000000"/>
              </a:solidFill>
              <a:latin typeface="Times New Roman" panose="02020603050405020304"/>
            </a:endParaRPr>
          </a:p>
          <a:p>
            <a:pPr marL="577850" indent="-577850">
              <a:tabLst>
                <a:tab pos="0" algn="l"/>
              </a:tabLst>
            </a:pPr>
            <a:endParaRPr lang="en-IN" dirty="0"/>
          </a:p>
          <a:p>
            <a:pPr marL="0" indent="0">
              <a:buNone/>
              <a:tabLst>
                <a:tab pos="0" algn="l"/>
              </a:tabLst>
            </a:pPr>
            <a:endParaRPr lang="en-IN" dirty="0"/>
          </a:p>
        </p:txBody>
      </p:sp>
      <p:sp>
        <p:nvSpPr>
          <p:cNvPr id="4" name="Rectangle 3">
            <a:extLst>
              <a:ext uri="{FF2B5EF4-FFF2-40B4-BE49-F238E27FC236}">
                <a16:creationId xmlns:a16="http://schemas.microsoft.com/office/drawing/2014/main" id="{6F29085E-5CDF-4A42-82EC-7BAFCA28EFAD}"/>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A499C15-5172-46B5-8C86-292C505C4F37}"/>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FAFB4BA-574E-435B-85A4-61549F4A8A4A}"/>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22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 Hub Dashboards of each student</a:t>
            </a:r>
            <a:endParaRPr lang="en-IN" dirty="0"/>
          </a:p>
        </p:txBody>
      </p:sp>
      <p:pic>
        <p:nvPicPr>
          <p:cNvPr id="3" name="Content Placeholder 2">
            <a:extLst>
              <a:ext uri="{FF2B5EF4-FFF2-40B4-BE49-F238E27FC236}">
                <a16:creationId xmlns:a16="http://schemas.microsoft.com/office/drawing/2014/main" id="{F6578A73-D112-6861-9A96-EA4E8ED0AE2C}"/>
              </a:ext>
            </a:extLst>
          </p:cNvPr>
          <p:cNvPicPr>
            <a:picLocks noGrp="1"/>
          </p:cNvPicPr>
          <p:nvPr>
            <p:ph idx="1"/>
          </p:nvPr>
        </p:nvPicPr>
        <p:blipFill>
          <a:blip r:embed="rId2"/>
          <a:stretch/>
        </p:blipFill>
        <p:spPr>
          <a:xfrm>
            <a:off x="1140884" y="1107038"/>
            <a:ext cx="9592732" cy="4128180"/>
          </a:xfrm>
          <a:prstGeom prst="rect">
            <a:avLst/>
          </a:prstGeom>
          <a:ln w="0">
            <a:noFill/>
          </a:ln>
        </p:spPr>
      </p:pic>
      <p:sp>
        <p:nvSpPr>
          <p:cNvPr id="4" name="Content Placeholder 2">
            <a:extLst>
              <a:ext uri="{FF2B5EF4-FFF2-40B4-BE49-F238E27FC236}">
                <a16:creationId xmlns:a16="http://schemas.microsoft.com/office/drawing/2014/main" id="{D0230333-6268-988A-D03E-098BB3A2845B}"/>
              </a:ext>
            </a:extLst>
          </p:cNvPr>
          <p:cNvSpPr txBox="1">
            <a:spLocks/>
          </p:cNvSpPr>
          <p:nvPr/>
        </p:nvSpPr>
        <p:spPr>
          <a:xfrm>
            <a:off x="199505" y="5497285"/>
            <a:ext cx="11779135" cy="994953"/>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GitHub link:  </a:t>
            </a:r>
            <a:r>
              <a:rPr lang="en-US" dirty="0"/>
              <a:t>https://github.com/LakshmiMoksha/CSD-2025-2026-Batch-A-10</a:t>
            </a:r>
          </a:p>
        </p:txBody>
      </p:sp>
      <p:pic>
        <p:nvPicPr>
          <p:cNvPr id="11" name="Picture 10">
            <a:extLst>
              <a:ext uri="{FF2B5EF4-FFF2-40B4-BE49-F238E27FC236}">
                <a16:creationId xmlns:a16="http://schemas.microsoft.com/office/drawing/2014/main" id="{ED6BAEDE-FCD2-94AF-9AF2-3A99591A5E3E}"/>
              </a:ext>
            </a:extLst>
          </p:cNvPr>
          <p:cNvPicPr>
            <a:picLocks noChangeAspect="1"/>
          </p:cNvPicPr>
          <p:nvPr/>
        </p:nvPicPr>
        <p:blipFill rotWithShape="1">
          <a:blip r:embed="rId3"/>
          <a:srcRect l="1625" t="24605" r="78751" b="18256"/>
          <a:stretch/>
        </p:blipFill>
        <p:spPr>
          <a:xfrm>
            <a:off x="2198915" y="4125685"/>
            <a:ext cx="468086" cy="195943"/>
          </a:xfrm>
          <a:prstGeom prst="rect">
            <a:avLst/>
          </a:prstGeom>
        </p:spPr>
      </p:pic>
      <p:pic>
        <p:nvPicPr>
          <p:cNvPr id="12" name="Picture 11">
            <a:extLst>
              <a:ext uri="{FF2B5EF4-FFF2-40B4-BE49-F238E27FC236}">
                <a16:creationId xmlns:a16="http://schemas.microsoft.com/office/drawing/2014/main" id="{2C470F4D-121C-AD0E-B441-3D4678B99933}"/>
              </a:ext>
            </a:extLst>
          </p:cNvPr>
          <p:cNvPicPr>
            <a:picLocks noChangeAspect="1"/>
          </p:cNvPicPr>
          <p:nvPr/>
        </p:nvPicPr>
        <p:blipFill rotWithShape="1">
          <a:blip r:embed="rId3"/>
          <a:srcRect l="1625" t="24605" r="78751" b="18256"/>
          <a:stretch/>
        </p:blipFill>
        <p:spPr>
          <a:xfrm>
            <a:off x="2057401" y="2166256"/>
            <a:ext cx="468086" cy="217716"/>
          </a:xfrm>
          <a:prstGeom prst="rect">
            <a:avLst/>
          </a:prstGeom>
        </p:spPr>
      </p:pic>
      <p:pic>
        <p:nvPicPr>
          <p:cNvPr id="13" name="Picture 12">
            <a:extLst>
              <a:ext uri="{FF2B5EF4-FFF2-40B4-BE49-F238E27FC236}">
                <a16:creationId xmlns:a16="http://schemas.microsoft.com/office/drawing/2014/main" id="{BB1E50EC-577C-CC91-939F-2DB8FC4054A7}"/>
              </a:ext>
            </a:extLst>
          </p:cNvPr>
          <p:cNvPicPr>
            <a:picLocks noChangeAspect="1"/>
          </p:cNvPicPr>
          <p:nvPr/>
        </p:nvPicPr>
        <p:blipFill rotWithShape="1">
          <a:blip r:embed="rId3"/>
          <a:srcRect l="1625" t="24605" r="78751" b="18256"/>
          <a:stretch/>
        </p:blipFill>
        <p:spPr>
          <a:xfrm>
            <a:off x="2302331" y="1654925"/>
            <a:ext cx="468086" cy="195943"/>
          </a:xfrm>
          <a:prstGeom prst="rect">
            <a:avLst/>
          </a:prstGeom>
        </p:spPr>
      </p:pic>
      <p:sp>
        <p:nvSpPr>
          <p:cNvPr id="8" name="Rectangle 7">
            <a:extLst>
              <a:ext uri="{FF2B5EF4-FFF2-40B4-BE49-F238E27FC236}">
                <a16:creationId xmlns:a16="http://schemas.microsoft.com/office/drawing/2014/main" id="{E7ED9489-B624-4B99-98B1-09A39C2882CB}"/>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613B30D-6B38-4367-BE51-756461193FB6}"/>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5D6DE59-3512-4A71-B650-37890B324C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0884" y="1051333"/>
            <a:ext cx="9592732" cy="4199626"/>
          </a:xfrm>
          <a:prstGeom prst="rect">
            <a:avLst/>
          </a:prstGeom>
        </p:spPr>
      </p:pic>
      <p:pic>
        <p:nvPicPr>
          <p:cNvPr id="5" name="Picture 4">
            <a:extLst>
              <a:ext uri="{FF2B5EF4-FFF2-40B4-BE49-F238E27FC236}">
                <a16:creationId xmlns:a16="http://schemas.microsoft.com/office/drawing/2014/main" id="{3B30A6FD-9E3F-4B4C-9148-0CE8FE16450C}"/>
              </a:ext>
            </a:extLst>
          </p:cNvPr>
          <p:cNvPicPr>
            <a:picLocks noChangeAspect="1"/>
          </p:cNvPicPr>
          <p:nvPr/>
        </p:nvPicPr>
        <p:blipFill>
          <a:blip r:embed="rId5"/>
          <a:stretch>
            <a:fillRect/>
          </a:stretch>
        </p:blipFill>
        <p:spPr>
          <a:xfrm>
            <a:off x="1140884" y="1028577"/>
            <a:ext cx="9592732" cy="4356847"/>
          </a:xfrm>
          <a:prstGeom prst="rect">
            <a:avLst/>
          </a:prstGeom>
        </p:spPr>
      </p:pic>
      <p:pic>
        <p:nvPicPr>
          <p:cNvPr id="10" name="Picture 9">
            <a:extLst>
              <a:ext uri="{FF2B5EF4-FFF2-40B4-BE49-F238E27FC236}">
                <a16:creationId xmlns:a16="http://schemas.microsoft.com/office/drawing/2014/main" id="{5A4B2EDB-8632-4C03-B0A6-F568552958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0884" y="1023699"/>
            <a:ext cx="9592732" cy="4452570"/>
          </a:xfrm>
          <a:prstGeom prst="rect">
            <a:avLst/>
          </a:prstGeom>
        </p:spPr>
      </p:pic>
      <p:sp>
        <p:nvSpPr>
          <p:cNvPr id="14" name="Rectangle 13">
            <a:extLst>
              <a:ext uri="{FF2B5EF4-FFF2-40B4-BE49-F238E27FC236}">
                <a16:creationId xmlns:a16="http://schemas.microsoft.com/office/drawing/2014/main" id="{1A90AF8C-D2B2-4CE8-A732-6DF97D5B4A16}"/>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406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489BF876-F7D7-47EC-A1AC-B8CFB85BFD57}"/>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7381817-3D31-46F5-88C8-51A99276D327}"/>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C29C8A8-6A8B-48A8-BB60-AEB8D595F7FD}"/>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4E5C5CD0-AA5F-4FBC-8437-3ED05BA634C3}"/>
              </a:ext>
            </a:extLst>
          </p:cNvPr>
          <p:cNvSpPr/>
          <p:nvPr/>
        </p:nvSpPr>
        <p:spPr>
          <a:xfrm>
            <a:off x="-8960"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Detecting Cyber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1B39C8F-C264-4084-9EBA-9D47C2BF5F8E}"/>
              </a:ext>
            </a:extLst>
          </p:cNvPr>
          <p:cNvSpPr/>
          <p:nvPr/>
        </p:nvSpPr>
        <p:spPr>
          <a:xfrm>
            <a:off x="0" y="6654812"/>
            <a:ext cx="762001" cy="1739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A-10</a:t>
            </a:r>
            <a:endParaRPr lang="en-IN" sz="16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12A1F4D-2A88-41D8-834C-53F9B626707F}"/>
              </a:ext>
            </a:extLst>
          </p:cNvPr>
          <p:cNvSpPr/>
          <p:nvPr/>
        </p:nvSpPr>
        <p:spPr>
          <a:xfrm>
            <a:off x="-17918" y="0"/>
            <a:ext cx="12192000" cy="228600"/>
          </a:xfrm>
          <a:prstGeom prst="rect">
            <a:avLst/>
          </a:prstGeom>
          <a:solidFill>
            <a:srgbClr val="006666"/>
          </a:solidFill>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C</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yber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Attacks In WSNs using Ensemble Techniques</a:t>
            </a:r>
            <a:endParaRPr lang="en-IN"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1242</TotalTime>
  <Words>982</Words>
  <Application>Microsoft Office PowerPoint</Application>
  <PresentationFormat>Widescreen</PresentationFormat>
  <Paragraphs>101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 New</vt:lpstr>
      <vt:lpstr>Times New Roman</vt:lpstr>
      <vt:lpstr>Wingdings</vt:lpstr>
      <vt:lpstr>Custom Design</vt:lpstr>
      <vt:lpstr>PowerPoint Presentation</vt:lpstr>
      <vt:lpstr>Abstract</vt:lpstr>
      <vt:lpstr>Contents</vt:lpstr>
      <vt:lpstr>Introduction</vt:lpstr>
      <vt:lpstr>Literature Survey</vt:lpstr>
      <vt:lpstr>Proposed System</vt:lpstr>
      <vt:lpstr>Reference</vt:lpstr>
      <vt:lpstr>Git Hub Dashboards of each student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lakshmi moksha</cp:lastModifiedBy>
  <cp:revision>159</cp:revision>
  <dcterms:created xsi:type="dcterms:W3CDTF">2019-06-11T05:35:51Z</dcterms:created>
  <dcterms:modified xsi:type="dcterms:W3CDTF">2026-04-07T18:19:18Z</dcterms:modified>
</cp:coreProperties>
</file>