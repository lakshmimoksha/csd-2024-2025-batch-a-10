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17"/>
  </p:handoutMasterIdLst>
  <p:sldIdLst>
    <p:sldId id="256" r:id="rId2"/>
    <p:sldId id="289" r:id="rId3"/>
    <p:sldId id="273" r:id="rId4"/>
    <p:sldId id="287" r:id="rId5"/>
    <p:sldId id="281" r:id="rId6"/>
    <p:sldId id="296" r:id="rId7"/>
    <p:sldId id="297" r:id="rId8"/>
    <p:sldId id="282" r:id="rId9"/>
    <p:sldId id="292" r:id="rId10"/>
    <p:sldId id="288" r:id="rId11"/>
    <p:sldId id="290" r:id="rId12"/>
    <p:sldId id="291" r:id="rId13"/>
    <p:sldId id="277" r:id="rId14"/>
    <p:sldId id="2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9900"/>
    <a:srgbClr val="F4AF83"/>
    <a:srgbClr val="006666"/>
    <a:srgbClr val="0099FF"/>
    <a:srgbClr val="008080"/>
    <a:srgbClr val="0F9F7D"/>
    <a:srgbClr val="008000"/>
    <a:srgbClr val="373545"/>
    <a:srgbClr val="AF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notesViewPr>
    <p:cSldViewPr snapToGrid="0">
      <p:cViewPr varScale="1">
        <p:scale>
          <a:sx n="52" d="100"/>
          <a:sy n="52" d="100"/>
        </p:scale>
        <p:origin x="2680"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E5FBE0-5C21-4E83-8069-52D09BCDD71E}" type="datetimeFigureOut">
              <a:rPr lang="en-IN" smtClean="0"/>
              <a:t>19-12-2025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6C5872-5BF2-424D-ADD9-174D7927D36A}"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846DD5-0A30-46AD-B2E1-F25508726044}" type="datetimeFigureOut">
              <a:rPr lang="en-IN" smtClean="0"/>
              <a:t>19-12-2025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FBC11-2ED2-450E-A0CC-CEA7380C613F}" type="slidenum">
              <a:rPr lang="en-IN" smtClean="0"/>
              <a:t>‹#›</a:t>
            </a:fld>
            <a:endParaRPr lang="en-IN"/>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Date Placeholder 3"/>
          <p:cNvSpPr txBox="1"/>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p:cNvSpPr txBox="1"/>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 y="-17756"/>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defRPr b="0" cap="none" spc="0">
                <a:ln w="0"/>
                <a:solidFill>
                  <a:schemeClr val="bg1"/>
                </a:solidFill>
                <a:effectLst>
                  <a:outerShdw blurRad="38100" dist="25400" dir="5400000" algn="ctr" rotWithShape="0">
                    <a:srgbClr val="6E747A">
                      <a:alpha val="43000"/>
                    </a:srgbClr>
                  </a:outerShdw>
                </a:effectLst>
              </a:defRPr>
            </a:lvl1pPr>
          </a:lstStyle>
          <a:p>
            <a:r>
              <a:rPr lang="en-US" dirty="0"/>
              <a:t>Click to edit Master title style</a:t>
            </a:r>
            <a:endParaRPr lang="en-IN" dirty="0"/>
          </a:p>
        </p:txBody>
      </p:sp>
      <p:sp>
        <p:nvSpPr>
          <p:cNvPr id="3" name="Content Placeholder 2"/>
          <p:cNvSpPr>
            <a:spLocks noGrp="1"/>
          </p:cNvSpPr>
          <p:nvPr>
            <p:ph idx="1"/>
          </p:nvPr>
        </p:nvSpPr>
        <p:spPr>
          <a:xfrm>
            <a:off x="199505" y="1097279"/>
            <a:ext cx="11779135" cy="5394960"/>
          </a:xfrm>
        </p:spPr>
        <p:txBody>
          <a:bodyPr/>
          <a:lstStyle>
            <a:lvl1pPr marL="228600" indent="-228600">
              <a:buFont typeface="Wingdings" panose="05000000000000000000" pitchFamily="2" charset="2"/>
              <a:buChar char="Ø"/>
              <a:defRPr/>
            </a:lvl1pPr>
            <a:lvl2pPr marL="685800" indent="-228600">
              <a:buFont typeface="Wingdings" panose="05000000000000000000" pitchFamily="2" charset="2"/>
              <a:buChar char="q"/>
              <a:defRPr/>
            </a:lvl2pPr>
            <a:lvl3pPr marL="1143000" indent="-228600">
              <a:buFont typeface="Courier New" panose="02070309020205020404" pitchFamily="49" charset="0"/>
              <a:buChar char="o"/>
              <a:defRPr/>
            </a:lvl3pPr>
            <a:lvl4pPr marL="1600200" indent="-228600">
              <a:buFont typeface="Wingdings" panose="05000000000000000000" pitchFamily="2" charset="2"/>
              <a:buChar char="§"/>
              <a:defRPr/>
            </a:lvl4pPr>
            <a:lvl5pPr marL="2057400" indent="-228600">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3"/>
          <p:cNvSpPr txBox="1"/>
          <p:nvPr userDrawn="1"/>
        </p:nvSpPr>
        <p:spPr>
          <a:xfrm>
            <a:off x="777239" y="6642828"/>
            <a:ext cx="5654039" cy="215172"/>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Dept. of Computer Science and Engineering (Data Science)</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6431278" y="6641866"/>
            <a:ext cx="5322917" cy="216133"/>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Srinivasa Ramanujan Institute of Technology</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1754196" y="6641865"/>
            <a:ext cx="437803" cy="216133"/>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DAC095C-C545-42F9-B93D-2B3224753C51}" type="slidenum">
              <a:rPr lang="en-US" sz="16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fld>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1" y="0"/>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b="1" i="1" dirty="0">
                <a:solidFill>
                  <a:schemeClr val="bg1"/>
                </a:solidFill>
                <a:effectLst/>
                <a:latin typeface="Times New Roman" panose="02020603050405020304" pitchFamily="18" charset="0"/>
                <a:cs typeface="Times New Roman" panose="02020603050405020304" pitchFamily="18" charset="0"/>
              </a:rPr>
              <a:t>Analyzing Cyber Attacks In WSNs Using Ensemble Techniques</a:t>
            </a: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06200" y="5956065"/>
            <a:ext cx="685800" cy="685800"/>
          </a:xfrm>
          <a:prstGeom prst="rect">
            <a:avLst/>
          </a:prstGeom>
        </p:spPr>
      </p:pic>
      <p:sp>
        <p:nvSpPr>
          <p:cNvPr id="10" name="Date Placeholder 3"/>
          <p:cNvSpPr txBox="1"/>
          <p:nvPr userDrawn="1"/>
        </p:nvSpPr>
        <p:spPr>
          <a:xfrm>
            <a:off x="0" y="6642828"/>
            <a:ext cx="777239" cy="21517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 A- 10</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just" defTabSz="914400" rtl="0" eaLnBrk="1" latinLnBrk="0" hangingPunct="1">
        <a:lnSpc>
          <a:spcPct val="90000"/>
        </a:lnSpc>
        <a:spcBef>
          <a:spcPts val="1000"/>
        </a:spcBef>
        <a:buFont typeface="Wingdings" panose="05000000000000000000" pitchFamily="2" charset="2"/>
        <a:buChar char="q"/>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1">
            <a:extLst>
              <a:ext uri="{FF2B5EF4-FFF2-40B4-BE49-F238E27FC236}">
                <a16:creationId xmlns:a16="http://schemas.microsoft.com/office/drawing/2014/main" id="{CB5ACD3F-98FF-9774-A685-880C56CCC02C}"/>
              </a:ext>
            </a:extLst>
          </p:cNvPr>
          <p:cNvSpPr txBox="1">
            <a:spLocks/>
          </p:cNvSpPr>
          <p:nvPr/>
        </p:nvSpPr>
        <p:spPr>
          <a:xfrm>
            <a:off x="6320572" y="1752604"/>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Karthik P</a:t>
            </a:r>
          </a:p>
          <a:p>
            <a:pPr>
              <a:spcBef>
                <a:spcPts val="300"/>
              </a:spcBef>
            </a:pPr>
            <a:r>
              <a:rPr lang="en-US" sz="1200" b="0" dirty="0"/>
              <a:t>Roll No. 224G1A3239</a:t>
            </a:r>
          </a:p>
        </p:txBody>
      </p:sp>
      <p:sp>
        <p:nvSpPr>
          <p:cNvPr id="3" name="Subtitle 11">
            <a:extLst>
              <a:ext uri="{FF2B5EF4-FFF2-40B4-BE49-F238E27FC236}">
                <a16:creationId xmlns:a16="http://schemas.microsoft.com/office/drawing/2014/main" id="{90EAEEC8-91BC-FD98-D734-A70812C4C8B3}"/>
              </a:ext>
            </a:extLst>
          </p:cNvPr>
          <p:cNvSpPr txBox="1">
            <a:spLocks/>
          </p:cNvSpPr>
          <p:nvPr/>
        </p:nvSpPr>
        <p:spPr>
          <a:xfrm>
            <a:off x="3759654" y="2569201"/>
            <a:ext cx="467267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300"/>
              </a:spcBef>
            </a:pPr>
            <a:r>
              <a:rPr lang="en-US" sz="2000" b="0" dirty="0">
                <a:effectLst>
                  <a:outerShdw blurRad="38100" dist="38100" dir="2700000" algn="tl">
                    <a:srgbClr val="000000">
                      <a:alpha val="43137"/>
                    </a:srgbClr>
                  </a:outerShdw>
                </a:effectLst>
              </a:rPr>
              <a:t>Dr. P. </a:t>
            </a:r>
            <a:r>
              <a:rPr lang="en-US" sz="2000" b="0" dirty="0" err="1">
                <a:effectLst>
                  <a:outerShdw blurRad="38100" dist="38100" dir="2700000" algn="tl">
                    <a:srgbClr val="000000">
                      <a:alpha val="43137"/>
                    </a:srgbClr>
                  </a:outerShdw>
                </a:effectLst>
              </a:rPr>
              <a:t>Chitralingappa</a:t>
            </a:r>
            <a:r>
              <a:rPr lang="en-US" sz="2000" b="0" dirty="0">
                <a:effectLst>
                  <a:outerShdw blurRad="38100" dist="38100" dir="2700000" algn="tl">
                    <a:srgbClr val="000000">
                      <a:alpha val="43137"/>
                    </a:srgbClr>
                  </a:outerShdw>
                </a:effectLst>
              </a:rPr>
              <a:t> </a:t>
            </a:r>
            <a:r>
              <a:rPr lang="en-US" sz="2400" b="0" baseline="-25000" dirty="0">
                <a:effectLst>
                  <a:outerShdw blurRad="38100" dist="38100" dir="2700000" algn="tl">
                    <a:srgbClr val="000000">
                      <a:alpha val="43137"/>
                    </a:srgbClr>
                  </a:outerShdw>
                </a:effectLst>
              </a:rPr>
              <a:t>M. </a:t>
            </a:r>
            <a:r>
              <a:rPr lang="en-US" sz="2400" b="0" baseline="-25000">
                <a:effectLst>
                  <a:outerShdw blurRad="38100" dist="38100" dir="2700000" algn="tl">
                    <a:srgbClr val="000000">
                      <a:alpha val="43137"/>
                    </a:srgbClr>
                  </a:outerShdw>
                </a:effectLst>
              </a:rPr>
              <a:t>Tech., Ph.D.</a:t>
            </a:r>
            <a:endParaRPr lang="en-IN" sz="2400" b="0" baseline="-25000" dirty="0">
              <a:effectLst>
                <a:outerShdw blurRad="38100" dist="38100" dir="2700000" algn="tl">
                  <a:srgbClr val="000000">
                    <a:alpha val="43137"/>
                  </a:srgbClr>
                </a:outerShdw>
              </a:effectLst>
            </a:endParaRPr>
          </a:p>
          <a:p>
            <a:pPr>
              <a:spcBef>
                <a:spcPts val="200"/>
              </a:spcBef>
            </a:pPr>
            <a:r>
              <a:rPr lang="en-IN" sz="1400" b="0" dirty="0"/>
              <a:t>Associate Professor &amp; HOD</a:t>
            </a:r>
          </a:p>
        </p:txBody>
      </p:sp>
      <p:sp>
        <p:nvSpPr>
          <p:cNvPr id="8" name="Subtitle 11">
            <a:extLst>
              <a:ext uri="{FF2B5EF4-FFF2-40B4-BE49-F238E27FC236}">
                <a16:creationId xmlns:a16="http://schemas.microsoft.com/office/drawing/2014/main" id="{380CE817-AF00-F68E-6F5A-DC8DEC45CA92}"/>
              </a:ext>
            </a:extLst>
          </p:cNvPr>
          <p:cNvSpPr txBox="1">
            <a:spLocks/>
          </p:cNvSpPr>
          <p:nvPr/>
        </p:nvSpPr>
        <p:spPr>
          <a:xfrm>
            <a:off x="1514475" y="5162533"/>
            <a:ext cx="9163049" cy="1427181"/>
          </a:xfrm>
          <a:prstGeom prst="rect">
            <a:avLst/>
          </a:prstGeom>
        </p:spPr>
        <p:txBody>
          <a:bodyPr vert="horz" lIns="91440" tIns="45720" rIns="91440" bIns="45720" rtlCol="0">
            <a:normAutofit fontScale="5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(Data Science)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2100" dirty="0">
                <a:effectLst/>
                <a:ea typeface="Times New Roman" panose="02020603050405020304" pitchFamily="18" charset="0"/>
              </a:rPr>
              <a:t>(Affiliated to JNTUA &amp; Approved by AICTE) (Accredited by NAAC with ‘A’ Grade &amp; Accredited by NBA (EEE, ECE &amp; CSE)</a:t>
            </a:r>
            <a:endParaRPr lang="en-US" sz="2100" b="0" dirty="0"/>
          </a:p>
          <a:p>
            <a:pPr>
              <a:spcBef>
                <a:spcPts val="300"/>
              </a:spcBef>
            </a:pPr>
            <a:r>
              <a:rPr lang="en-US" sz="2300" dirty="0" err="1"/>
              <a:t>Rotarypuram</a:t>
            </a:r>
            <a:r>
              <a:rPr lang="en-US" sz="2300" dirty="0"/>
              <a:t> Village, B K </a:t>
            </a:r>
            <a:r>
              <a:rPr lang="en-US" sz="2300" dirty="0" err="1"/>
              <a:t>Samudram</a:t>
            </a:r>
            <a:r>
              <a:rPr lang="en-US" sz="2300" dirty="0"/>
              <a:t> Mandal, </a:t>
            </a:r>
            <a:r>
              <a:rPr lang="en-US" sz="2300" dirty="0" err="1"/>
              <a:t>Ananthapuramu</a:t>
            </a:r>
            <a:r>
              <a:rPr lang="en-US" sz="2300" dirty="0"/>
              <a:t> – 515701.</a:t>
            </a:r>
          </a:p>
          <a:p>
            <a:pPr>
              <a:spcAft>
                <a:spcPts val="100"/>
              </a:spcAft>
            </a:pPr>
            <a:r>
              <a:rPr lang="en-US" sz="2500" dirty="0">
                <a:solidFill>
                  <a:schemeClr val="accent1">
                    <a:lumMod val="50000"/>
                  </a:schemeClr>
                </a:solidFill>
              </a:rPr>
              <a:t>2025 - 2026</a:t>
            </a:r>
            <a:endParaRPr lang="en-US" sz="2500" b="0" dirty="0"/>
          </a:p>
          <a:p>
            <a:endParaRPr lang="en-IN" b="0" dirty="0"/>
          </a:p>
        </p:txBody>
      </p:sp>
      <p:sp>
        <p:nvSpPr>
          <p:cNvPr id="9" name="Subtitle 11">
            <a:extLst>
              <a:ext uri="{FF2B5EF4-FFF2-40B4-BE49-F238E27FC236}">
                <a16:creationId xmlns:a16="http://schemas.microsoft.com/office/drawing/2014/main" id="{AC3D1776-6849-C7D5-17D7-651C13F1B8B2}"/>
              </a:ext>
            </a:extLst>
          </p:cNvPr>
          <p:cNvSpPr txBox="1">
            <a:spLocks/>
          </p:cNvSpPr>
          <p:nvPr/>
        </p:nvSpPr>
        <p:spPr>
          <a:xfrm>
            <a:off x="3377464" y="1788947"/>
            <a:ext cx="3214275" cy="584534"/>
          </a:xfrm>
          <a:prstGeom prst="rect">
            <a:avLst/>
          </a:prstGeom>
        </p:spPr>
        <p:txBody>
          <a:bodyPr vert="horz" lIns="91440" tIns="45720" rIns="91440" bIns="45720" rtlCol="0">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9600" b="0" dirty="0">
                <a:effectLst>
                  <a:outerShdw blurRad="38100" dist="38100" dir="2700000" algn="tl">
                    <a:srgbClr val="000000">
                      <a:alpha val="43137"/>
                    </a:srgbClr>
                  </a:outerShdw>
                </a:effectLst>
              </a:rPr>
              <a:t>Dinesh Reddy C</a:t>
            </a:r>
          </a:p>
          <a:p>
            <a:pPr>
              <a:spcBef>
                <a:spcPts val="300"/>
              </a:spcBef>
            </a:pPr>
            <a:r>
              <a:rPr lang="en-US" sz="4400" b="0" dirty="0"/>
              <a:t>Roll No. 224G1A3218</a:t>
            </a:r>
          </a:p>
        </p:txBody>
      </p:sp>
      <p:sp>
        <p:nvSpPr>
          <p:cNvPr id="10" name="Subtitle 11">
            <a:extLst>
              <a:ext uri="{FF2B5EF4-FFF2-40B4-BE49-F238E27FC236}">
                <a16:creationId xmlns:a16="http://schemas.microsoft.com/office/drawing/2014/main" id="{98A2AEDC-6ABD-AE72-3B69-7B3C633A2C75}"/>
              </a:ext>
            </a:extLst>
          </p:cNvPr>
          <p:cNvSpPr txBox="1">
            <a:spLocks/>
          </p:cNvSpPr>
          <p:nvPr/>
        </p:nvSpPr>
        <p:spPr>
          <a:xfrm>
            <a:off x="8432328" y="1752604"/>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Akash R</a:t>
            </a:r>
          </a:p>
          <a:p>
            <a:pPr>
              <a:spcBef>
                <a:spcPts val="300"/>
              </a:spcBef>
            </a:pPr>
            <a:r>
              <a:rPr lang="en-US" sz="1200" b="0" dirty="0"/>
              <a:t>Roll No. 224G1A3206</a:t>
            </a:r>
          </a:p>
        </p:txBody>
      </p:sp>
      <p:sp>
        <p:nvSpPr>
          <p:cNvPr id="11" name="Subtitle 11">
            <a:extLst>
              <a:ext uri="{FF2B5EF4-FFF2-40B4-BE49-F238E27FC236}">
                <a16:creationId xmlns:a16="http://schemas.microsoft.com/office/drawing/2014/main" id="{D5CAF6E7-12FF-45AE-DA53-18D755E487C0}"/>
              </a:ext>
            </a:extLst>
          </p:cNvPr>
          <p:cNvSpPr txBox="1">
            <a:spLocks/>
          </p:cNvSpPr>
          <p:nvPr/>
        </p:nvSpPr>
        <p:spPr>
          <a:xfrm>
            <a:off x="919785" y="1807527"/>
            <a:ext cx="2676135" cy="584534"/>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3800" b="0" dirty="0">
                <a:effectLst>
                  <a:outerShdw blurRad="38100" dist="38100" dir="2700000" algn="tl">
                    <a:srgbClr val="000000">
                      <a:alpha val="43137"/>
                    </a:srgbClr>
                  </a:outerShdw>
                </a:effectLst>
              </a:rPr>
              <a:t>Lakshmi Moksha B</a:t>
            </a:r>
          </a:p>
          <a:p>
            <a:pPr>
              <a:spcBef>
                <a:spcPts val="300"/>
              </a:spcBef>
            </a:pPr>
            <a:r>
              <a:rPr lang="en-US" sz="1800" b="0" dirty="0"/>
              <a:t>Roll No. 224G1A3246</a:t>
            </a:r>
          </a:p>
        </p:txBody>
      </p:sp>
      <p:sp>
        <p:nvSpPr>
          <p:cNvPr id="15" name="Rectangle: Rounded Corners 14">
            <a:extLst>
              <a:ext uri="{FF2B5EF4-FFF2-40B4-BE49-F238E27FC236}">
                <a16:creationId xmlns:a16="http://schemas.microsoft.com/office/drawing/2014/main" id="{537BB18A-8638-8901-DA80-0B72965E9E9F}"/>
              </a:ext>
            </a:extLst>
          </p:cNvPr>
          <p:cNvSpPr/>
          <p:nvPr/>
        </p:nvSpPr>
        <p:spPr>
          <a:xfrm>
            <a:off x="755008" y="335270"/>
            <a:ext cx="10656331" cy="926426"/>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IN" sz="3200" b="1" dirty="0" err="1">
                <a:latin typeface="Times New Roman" panose="02020603050405020304" pitchFamily="18" charset="0"/>
                <a:cs typeface="Times New Roman" panose="02020603050405020304" pitchFamily="18" charset="0"/>
              </a:rPr>
              <a:t>Analyzing</a:t>
            </a:r>
            <a:r>
              <a:rPr lang="en-IN" sz="3200" b="1" dirty="0">
                <a:latin typeface="Times New Roman" panose="02020603050405020304" pitchFamily="18" charset="0"/>
                <a:cs typeface="Times New Roman" panose="02020603050405020304" pitchFamily="18" charset="0"/>
              </a:rPr>
              <a:t> Cyber Attacks In WSNs using Ensemble Techniques</a:t>
            </a:r>
            <a:endPar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B39DEE4E-8296-1802-785C-44E357AA9A5F}"/>
              </a:ext>
            </a:extLst>
          </p:cNvPr>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19" name="Picture 18">
            <a:extLst>
              <a:ext uri="{FF2B5EF4-FFF2-40B4-BE49-F238E27FC236}">
                <a16:creationId xmlns:a16="http://schemas.microsoft.com/office/drawing/2014/main" id="{3051423C-FC39-F56E-3279-3CED3A757F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2105" y="3477046"/>
            <a:ext cx="1843673" cy="16854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FAA6D-7637-5E88-CF28-4D2EF60270E3}"/>
              </a:ext>
            </a:extLst>
          </p:cNvPr>
          <p:cNvSpPr>
            <a:spLocks noGrp="1"/>
          </p:cNvSpPr>
          <p:nvPr>
            <p:ph type="title"/>
          </p:nvPr>
        </p:nvSpPr>
        <p:spPr/>
        <p:txBody>
          <a:bodyPr/>
          <a:lstStyle/>
          <a:p>
            <a:r>
              <a:rPr lang="en-US" dirty="0"/>
              <a:t>Review - 0 Comments</a:t>
            </a:r>
            <a:endParaRPr lang="en-IN" dirty="0"/>
          </a:p>
        </p:txBody>
      </p:sp>
      <p:sp>
        <p:nvSpPr>
          <p:cNvPr id="3" name="Content Placeholder 2">
            <a:extLst>
              <a:ext uri="{FF2B5EF4-FFF2-40B4-BE49-F238E27FC236}">
                <a16:creationId xmlns:a16="http://schemas.microsoft.com/office/drawing/2014/main" id="{6524DFE5-F7A5-9ADB-AFD3-08EBD7A4FB1F}"/>
              </a:ext>
            </a:extLst>
          </p:cNvPr>
          <p:cNvSpPr>
            <a:spLocks noGrp="1"/>
          </p:cNvSpPr>
          <p:nvPr>
            <p:ph idx="1"/>
          </p:nvPr>
        </p:nvSpPr>
        <p:spPr/>
        <p:txBody>
          <a:bodyPr>
            <a:normAutofit/>
          </a:bodyPr>
          <a:lstStyle/>
          <a:p>
            <a:pPr marL="0" indent="0">
              <a:buNone/>
            </a:pPr>
            <a:r>
              <a:rPr lang="en-US" sz="2400" dirty="0"/>
              <a:t>Based on the suggestions given in Review-0, the clarity of the problem statement, abstract, and system description has been improved. The content has been refined to clearly explain the objective, methodology, and outcome of the project. The literature survey has been strengthened by identifying the research gap, and a clear distinction between the existing system and proposed system has been presented. The overall flow of the presentation has been improved to ensure better understanding of the project approach.</a:t>
            </a:r>
            <a:endParaRPr lang="en-IN" sz="2600" dirty="0"/>
          </a:p>
        </p:txBody>
      </p:sp>
    </p:spTree>
    <p:extLst>
      <p:ext uri="{BB962C8B-B14F-4D97-AF65-F5344CB8AC3E}">
        <p14:creationId xmlns:p14="http://schemas.microsoft.com/office/powerpoint/2010/main" val="1485356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endParaRPr lang="en-IN" dirty="0"/>
          </a:p>
        </p:txBody>
      </p:sp>
      <p:sp>
        <p:nvSpPr>
          <p:cNvPr id="3" name="Content Placeholder 2"/>
          <p:cNvSpPr>
            <a:spLocks noGrp="1"/>
          </p:cNvSpPr>
          <p:nvPr>
            <p:ph idx="1"/>
          </p:nvPr>
        </p:nvSpPr>
        <p:spPr/>
        <p:txBody>
          <a:bodyPr/>
          <a:lstStyle/>
          <a:p>
            <a:pPr marL="462280" indent="-462280">
              <a:buBlip>
                <a:blip r:embed="rId2">
                  <a:extLst>
                    <a:ext uri="{96DAC541-7B7A-43D3-8B79-37D633B846F1}">
                      <asvg:svgBlip xmlns:asvg="http://schemas.microsoft.com/office/drawing/2016/SVG/main" r:embed="rId3"/>
                    </a:ext>
                  </a:extLst>
                </a:blip>
              </a:buBlip>
            </a:pPr>
            <a:r>
              <a:rPr lang="en-US" dirty="0"/>
              <a:t>Abstract</a:t>
            </a:r>
          </a:p>
          <a:p>
            <a:pPr marL="462280" indent="-462280">
              <a:buBlip>
                <a:blip r:embed="rId2">
                  <a:extLst>
                    <a:ext uri="{96DAC541-7B7A-43D3-8B79-37D633B846F1}">
                      <asvg:svgBlip xmlns:asvg="http://schemas.microsoft.com/office/drawing/2016/SVG/main" r:embed="rId3"/>
                    </a:ext>
                  </a:extLst>
                </a:blip>
              </a:buBlip>
            </a:pPr>
            <a:r>
              <a:rPr lang="en-US" dirty="0"/>
              <a:t>Introduction</a:t>
            </a:r>
          </a:p>
          <a:p>
            <a:pPr marL="462280" indent="-462280">
              <a:buBlip>
                <a:blip r:embed="rId2">
                  <a:extLst>
                    <a:ext uri="{96DAC541-7B7A-43D3-8B79-37D633B846F1}">
                      <asvg:svgBlip xmlns:asvg="http://schemas.microsoft.com/office/drawing/2016/SVG/main" r:embed="rId3"/>
                    </a:ext>
                  </a:extLst>
                </a:blip>
              </a:buBlip>
            </a:pPr>
            <a:r>
              <a:rPr lang="en-US" altLang="en-IN" dirty="0"/>
              <a:t>Literature Survey</a:t>
            </a:r>
          </a:p>
          <a:p>
            <a:pPr marL="462280" indent="-462280">
              <a:buBlip>
                <a:blip r:embed="rId2">
                  <a:extLst>
                    <a:ext uri="{96DAC541-7B7A-43D3-8B79-37D633B846F1}">
                      <asvg:svgBlip xmlns:asvg="http://schemas.microsoft.com/office/drawing/2016/SVG/main" r:embed="rId3"/>
                    </a:ext>
                  </a:extLst>
                </a:blip>
              </a:buBlip>
            </a:pPr>
            <a:r>
              <a:rPr lang="en-US" dirty="0"/>
              <a:t>Existing System</a:t>
            </a:r>
          </a:p>
          <a:p>
            <a:pPr marL="462280" indent="-462280">
              <a:buBlip>
                <a:blip r:embed="rId2">
                  <a:extLst>
                    <a:ext uri="{96DAC541-7B7A-43D3-8B79-37D633B846F1}">
                      <asvg:svgBlip xmlns:asvg="http://schemas.microsoft.com/office/drawing/2016/SVG/main" r:embed="rId3"/>
                    </a:ext>
                  </a:extLst>
                </a:blip>
              </a:buBlip>
            </a:pPr>
            <a:r>
              <a:rPr lang="en-US" dirty="0"/>
              <a:t>Proposed System</a:t>
            </a:r>
          </a:p>
          <a:p>
            <a:pPr marL="462280" indent="-462280">
              <a:buBlip>
                <a:blip r:embed="rId2">
                  <a:extLst>
                    <a:ext uri="{96DAC541-7B7A-43D3-8B79-37D633B846F1}">
                      <asvg:svgBlip xmlns:asvg="http://schemas.microsoft.com/office/drawing/2016/SVG/main" r:embed="rId3"/>
                    </a:ext>
                  </a:extLst>
                </a:blip>
              </a:buBlip>
            </a:pPr>
            <a:r>
              <a:rPr lang="en-US" dirty="0"/>
              <a:t>Planning and Design</a:t>
            </a:r>
            <a:endParaRPr lang="en-IN" dirty="0"/>
          </a:p>
          <a:p>
            <a:pPr marL="462280" indent="-462280">
              <a:buBlip>
                <a:blip r:embed="rId2">
                  <a:extLst>
                    <a:ext uri="{96DAC541-7B7A-43D3-8B79-37D633B846F1}">
                      <asvg:svgBlip xmlns:asvg="http://schemas.microsoft.com/office/drawing/2016/SVG/main" r:embed="rId3"/>
                    </a:ext>
                  </a:extLst>
                </a:blip>
              </a:buBlip>
            </a:pPr>
            <a:r>
              <a:rPr lang="en-IN" dirty="0"/>
              <a:t>References</a:t>
            </a:r>
            <a:endParaRPr lang="en-US" dirty="0"/>
          </a:p>
          <a:p>
            <a:pPr marL="0" indent="0">
              <a:buNone/>
            </a:pP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FA1A1-B61A-C2BE-13CC-DCBF15E7ED9F}"/>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D392ECDA-A153-65FD-13C9-AFD9436AB93F}"/>
              </a:ext>
            </a:extLst>
          </p:cNvPr>
          <p:cNvSpPr>
            <a:spLocks noGrp="1"/>
          </p:cNvSpPr>
          <p:nvPr>
            <p:ph idx="1"/>
          </p:nvPr>
        </p:nvSpPr>
        <p:spPr/>
        <p:txBody>
          <a:bodyPr/>
          <a:lstStyle/>
          <a:p>
            <a:r>
              <a:rPr lang="en-US" sz="2400" dirty="0"/>
              <a:t> Cyber security plays a vital role in protecting Wireless Sensor Networks (WSNs), which are widely used in industrial and smart environments. Due to wireless communication and limited security resources, WSNs are highly vulnerable to cyber-attacks. Many existing cyber security solutions focus only on detecting attacks and fail to accurately classify the attack type, while reliance on single machine learning models. To address this, this project proposes an ensemble-based cyber-attack detection and classification system using Stacking, </a:t>
            </a:r>
            <a:r>
              <a:rPr lang="en-US" sz="2400" dirty="0" err="1"/>
              <a:t>XGBoost</a:t>
            </a:r>
            <a:r>
              <a:rPr lang="en-US" sz="2400" dirty="0"/>
              <a:t>, AdaBoost, MLP, and Autoencoder models</a:t>
            </a:r>
            <a:r>
              <a:rPr lang="en-US" sz="2400"/>
              <a:t>. The system learns network behavior and detects abnormal activities to improve accuracy. Evaluation using the WSN-DS dataset shows effective detection and classification of cyber-attacks, enhancing the security and reliability of WSN-based systems</a:t>
            </a:r>
            <a:r>
              <a:rPr lang="en-US" sz="2600"/>
              <a:t>.</a:t>
            </a:r>
          </a:p>
          <a:p>
            <a:endParaRPr lang="en-IN" dirty="0"/>
          </a:p>
        </p:txBody>
      </p:sp>
    </p:spTree>
    <p:extLst>
      <p:ext uri="{BB962C8B-B14F-4D97-AF65-F5344CB8AC3E}">
        <p14:creationId xmlns:p14="http://schemas.microsoft.com/office/powerpoint/2010/main" val="1255885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Introduction</a:t>
            </a:r>
          </a:p>
        </p:txBody>
      </p:sp>
      <p:sp>
        <p:nvSpPr>
          <p:cNvPr id="3" name="Content Placeholder 2"/>
          <p:cNvSpPr>
            <a:spLocks noGrp="1"/>
          </p:cNvSpPr>
          <p:nvPr>
            <p:ph idx="1"/>
          </p:nvPr>
        </p:nvSpPr>
        <p:spPr/>
        <p:txBody>
          <a:bodyPr>
            <a:normAutofit/>
          </a:bodyPr>
          <a:lstStyle/>
          <a:p>
            <a:r>
              <a:rPr lang="en-US" sz="2400" dirty="0"/>
              <a:t>Cyber security focuses on protecting networks, systems, and data from cyber-attacks.</a:t>
            </a:r>
          </a:p>
          <a:p>
            <a:r>
              <a:rPr lang="en-US" sz="2400" dirty="0"/>
              <a:t>Wireless Sensor Networks (WSNs) consist of small sensor nodes that collect and transmit data wirelessly.</a:t>
            </a:r>
          </a:p>
          <a:p>
            <a:r>
              <a:rPr lang="en-US" sz="2400" dirty="0"/>
              <a:t>Due to their wireless communication nature and limited computational resources, WSNs are highly vulnerable to different cyber-attacks.</a:t>
            </a:r>
          </a:p>
          <a:p>
            <a:r>
              <a:rPr lang="en-US" sz="2400" dirty="0"/>
              <a:t>Cyber-attacks on WSNs can lead to serious issues such as data loss, false data injection, network disruption, and system failure.</a:t>
            </a:r>
          </a:p>
          <a:p>
            <a:r>
              <a:rPr lang="en-US" sz="2400" dirty="0"/>
              <a:t>Many existing cyber security solutions focus only on detecting attacks and do not accurately classify the exact type of attack.</a:t>
            </a:r>
          </a:p>
          <a:p>
            <a:r>
              <a:rPr lang="en-US" sz="2400" dirty="0"/>
              <a:t>This project aims to improve cyber-attack detection and classification in WSNs by using ensemble and deep learning techniques.    </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92DDE-6EE4-C9A4-2EC8-3F5C4479198D}"/>
              </a:ext>
            </a:extLst>
          </p:cNvPr>
          <p:cNvSpPr>
            <a:spLocks noGrp="1"/>
          </p:cNvSpPr>
          <p:nvPr>
            <p:ph type="title"/>
          </p:nvPr>
        </p:nvSpPr>
        <p:spPr/>
        <p:txBody>
          <a:bodyPr/>
          <a:lstStyle/>
          <a:p>
            <a:pPr marL="0" indent="0"/>
            <a:r>
              <a:rPr lang="en-IN" dirty="0"/>
              <a:t>Literature survey</a:t>
            </a:r>
          </a:p>
        </p:txBody>
      </p:sp>
      <p:sp>
        <p:nvSpPr>
          <p:cNvPr id="3" name="Content Placeholder 2">
            <a:extLst>
              <a:ext uri="{FF2B5EF4-FFF2-40B4-BE49-F238E27FC236}">
                <a16:creationId xmlns:a16="http://schemas.microsoft.com/office/drawing/2014/main" id="{17A11C3B-48D2-7C9A-EE51-360C59387D4E}"/>
              </a:ext>
            </a:extLst>
          </p:cNvPr>
          <p:cNvSpPr>
            <a:spLocks noGrp="1"/>
          </p:cNvSpPr>
          <p:nvPr>
            <p:ph idx="1"/>
          </p:nvPr>
        </p:nvSpPr>
        <p:spPr/>
        <p:txBody>
          <a:bodyPr>
            <a:noAutofit/>
          </a:bodyPr>
          <a:lstStyle/>
          <a:p>
            <a:r>
              <a:rPr lang="en-IN" sz="2400" b="1" dirty="0"/>
              <a:t> Methodology</a:t>
            </a:r>
          </a:p>
          <a:p>
            <a:pPr>
              <a:buFont typeface="Arial" panose="020B0604020202020204" pitchFamily="34" charset="0"/>
              <a:buChar char="•"/>
            </a:pPr>
            <a:r>
              <a:rPr lang="en-US" sz="2400" dirty="0"/>
              <a:t>Deep learning models are used to analyze network data in Wireless Sensor Networks. </a:t>
            </a:r>
          </a:p>
          <a:p>
            <a:pPr>
              <a:buFont typeface="Arial" panose="020B0604020202020204" pitchFamily="34" charset="0"/>
              <a:buChar char="•"/>
            </a:pPr>
            <a:r>
              <a:rPr lang="en-US" sz="2400" dirty="0"/>
              <a:t>Datasets such as WSN-DS are used to represent realistic cyber-attack behavior. </a:t>
            </a:r>
          </a:p>
          <a:p>
            <a:pPr>
              <a:buFont typeface="Arial" panose="020B0604020202020204" pitchFamily="34" charset="0"/>
              <a:buChar char="•"/>
            </a:pPr>
            <a:r>
              <a:rPr lang="en-US" sz="2400" dirty="0"/>
              <a:t>The data is prepared and used to train learning models. </a:t>
            </a:r>
          </a:p>
          <a:p>
            <a:pPr>
              <a:buFont typeface="Arial" panose="020B0604020202020204" pitchFamily="34" charset="0"/>
              <a:buChar char="•"/>
            </a:pPr>
            <a:r>
              <a:rPr lang="en-US" sz="2400" dirty="0"/>
              <a:t>Trained models are applied to identify malicious network behavior. </a:t>
            </a:r>
          </a:p>
          <a:p>
            <a:pPr>
              <a:buFont typeface="Arial" panose="020B0604020202020204" pitchFamily="34" charset="0"/>
              <a:buChar char="•"/>
            </a:pPr>
            <a:r>
              <a:rPr lang="en-US" sz="2400" dirty="0"/>
              <a:t>The results are analyzed to evaluate how effectively cyber-attacks are identified.</a:t>
            </a:r>
            <a:endParaRPr lang="en-IN" sz="2400" dirty="0"/>
          </a:p>
          <a:p>
            <a:r>
              <a:rPr lang="en-IN" sz="2400" b="1" dirty="0"/>
              <a:t> Key Findings </a:t>
            </a:r>
          </a:p>
          <a:p>
            <a:pPr>
              <a:buFont typeface="Arial" panose="020B0604020202020204" pitchFamily="34" charset="0"/>
              <a:buChar char="•"/>
            </a:pPr>
            <a:r>
              <a:rPr lang="en-US" sz="2400" dirty="0"/>
              <a:t>Learning models are able to identify abnormal and malicious behavior in WSNs.</a:t>
            </a:r>
          </a:p>
          <a:p>
            <a:pPr>
              <a:buFont typeface="Arial" panose="020B0604020202020204" pitchFamily="34" charset="0"/>
              <a:buChar char="•"/>
            </a:pPr>
            <a:r>
              <a:rPr lang="en-US" sz="2400" dirty="0"/>
              <a:t>Deep learning techniques help in understanding complex patterns present in network data.</a:t>
            </a:r>
          </a:p>
          <a:p>
            <a:pPr>
              <a:buFont typeface="Arial" panose="020B0604020202020204" pitchFamily="34" charset="0"/>
              <a:buChar char="•"/>
            </a:pPr>
            <a:r>
              <a:rPr lang="en-US" sz="2400" dirty="0"/>
              <a:t>Different models show varying performance for different types of cyber-attacks.</a:t>
            </a:r>
          </a:p>
          <a:p>
            <a:pPr>
              <a:buFont typeface="Arial" panose="020B0604020202020204" pitchFamily="34" charset="0"/>
              <a:buChar char="•"/>
            </a:pPr>
            <a:r>
              <a:rPr lang="en-US" sz="2400" dirty="0"/>
              <a:t>Models vary in detecting common and rare attacks.</a:t>
            </a:r>
          </a:p>
          <a:p>
            <a:pPr>
              <a:buFont typeface="Arial" panose="020B0604020202020204" pitchFamily="34" charset="0"/>
              <a:buChar char="•"/>
            </a:pPr>
            <a:r>
              <a:rPr lang="en-US" sz="2400" dirty="0"/>
              <a:t>Overall results indicate improved cyber-attack identification in WSNs.</a:t>
            </a:r>
          </a:p>
          <a:p>
            <a:endParaRPr lang="en-IN" sz="2400" b="1" dirty="0"/>
          </a:p>
          <a:p>
            <a:pPr marL="0" indent="0">
              <a:buNone/>
            </a:pPr>
            <a:br>
              <a:rPr lang="en-IN" sz="2400" dirty="0"/>
            </a:br>
            <a:br>
              <a:rPr lang="en-IN" sz="2400" dirty="0"/>
            </a:br>
            <a:br>
              <a:rPr lang="en-IN" sz="2400" dirty="0"/>
            </a:br>
            <a:endParaRPr lang="en-IN" sz="2400" dirty="0"/>
          </a:p>
        </p:txBody>
      </p:sp>
    </p:spTree>
    <p:extLst>
      <p:ext uri="{BB962C8B-B14F-4D97-AF65-F5344CB8AC3E}">
        <p14:creationId xmlns:p14="http://schemas.microsoft.com/office/powerpoint/2010/main" val="3432368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9A788-0814-0E44-EC58-E99E3C2D662D}"/>
              </a:ext>
            </a:extLst>
          </p:cNvPr>
          <p:cNvSpPr>
            <a:spLocks noGrp="1"/>
          </p:cNvSpPr>
          <p:nvPr>
            <p:ph type="title"/>
          </p:nvPr>
        </p:nvSpPr>
        <p:spPr/>
        <p:txBody>
          <a:bodyPr/>
          <a:lstStyle/>
          <a:p>
            <a:r>
              <a:rPr lang="en-IN" dirty="0"/>
              <a:t>Literature survey</a:t>
            </a:r>
          </a:p>
        </p:txBody>
      </p:sp>
      <p:sp>
        <p:nvSpPr>
          <p:cNvPr id="3" name="Content Placeholder 2">
            <a:extLst>
              <a:ext uri="{FF2B5EF4-FFF2-40B4-BE49-F238E27FC236}">
                <a16:creationId xmlns:a16="http://schemas.microsoft.com/office/drawing/2014/main" id="{02505A0A-B7EC-F52C-09BE-7D23A5F61FE3}"/>
              </a:ext>
            </a:extLst>
          </p:cNvPr>
          <p:cNvSpPr>
            <a:spLocks noGrp="1"/>
          </p:cNvSpPr>
          <p:nvPr>
            <p:ph idx="1"/>
          </p:nvPr>
        </p:nvSpPr>
        <p:spPr/>
        <p:txBody>
          <a:bodyPr>
            <a:normAutofit fontScale="92500" lnSpcReduction="10000"/>
          </a:bodyPr>
          <a:lstStyle/>
          <a:p>
            <a:r>
              <a:rPr lang="en-US" b="1" dirty="0"/>
              <a:t> Research Gap</a:t>
            </a:r>
          </a:p>
          <a:p>
            <a:pPr>
              <a:buFont typeface="Arial" panose="020B0604020202020204" pitchFamily="34" charset="0"/>
              <a:buChar char="•"/>
            </a:pPr>
            <a:r>
              <a:rPr lang="en-US" dirty="0"/>
              <a:t>Existing approaches mainly rely on individual learning models for cyber-attack analysis.</a:t>
            </a:r>
          </a:p>
          <a:p>
            <a:pPr>
              <a:buFont typeface="Arial" panose="020B0604020202020204" pitchFamily="34" charset="0"/>
              <a:buChar char="•"/>
            </a:pPr>
            <a:r>
              <a:rPr lang="en-US" dirty="0"/>
              <a:t>Clear and consistent classification of all attack types remains a challenge.</a:t>
            </a:r>
          </a:p>
          <a:p>
            <a:pPr>
              <a:buFont typeface="Arial" panose="020B0604020202020204" pitchFamily="34" charset="0"/>
              <a:buChar char="•"/>
            </a:pPr>
            <a:r>
              <a:rPr lang="en-US" dirty="0"/>
              <a:t>Handling complex and diverse attack scenarios using a single model is limited.</a:t>
            </a:r>
          </a:p>
          <a:p>
            <a:pPr>
              <a:buFont typeface="Arial" panose="020B0604020202020204" pitchFamily="34" charset="0"/>
              <a:buChar char="•"/>
            </a:pPr>
            <a:r>
              <a:rPr lang="en-US" sz="2600" dirty="0"/>
              <a:t>Performance varies across models depending on attack type and network behavior.</a:t>
            </a:r>
          </a:p>
          <a:p>
            <a:pPr>
              <a:buFont typeface="Arial" panose="020B0604020202020204" pitchFamily="34" charset="0"/>
              <a:buChar char="•"/>
            </a:pPr>
            <a:r>
              <a:rPr lang="en-US" sz="2600" dirty="0"/>
              <a:t>There is a need for a combined approach to improve reliable cyber-attack detection and classification in WSNs.</a:t>
            </a:r>
          </a:p>
          <a:p>
            <a:endParaRPr lang="en-US" dirty="0"/>
          </a:p>
          <a:p>
            <a:endParaRPr lang="en-US" dirty="0"/>
          </a:p>
          <a:p>
            <a:pPr marL="0" indent="0">
              <a:buNone/>
            </a:pPr>
            <a:endParaRPr lang="en-US" b="1" dirty="0"/>
          </a:p>
          <a:p>
            <a:pPr marL="0" indent="0">
              <a:buNone/>
            </a:pPr>
            <a:br>
              <a:rPr lang="en-US" dirty="0"/>
            </a:br>
            <a:endParaRPr lang="en-IN" dirty="0"/>
          </a:p>
        </p:txBody>
      </p:sp>
    </p:spTree>
    <p:extLst>
      <p:ext uri="{BB962C8B-B14F-4D97-AF65-F5344CB8AC3E}">
        <p14:creationId xmlns:p14="http://schemas.microsoft.com/office/powerpoint/2010/main" val="4211511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51231"/>
            <a:ext cx="12192000" cy="714892"/>
          </a:xfrm>
        </p:spPr>
        <p:txBody>
          <a:bodyPr/>
          <a:lstStyle/>
          <a:p>
            <a:r>
              <a:rPr lang="en-US" b="1" dirty="0">
                <a:sym typeface="+mn-ea"/>
              </a:rPr>
              <a:t> </a:t>
            </a:r>
            <a:r>
              <a:rPr lang="en-US" dirty="0">
                <a:sym typeface="+mn-ea"/>
              </a:rPr>
              <a:t> Literature survey</a:t>
            </a:r>
            <a:endParaRPr lang="en-US" dirty="0"/>
          </a:p>
        </p:txBody>
      </p:sp>
      <p:sp>
        <p:nvSpPr>
          <p:cNvPr id="3" name="Content Placeholder 2"/>
          <p:cNvSpPr>
            <a:spLocks noGrp="1"/>
          </p:cNvSpPr>
          <p:nvPr>
            <p:ph idx="1"/>
          </p:nvPr>
        </p:nvSpPr>
        <p:spPr/>
        <p:txBody>
          <a:bodyPr>
            <a:normAutofit/>
          </a:bodyPr>
          <a:lstStyle/>
          <a:p>
            <a:r>
              <a:rPr lang="en-US" sz="2400" b="1" dirty="0"/>
              <a:t>Al-</a:t>
            </a:r>
            <a:r>
              <a:rPr lang="en-US" sz="2400" b="1" dirty="0" err="1"/>
              <a:t>Quayed</a:t>
            </a:r>
            <a:r>
              <a:rPr lang="en-US" sz="2400" b="1" dirty="0"/>
              <a:t> et al. [1]</a:t>
            </a:r>
            <a:r>
              <a:rPr lang="en-US" sz="2400" dirty="0"/>
              <a:t> have proposed a situation-based predictive framework to enhance cyber security in Industry 4.0 based Wireless Sensor Networks. The approach uses machine learning and deep learning models such as MLP, and Autoencoder to identify and manage cyber-attacks including blackhole, </a:t>
            </a:r>
            <a:r>
              <a:rPr lang="en-US" sz="2400" dirty="0" err="1"/>
              <a:t>grayhole</a:t>
            </a:r>
            <a:r>
              <a:rPr lang="en-US" sz="2400" dirty="0"/>
              <a:t>, flooding, and scheduling attacks. </a:t>
            </a:r>
          </a:p>
          <a:p>
            <a:r>
              <a:rPr lang="en-IN" sz="2400" b="1" dirty="0"/>
              <a:t>Al-</a:t>
            </a:r>
            <a:r>
              <a:rPr lang="en-IN" sz="2400" b="1" dirty="0" err="1"/>
              <a:t>Akhras</a:t>
            </a:r>
            <a:r>
              <a:rPr lang="en-IN" sz="2400" b="1" dirty="0"/>
              <a:t> et al. [2]</a:t>
            </a:r>
            <a:r>
              <a:rPr lang="en-IN" sz="2400" dirty="0"/>
              <a:t> have </a:t>
            </a:r>
            <a:r>
              <a:rPr lang="en-IN" sz="2400" dirty="0" err="1"/>
              <a:t>analyzed</a:t>
            </a:r>
            <a:r>
              <a:rPr lang="en-IN" sz="2400" dirty="0"/>
              <a:t> various machine learning techniques for securing Wireless Sensor Networks using the WSN-DS dataset. Their study compares multiple algorithms and shows that tree-based models perform better in identifying malicious network </a:t>
            </a:r>
            <a:r>
              <a:rPr lang="en-IN" sz="2400" dirty="0" err="1"/>
              <a:t>behavior</a:t>
            </a:r>
            <a:r>
              <a:rPr lang="en-IN" sz="2400" dirty="0"/>
              <a:t>. </a:t>
            </a:r>
          </a:p>
          <a:p>
            <a:r>
              <a:rPr lang="en-US" sz="2400" b="1" dirty="0"/>
              <a:t>Karthikeyan et al. [3]</a:t>
            </a:r>
            <a:r>
              <a:rPr lang="en-US" sz="2400" dirty="0"/>
              <a:t> have proposed a machine learning–based approach to improve cyber-attack detection in Wireless Sensor Networks. The work applies ensemble learning methods such as Random Forest and </a:t>
            </a:r>
            <a:r>
              <a:rPr lang="en-US" sz="2400" dirty="0" err="1"/>
              <a:t>XGBoost</a:t>
            </a:r>
            <a:r>
              <a:rPr lang="en-US" sz="2400" dirty="0"/>
              <a:t> to enhance detection performance against network attacks.</a:t>
            </a:r>
            <a:endParaRPr lang="en-US" dirty="0"/>
          </a:p>
        </p:txBody>
      </p:sp>
      <p:sp>
        <p:nvSpPr>
          <p:cNvPr id="5" name="Rectangle 4">
            <a:extLst>
              <a:ext uri="{FF2B5EF4-FFF2-40B4-BE49-F238E27FC236}">
                <a16:creationId xmlns:a16="http://schemas.microsoft.com/office/drawing/2014/main" id="{AE22969F-B3D8-4471-BA0B-3632B1D40499}"/>
              </a:ext>
            </a:extLst>
          </p:cNvPr>
          <p:cNvSpPr/>
          <p:nvPr/>
        </p:nvSpPr>
        <p:spPr>
          <a:xfrm>
            <a:off x="-2" y="6641867"/>
            <a:ext cx="762001" cy="17394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A-10</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15128-B240-28D0-A576-B7E9FC2ED6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FF6A88-A51F-CFE0-C21C-4FF630910FA6}"/>
              </a:ext>
            </a:extLst>
          </p:cNvPr>
          <p:cNvSpPr>
            <a:spLocks noGrp="1"/>
          </p:cNvSpPr>
          <p:nvPr>
            <p:ph type="title"/>
          </p:nvPr>
        </p:nvSpPr>
        <p:spPr>
          <a:xfrm>
            <a:off x="0" y="251231"/>
            <a:ext cx="12192000" cy="714892"/>
          </a:xfrm>
        </p:spPr>
        <p:txBody>
          <a:bodyPr/>
          <a:lstStyle/>
          <a:p>
            <a:r>
              <a:rPr lang="en-US" b="1" dirty="0">
                <a:sym typeface="+mn-ea"/>
              </a:rPr>
              <a:t> </a:t>
            </a:r>
            <a:r>
              <a:rPr lang="en-US" dirty="0">
                <a:sym typeface="+mn-ea"/>
              </a:rPr>
              <a:t> Literature survey</a:t>
            </a:r>
            <a:endParaRPr lang="en-US" dirty="0"/>
          </a:p>
        </p:txBody>
      </p:sp>
      <p:sp>
        <p:nvSpPr>
          <p:cNvPr id="3" name="Content Placeholder 2">
            <a:extLst>
              <a:ext uri="{FF2B5EF4-FFF2-40B4-BE49-F238E27FC236}">
                <a16:creationId xmlns:a16="http://schemas.microsoft.com/office/drawing/2014/main" id="{88B4C7C8-C694-ED35-7EC0-FEAB90138A21}"/>
              </a:ext>
            </a:extLst>
          </p:cNvPr>
          <p:cNvSpPr>
            <a:spLocks noGrp="1"/>
          </p:cNvSpPr>
          <p:nvPr>
            <p:ph idx="1"/>
          </p:nvPr>
        </p:nvSpPr>
        <p:spPr/>
        <p:txBody>
          <a:bodyPr>
            <a:normAutofit/>
          </a:bodyPr>
          <a:lstStyle/>
          <a:p>
            <a:r>
              <a:rPr lang="en-US" sz="2400" b="1" dirty="0" err="1"/>
              <a:t>Hawi</a:t>
            </a:r>
            <a:r>
              <a:rPr lang="en-US" sz="2400" b="1" dirty="0"/>
              <a:t> et al. [4]</a:t>
            </a:r>
            <a:r>
              <a:rPr lang="en-US" sz="2400" dirty="0"/>
              <a:t> have studied cyber security vulnerabilities in wireless networks and applied artificial intelligence–based anomaly detection techniques to identify abnormal network behavior. The results demonstrate that AI methods can effectively improve the security of wireless communication systems. </a:t>
            </a:r>
          </a:p>
          <a:p>
            <a:r>
              <a:rPr lang="en-US" sz="2400" b="1" dirty="0" err="1"/>
              <a:t>Zhukabayeva</a:t>
            </a:r>
            <a:r>
              <a:rPr lang="en-US" sz="2400" b="1" dirty="0"/>
              <a:t> et al. [5]</a:t>
            </a:r>
            <a:r>
              <a:rPr lang="en-US" sz="2400" dirty="0"/>
              <a:t> proposed a machine learning–based framework to detect network security incidents in Wireless Sensor Networks. The approach applies techniques such as Decision Tree and Random Forest to identify abnormal network behavior and improve cyber security in WSN environments.</a:t>
            </a:r>
            <a:endParaRPr lang="en-US" sz="2600" dirty="0"/>
          </a:p>
        </p:txBody>
      </p:sp>
      <p:sp>
        <p:nvSpPr>
          <p:cNvPr id="5" name="Rectangle 4">
            <a:extLst>
              <a:ext uri="{FF2B5EF4-FFF2-40B4-BE49-F238E27FC236}">
                <a16:creationId xmlns:a16="http://schemas.microsoft.com/office/drawing/2014/main" id="{A6DB03EF-273B-44DD-B532-6E248C3E6238}"/>
              </a:ext>
            </a:extLst>
          </p:cNvPr>
          <p:cNvSpPr/>
          <p:nvPr/>
        </p:nvSpPr>
        <p:spPr>
          <a:xfrm>
            <a:off x="-2" y="6641867"/>
            <a:ext cx="762001" cy="17394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A-10</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2180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p:txBody>
          <a:bodyPr/>
          <a:lstStyle/>
          <a:p>
            <a:pPr algn="ctr"/>
            <a:r>
              <a:rPr lang="en-US" dirty="0"/>
              <a:t>Existing System</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p:txBody>
          <a:bodyPr/>
          <a:lstStyle/>
          <a:p>
            <a:r>
              <a:rPr lang="en-US" sz="2400" dirty="0"/>
              <a:t> Earlier security approaches for Wireless Sensor Networks use individual machine learning models to identify cyber-attacks.</a:t>
            </a:r>
          </a:p>
          <a:p>
            <a:r>
              <a:rPr lang="en-US" sz="2400" dirty="0"/>
              <a:t> Models such as Autoencoder and MLP can detect unusual or rare attack behavior by learning normal network patterns.</a:t>
            </a:r>
          </a:p>
          <a:p>
            <a:r>
              <a:rPr lang="en-US" sz="2400" dirty="0"/>
              <a:t> These approaches mainly indicate whether an attack exists, but do not clearly classify the exact attack type.</a:t>
            </a:r>
          </a:p>
          <a:p>
            <a:r>
              <a:rPr lang="en-US" sz="2400" dirty="0"/>
              <a:t> When used independently, single models show inconsistent performance for complex and diverse attack scenarios.</a:t>
            </a:r>
          </a:p>
          <a:p>
            <a:r>
              <a:rPr lang="en-US" sz="2400" dirty="0"/>
              <a:t> Existing systems have limited adaptability when new attack patterns or network conditions appear.</a:t>
            </a:r>
          </a:p>
          <a:p>
            <a:r>
              <a:rPr lang="en-US" sz="2400" dirty="0"/>
              <a:t> As a result, these approaches fail to consistently and reliably classify cyber-attacks in WSNs.</a:t>
            </a:r>
            <a:endParaRPr lang="en-IN" dirty="0"/>
          </a:p>
          <a:p>
            <a:endParaRPr lang="en-IN" dirty="0"/>
          </a:p>
        </p:txBody>
      </p:sp>
      <p:sp>
        <p:nvSpPr>
          <p:cNvPr id="5" name="Rectangle 4">
            <a:extLst>
              <a:ext uri="{FF2B5EF4-FFF2-40B4-BE49-F238E27FC236}">
                <a16:creationId xmlns:a16="http://schemas.microsoft.com/office/drawing/2014/main" id="{F10BA77F-A163-46A6-B2AB-4343BC6A66D3}"/>
              </a:ext>
            </a:extLst>
          </p:cNvPr>
          <p:cNvSpPr/>
          <p:nvPr/>
        </p:nvSpPr>
        <p:spPr>
          <a:xfrm>
            <a:off x="-2" y="6641867"/>
            <a:ext cx="762001" cy="17394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A-10</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0325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p:txBody>
          <a:bodyPr/>
          <a:lstStyle/>
          <a:p>
            <a:pPr algn="ctr"/>
            <a:r>
              <a:rPr lang="en-US" dirty="0"/>
              <a:t>Proposed System</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p:txBody>
          <a:bodyPr/>
          <a:lstStyle/>
          <a:p>
            <a:r>
              <a:rPr lang="en-US" sz="2400" dirty="0"/>
              <a:t> The proposed system focuses on improving cyber-attack detection and classification in Wireless Sensor Networks.</a:t>
            </a:r>
          </a:p>
          <a:p>
            <a:r>
              <a:rPr lang="en-US" sz="2400" dirty="0"/>
              <a:t> It uses an ensemble-based approach by combining multiple machine learning and deep learning models.</a:t>
            </a:r>
          </a:p>
          <a:p>
            <a:r>
              <a:rPr lang="en-US" sz="2400" dirty="0"/>
              <a:t> Models such as Stacking, </a:t>
            </a:r>
            <a:r>
              <a:rPr lang="en-US" sz="2400" dirty="0" err="1"/>
              <a:t>XGBoost</a:t>
            </a:r>
            <a:r>
              <a:rPr lang="en-US" sz="2400" dirty="0"/>
              <a:t>, AdaBoost, MLP, and Autoencoder are used together to improve robustness.</a:t>
            </a:r>
          </a:p>
          <a:p>
            <a:r>
              <a:rPr lang="en-US" sz="2400" dirty="0"/>
              <a:t> Each model contributes by learning different patterns and behaviors present in the network traffic.</a:t>
            </a:r>
          </a:p>
          <a:p>
            <a:r>
              <a:rPr lang="en-US" sz="2400" dirty="0"/>
              <a:t> Combining multiple models improves the system’s ability to handle diverse and complex attack scenarios.</a:t>
            </a:r>
          </a:p>
          <a:p>
            <a:r>
              <a:rPr lang="en-US" sz="2600" b="1" dirty="0"/>
              <a:t> Goal: </a:t>
            </a:r>
            <a:r>
              <a:rPr lang="en-US" sz="2400" dirty="0"/>
              <a:t>To provide a reliable and consistent system for detecting and classifying different cyber-attacks in WSNs.</a:t>
            </a:r>
            <a:endParaRPr lang="en-IN" dirty="0"/>
          </a:p>
        </p:txBody>
      </p:sp>
      <p:sp>
        <p:nvSpPr>
          <p:cNvPr id="5" name="Rectangle 4">
            <a:extLst>
              <a:ext uri="{FF2B5EF4-FFF2-40B4-BE49-F238E27FC236}">
                <a16:creationId xmlns:a16="http://schemas.microsoft.com/office/drawing/2014/main" id="{EB19ED7D-8229-4958-9AFD-E4BD871ED06F}"/>
              </a:ext>
            </a:extLst>
          </p:cNvPr>
          <p:cNvSpPr/>
          <p:nvPr/>
        </p:nvSpPr>
        <p:spPr>
          <a:xfrm>
            <a:off x="-2" y="6641867"/>
            <a:ext cx="762001" cy="17394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A-10</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2225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2759"/>
            <a:ext cx="12192000" cy="714892"/>
          </a:xfrm>
        </p:spPr>
        <p:txBody>
          <a:bodyPr/>
          <a:lstStyle/>
          <a:p>
            <a:pPr algn="ctr"/>
            <a:r>
              <a:rPr lang="en-US" dirty="0"/>
              <a:t>Planning &amp; Design</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p:txBody>
          <a:bodyPr/>
          <a:lstStyle/>
          <a:p>
            <a:r>
              <a:rPr lang="en-US" sz="2400" dirty="0"/>
              <a:t> The WSN-DS dataset is collected and carefully prepared by cleaning the data, removing inconsistencies, and organizing it for analysis. </a:t>
            </a:r>
          </a:p>
          <a:p>
            <a:r>
              <a:rPr lang="en-US" sz="2400" dirty="0"/>
              <a:t> Important features are selected and transformed so that the data becomes suitable for effective learning by machine learning and deep learning models. </a:t>
            </a:r>
          </a:p>
          <a:p>
            <a:r>
              <a:rPr lang="en-US" sz="2400" dirty="0"/>
              <a:t> The prepared dataset is divided into training and testing sets to ensure proper evaluation and avoid biased results. </a:t>
            </a:r>
          </a:p>
          <a:p>
            <a:r>
              <a:rPr lang="en-US" sz="2400" dirty="0"/>
              <a:t> Multiple ensemble techniques and deep learning models are trained using the prepared data to learn different attack patterns. </a:t>
            </a:r>
          </a:p>
          <a:p>
            <a:r>
              <a:rPr lang="en-US" sz="2400" dirty="0"/>
              <a:t> COOJA simulator is used to create a Wireless Sensor Network environment and observe real-time node communication behavior.</a:t>
            </a:r>
          </a:p>
          <a:p>
            <a:r>
              <a:rPr lang="en-US" sz="2400" dirty="0"/>
              <a:t> The final system is designed to detect and classify cyber-attacks in Wireless Sensor Networks based on the combined model output.</a:t>
            </a:r>
          </a:p>
          <a:p>
            <a:endParaRPr lang="en-IN" dirty="0"/>
          </a:p>
          <a:p>
            <a:endParaRPr lang="en-IN" dirty="0"/>
          </a:p>
        </p:txBody>
      </p:sp>
      <p:sp>
        <p:nvSpPr>
          <p:cNvPr id="4" name="Rectangle 3">
            <a:extLst>
              <a:ext uri="{FF2B5EF4-FFF2-40B4-BE49-F238E27FC236}">
                <a16:creationId xmlns:a16="http://schemas.microsoft.com/office/drawing/2014/main" id="{264D22DB-70A3-4FCE-8D25-185CF437FF31}"/>
              </a:ext>
            </a:extLst>
          </p:cNvPr>
          <p:cNvSpPr/>
          <p:nvPr/>
        </p:nvSpPr>
        <p:spPr>
          <a:xfrm>
            <a:off x="-8960" y="0"/>
            <a:ext cx="12192000" cy="228600"/>
          </a:xfrm>
          <a:prstGeom prst="rect">
            <a:avLst/>
          </a:prstGeom>
          <a:solidFill>
            <a:srgbClr val="006666"/>
          </a:solidFill>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C</a:t>
            </a:r>
            <a:r>
              <a:rPr lang="en-US"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yber</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Attacks In WSNs using Ensemble Techniques</a:t>
            </a:r>
            <a:endParaRPr lang="en-IN"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52261FCF-CA7C-43FC-9829-3D59853365F9}"/>
              </a:ext>
            </a:extLst>
          </p:cNvPr>
          <p:cNvSpPr/>
          <p:nvPr/>
        </p:nvSpPr>
        <p:spPr>
          <a:xfrm>
            <a:off x="-2" y="6641867"/>
            <a:ext cx="762001" cy="17394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A-10</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1041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References</a:t>
            </a:r>
          </a:p>
        </p:txBody>
      </p:sp>
      <p:sp>
        <p:nvSpPr>
          <p:cNvPr id="3" name="Content Placeholder 2"/>
          <p:cNvSpPr>
            <a:spLocks noGrp="1"/>
          </p:cNvSpPr>
          <p:nvPr>
            <p:ph idx="1"/>
          </p:nvPr>
        </p:nvSpPr>
        <p:spPr/>
        <p:txBody>
          <a:bodyPr>
            <a:normAutofit fontScale="92500" lnSpcReduction="10000"/>
          </a:bodyPr>
          <a:lstStyle/>
          <a:p>
            <a:pPr marL="577850" indent="-577850">
              <a:buNone/>
            </a:pPr>
            <a:r>
              <a:rPr lang="en-US" sz="2600" dirty="0"/>
              <a:t>[1]. S. Karthikeyan, R. Kumar, and P. Rajesh, “Machine Learning-Based Cyber-Attack Detection in Wireless Sensor Networks,” </a:t>
            </a:r>
            <a:r>
              <a:rPr lang="en-US" sz="2600" i="1" dirty="0"/>
              <a:t>International Journal of Research in Engineering and Technology</a:t>
            </a:r>
            <a:r>
              <a:rPr lang="en-US" sz="2600" dirty="0"/>
              <a:t>, vol. 12, pp. 45–50, 2025.</a:t>
            </a:r>
          </a:p>
          <a:p>
            <a:pPr marL="577850" indent="-577850">
              <a:buNone/>
            </a:pPr>
            <a:r>
              <a:rPr lang="en-IN" sz="2600" dirty="0"/>
              <a:t>[2]. M. Al-</a:t>
            </a:r>
            <a:r>
              <a:rPr lang="en-IN" sz="2600" dirty="0" err="1"/>
              <a:t>Akhras</a:t>
            </a:r>
            <a:r>
              <a:rPr lang="en-IN" sz="2600" dirty="0"/>
              <a:t>, M. Al-</a:t>
            </a:r>
            <a:r>
              <a:rPr lang="en-IN" sz="2600" dirty="0" err="1"/>
              <a:t>Kasasbeh</a:t>
            </a:r>
            <a:r>
              <a:rPr lang="en-IN" sz="2600" dirty="0"/>
              <a:t>, and I. </a:t>
            </a:r>
            <a:r>
              <a:rPr lang="en-IN" sz="2600" dirty="0" err="1"/>
              <a:t>Almomani</a:t>
            </a:r>
            <a:r>
              <a:rPr lang="en-IN" sz="2600" dirty="0"/>
              <a:t>, “Evaluation of Machine Learning Algorithms for Intrusion Detection in Wireless Sensor Networks,” </a:t>
            </a:r>
            <a:r>
              <a:rPr lang="en-IN" sz="2600" i="1" dirty="0"/>
              <a:t>International Journal of Advanced Computer Science and Applications</a:t>
            </a:r>
            <a:r>
              <a:rPr lang="en-IN" sz="2600" dirty="0"/>
              <a:t>, vol. 12, pp. 300–308, 2021.</a:t>
            </a:r>
          </a:p>
          <a:p>
            <a:pPr marL="577850" indent="-577850">
              <a:buNone/>
            </a:pPr>
            <a:r>
              <a:rPr lang="en-US" sz="2600" dirty="0"/>
              <a:t>[3]. A. A. Al-</a:t>
            </a:r>
            <a:r>
              <a:rPr lang="en-US" sz="2600" dirty="0" err="1"/>
              <a:t>Quayed</a:t>
            </a:r>
            <a:r>
              <a:rPr lang="en-US" sz="2600" dirty="0"/>
              <a:t>, M. Al-</a:t>
            </a:r>
            <a:r>
              <a:rPr lang="en-US" sz="2600" dirty="0" err="1"/>
              <a:t>Hubaishi</a:t>
            </a:r>
            <a:r>
              <a:rPr lang="en-US" sz="2600" dirty="0"/>
              <a:t>, and S. A. Khan, “A Situation-Based Predictive Approach for Cybersecurity Intrusion Detection and Prevention Using Machine Learning and Deep Learning Algorithms in Wireless Sensor Networks of Industry 4.0,” </a:t>
            </a:r>
            <a:r>
              <a:rPr lang="en-US" sz="2600" i="1" dirty="0"/>
              <a:t>IEEE Access</a:t>
            </a:r>
            <a:r>
              <a:rPr lang="en-US" sz="2600" dirty="0"/>
              <a:t>, vol. 12, pp. 1–15, 2024.</a:t>
            </a:r>
          </a:p>
          <a:p>
            <a:pPr marL="577850" indent="-577850">
              <a:buNone/>
            </a:pPr>
            <a:r>
              <a:rPr lang="en-IN" sz="2600" dirty="0"/>
              <a:t>[4]. </a:t>
            </a:r>
            <a:r>
              <a:rPr lang="en-US" sz="2600" dirty="0"/>
              <a:t>R. </a:t>
            </a:r>
            <a:r>
              <a:rPr lang="en-US" sz="2600" dirty="0" err="1"/>
              <a:t>Hawi</a:t>
            </a:r>
            <a:r>
              <a:rPr lang="en-US" sz="2600" dirty="0"/>
              <a:t>, J. Karam, and H. Nassar, “Unveiling the Hidden Threat: How Wireless Networks Fuel Serious Cyber Attacks,” </a:t>
            </a:r>
            <a:r>
              <a:rPr lang="en-US" sz="2600" i="1" dirty="0"/>
              <a:t>Journal of Information Security and Applications</a:t>
            </a:r>
            <a:r>
              <a:rPr lang="en-US" sz="2600" dirty="0"/>
              <a:t>, vol. 78, pp. 1–10, 2024</a:t>
            </a:r>
            <a:r>
              <a:rPr lang="en-US" sz="2400" dirty="0"/>
              <a:t>.</a:t>
            </a:r>
          </a:p>
          <a:p>
            <a:pPr marL="577850" indent="-577850">
              <a:buNone/>
            </a:pPr>
            <a:r>
              <a:rPr lang="en-IN" sz="2600" dirty="0"/>
              <a:t>[5]. </a:t>
            </a:r>
            <a:r>
              <a:rPr lang="en-US" sz="2600" dirty="0"/>
              <a:t>T. </a:t>
            </a:r>
            <a:r>
              <a:rPr lang="en-US" sz="2600" dirty="0" err="1"/>
              <a:t>Zhukabayeva</a:t>
            </a:r>
            <a:r>
              <a:rPr lang="en-US" sz="2600" dirty="0"/>
              <a:t>, A. </a:t>
            </a:r>
            <a:r>
              <a:rPr lang="en-US" sz="2600" dirty="0" err="1"/>
              <a:t>Buja</a:t>
            </a:r>
            <a:r>
              <a:rPr lang="en-US" sz="2600" dirty="0"/>
              <a:t>, and M. </a:t>
            </a:r>
            <a:r>
              <a:rPr lang="en-US" sz="2600" dirty="0" err="1"/>
              <a:t>Pacolli</a:t>
            </a:r>
            <a:r>
              <a:rPr lang="en-US" sz="2600" dirty="0"/>
              <a:t>, “Detecting Network Security Incidents in Wireless Sensor Networks Using Machine Learning,” </a:t>
            </a:r>
            <a:r>
              <a:rPr lang="en-US" sz="2600" i="1" dirty="0"/>
              <a:t>Indonesian Journal of Electrical Engineering and Computer Science</a:t>
            </a:r>
            <a:r>
              <a:rPr lang="en-US" sz="2600" dirty="0"/>
              <a:t>, vol. 37, no. 3, pp. 1650–1660, Mar. 2025. </a:t>
            </a:r>
            <a:endParaRPr lang="en-IN" sz="2600" dirty="0"/>
          </a:p>
        </p:txBody>
      </p:sp>
      <p:sp>
        <p:nvSpPr>
          <p:cNvPr id="5" name="Rectangle 4">
            <a:extLst>
              <a:ext uri="{FF2B5EF4-FFF2-40B4-BE49-F238E27FC236}">
                <a16:creationId xmlns:a16="http://schemas.microsoft.com/office/drawing/2014/main" id="{2EBF2478-BFA7-4CC8-8FFC-7496B1D79DCA}"/>
              </a:ext>
            </a:extLst>
          </p:cNvPr>
          <p:cNvSpPr/>
          <p:nvPr/>
        </p:nvSpPr>
        <p:spPr>
          <a:xfrm>
            <a:off x="-2" y="6641867"/>
            <a:ext cx="762001" cy="17394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A-10</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603859"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Thank You!!!</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3E491747-A48D-4DD0-B401-850C83425F3B}"/>
              </a:ext>
            </a:extLst>
          </p:cNvPr>
          <p:cNvSpPr/>
          <p:nvPr/>
        </p:nvSpPr>
        <p:spPr>
          <a:xfrm>
            <a:off x="-2" y="6641867"/>
            <a:ext cx="762001" cy="17394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A-10</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911</TotalTime>
  <Words>1524</Words>
  <Application>Microsoft Office PowerPoint</Application>
  <PresentationFormat>Widescreen</PresentationFormat>
  <Paragraphs>106</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Courier New</vt:lpstr>
      <vt:lpstr>Times New Roman</vt:lpstr>
      <vt:lpstr>Wingdings</vt:lpstr>
      <vt:lpstr>Custom Design</vt:lpstr>
      <vt:lpstr>PowerPoint Presentation</vt:lpstr>
      <vt:lpstr>Review - 0 Comments</vt:lpstr>
      <vt:lpstr>Contents</vt:lpstr>
      <vt:lpstr>Abstract</vt:lpstr>
      <vt:lpstr>Introduction</vt:lpstr>
      <vt:lpstr>Literature survey</vt:lpstr>
      <vt:lpstr>Literature survey</vt:lpstr>
      <vt:lpstr>  Literature survey</vt:lpstr>
      <vt:lpstr>  Literature survey</vt:lpstr>
      <vt:lpstr>Existing System</vt:lpstr>
      <vt:lpstr>Proposed System</vt:lpstr>
      <vt:lpstr>Planning &amp; Design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venkatesh k</dc:creator>
  <cp:lastModifiedBy>lakshmi moksha</cp:lastModifiedBy>
  <cp:revision>135</cp:revision>
  <dcterms:created xsi:type="dcterms:W3CDTF">2019-06-11T05:35:00Z</dcterms:created>
  <dcterms:modified xsi:type="dcterms:W3CDTF">2025-12-19T08:34:21Z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B145199D08B64BC29E291925B1B5F72E</vt:lpwstr>
  </property>
  <property fmtid="{D5CDD505-2E9C-101B-9397-08002B2CF9AE}" pid="3" name="KSOProductBuildVer">
    <vt:lpwstr>1033-11.2.0.11254</vt:lpwstr>
  </property>
</Properties>
</file>