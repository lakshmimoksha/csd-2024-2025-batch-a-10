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327" r:id="rId2"/>
    <p:sldId id="289" r:id="rId3"/>
    <p:sldId id="273" r:id="rId4"/>
    <p:sldId id="287" r:id="rId5"/>
    <p:sldId id="296" r:id="rId6"/>
    <p:sldId id="297" r:id="rId7"/>
    <p:sldId id="298" r:id="rId8"/>
    <p:sldId id="299" r:id="rId9"/>
    <p:sldId id="300" r:id="rId10"/>
    <p:sldId id="281" r:id="rId11"/>
    <p:sldId id="288" r:id="rId12"/>
    <p:sldId id="290" r:id="rId13"/>
    <p:sldId id="291" r:id="rId14"/>
    <p:sldId id="295" r:id="rId15"/>
    <p:sldId id="301" r:id="rId16"/>
    <p:sldId id="302" r:id="rId17"/>
    <p:sldId id="303" r:id="rId18"/>
    <p:sldId id="304" r:id="rId19"/>
    <p:sldId id="307" r:id="rId20"/>
    <p:sldId id="308" r:id="rId21"/>
    <p:sldId id="332" r:id="rId22"/>
    <p:sldId id="333" r:id="rId23"/>
    <p:sldId id="310" r:id="rId24"/>
    <p:sldId id="328" r:id="rId25"/>
    <p:sldId id="311" r:id="rId26"/>
    <p:sldId id="312" r:id="rId27"/>
    <p:sldId id="313" r:id="rId28"/>
    <p:sldId id="314" r:id="rId29"/>
    <p:sldId id="331" r:id="rId30"/>
    <p:sldId id="315" r:id="rId31"/>
    <p:sldId id="316" r:id="rId32"/>
    <p:sldId id="319" r:id="rId33"/>
    <p:sldId id="323" r:id="rId34"/>
    <p:sldId id="322" r:id="rId35"/>
    <p:sldId id="329" r:id="rId36"/>
    <p:sldId id="330" r:id="rId37"/>
    <p:sldId id="309" r:id="rId38"/>
    <p:sldId id="27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BFAAFBF-3D3D-4D11-B41C-39409C732DF9}">
          <p14:sldIdLst>
            <p14:sldId id="327"/>
            <p14:sldId id="289"/>
            <p14:sldId id="273"/>
            <p14:sldId id="287"/>
            <p14:sldId id="296"/>
            <p14:sldId id="297"/>
            <p14:sldId id="298"/>
            <p14:sldId id="299"/>
            <p14:sldId id="300"/>
            <p14:sldId id="281"/>
            <p14:sldId id="288"/>
            <p14:sldId id="290"/>
            <p14:sldId id="291"/>
            <p14:sldId id="295"/>
            <p14:sldId id="301"/>
            <p14:sldId id="302"/>
            <p14:sldId id="303"/>
            <p14:sldId id="304"/>
            <p14:sldId id="307"/>
            <p14:sldId id="308"/>
            <p14:sldId id="332"/>
            <p14:sldId id="333"/>
            <p14:sldId id="310"/>
            <p14:sldId id="328"/>
            <p14:sldId id="311"/>
            <p14:sldId id="312"/>
            <p14:sldId id="313"/>
            <p14:sldId id="314"/>
            <p14:sldId id="331"/>
            <p14:sldId id="315"/>
            <p14:sldId id="316"/>
            <p14:sldId id="319"/>
            <p14:sldId id="323"/>
            <p14:sldId id="322"/>
            <p14:sldId id="329"/>
            <p14:sldId id="330"/>
            <p14:sldId id="309"/>
          </p14:sldIdLst>
        </p14:section>
        <p14:section name="Untitled Section" id="{E4EEA6A0-01D7-44EB-B418-472908ED146D}">
          <p14:sldIdLst>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5" d="100"/>
          <a:sy n="85" d="100"/>
        </p:scale>
        <p:origin x="744" y="82"/>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05-02-2026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05-02-2026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 )</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Analyzing Cyber Attacks In WSN using Ensemble Techniques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A - 10</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github.com/LakshmiMoksha/CSD-2025-2026-Batch-A-10"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1">
            <a:extLst>
              <a:ext uri="{FF2B5EF4-FFF2-40B4-BE49-F238E27FC236}">
                <a16:creationId xmlns:a16="http://schemas.microsoft.com/office/drawing/2014/main" id="{CB5ACD3F-98FF-9774-A685-880C56CCC02C}"/>
              </a:ext>
            </a:extLst>
          </p:cNvPr>
          <p:cNvSpPr txBox="1">
            <a:spLocks/>
          </p:cNvSpPr>
          <p:nvPr/>
        </p:nvSpPr>
        <p:spPr>
          <a:xfrm>
            <a:off x="6320572" y="17526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Karthik P</a:t>
            </a:r>
          </a:p>
          <a:p>
            <a:pPr>
              <a:spcBef>
                <a:spcPts val="300"/>
              </a:spcBef>
            </a:pPr>
            <a:r>
              <a:rPr lang="en-US" sz="1200" b="0" dirty="0"/>
              <a:t>Roll No. 224G1A3239</a:t>
            </a:r>
          </a:p>
        </p:txBody>
      </p:sp>
      <p:sp>
        <p:nvSpPr>
          <p:cNvPr id="3" name="Subtitle 11">
            <a:extLst>
              <a:ext uri="{FF2B5EF4-FFF2-40B4-BE49-F238E27FC236}">
                <a16:creationId xmlns:a16="http://schemas.microsoft.com/office/drawing/2014/main" id="{90EAEEC8-91BC-FD98-D734-A70812C4C8B3}"/>
              </a:ext>
            </a:extLst>
          </p:cNvPr>
          <p:cNvSpPr txBox="1">
            <a:spLocks/>
          </p:cNvSpPr>
          <p:nvPr/>
        </p:nvSpPr>
        <p:spPr>
          <a:xfrm>
            <a:off x="3759654" y="2569201"/>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300"/>
              </a:spcBef>
            </a:pPr>
            <a:r>
              <a:rPr lang="en-US" sz="2000" b="0" dirty="0">
                <a:effectLst>
                  <a:outerShdw blurRad="38100" dist="38100" dir="2700000" algn="tl">
                    <a:srgbClr val="000000">
                      <a:alpha val="43137"/>
                    </a:srgbClr>
                  </a:outerShdw>
                </a:effectLst>
              </a:rPr>
              <a:t>Dr. P. </a:t>
            </a:r>
            <a:r>
              <a:rPr lang="en-US" sz="2000" b="0" dirty="0" err="1">
                <a:effectLst>
                  <a:outerShdw blurRad="38100" dist="38100" dir="2700000" algn="tl">
                    <a:srgbClr val="000000">
                      <a:alpha val="43137"/>
                    </a:srgbClr>
                  </a:outerShdw>
                </a:effectLst>
              </a:rPr>
              <a:t>Chitralingappa</a:t>
            </a:r>
            <a:r>
              <a:rPr lang="en-US" sz="2000" b="0" dirty="0">
                <a:effectLst>
                  <a:outerShdw blurRad="38100" dist="38100" dir="2700000" algn="tl">
                    <a:srgbClr val="000000">
                      <a:alpha val="43137"/>
                    </a:srgbClr>
                  </a:outerShdw>
                </a:effectLst>
              </a:rPr>
              <a:t> </a:t>
            </a:r>
            <a:r>
              <a:rPr lang="en-US" sz="2400" b="0" baseline="-25000" dirty="0">
                <a:effectLst>
                  <a:outerShdw blurRad="38100" dist="38100" dir="2700000" algn="tl">
                    <a:srgbClr val="000000">
                      <a:alpha val="43137"/>
                    </a:srgbClr>
                  </a:outerShdw>
                </a:effectLst>
              </a:rPr>
              <a:t>M. </a:t>
            </a:r>
            <a:r>
              <a:rPr lang="en-US" sz="2400" b="0" baseline="-25000">
                <a:effectLst>
                  <a:outerShdw blurRad="38100" dist="38100" dir="2700000" algn="tl">
                    <a:srgbClr val="000000">
                      <a:alpha val="43137"/>
                    </a:srgbClr>
                  </a:outerShdw>
                </a:effectLst>
              </a:rPr>
              <a:t>Tech., Ph.D.</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Associate Professor &amp; HOD</a:t>
            </a:r>
          </a:p>
        </p:txBody>
      </p:sp>
      <p:sp>
        <p:nvSpPr>
          <p:cNvPr id="8" name="Subtitle 11">
            <a:extLst>
              <a:ext uri="{FF2B5EF4-FFF2-40B4-BE49-F238E27FC236}">
                <a16:creationId xmlns:a16="http://schemas.microsoft.com/office/drawing/2014/main" id="{380CE817-AF00-F68E-6F5A-DC8DEC45CA92}"/>
              </a:ext>
            </a:extLst>
          </p:cNvPr>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2025 - 2026</a:t>
            </a:r>
            <a:endParaRPr lang="en-US" sz="2500" b="0" dirty="0"/>
          </a:p>
          <a:p>
            <a:endParaRPr lang="en-IN" b="0" dirty="0"/>
          </a:p>
        </p:txBody>
      </p:sp>
      <p:sp>
        <p:nvSpPr>
          <p:cNvPr id="9" name="Subtitle 11">
            <a:extLst>
              <a:ext uri="{FF2B5EF4-FFF2-40B4-BE49-F238E27FC236}">
                <a16:creationId xmlns:a16="http://schemas.microsoft.com/office/drawing/2014/main" id="{AC3D1776-6849-C7D5-17D7-651C13F1B8B2}"/>
              </a:ext>
            </a:extLst>
          </p:cNvPr>
          <p:cNvSpPr txBox="1">
            <a:spLocks/>
          </p:cNvSpPr>
          <p:nvPr/>
        </p:nvSpPr>
        <p:spPr>
          <a:xfrm>
            <a:off x="3377464" y="1788947"/>
            <a:ext cx="3214275"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9600" b="0" dirty="0">
                <a:effectLst>
                  <a:outerShdw blurRad="38100" dist="38100" dir="2700000" algn="tl">
                    <a:srgbClr val="000000">
                      <a:alpha val="43137"/>
                    </a:srgbClr>
                  </a:outerShdw>
                </a:effectLst>
              </a:rPr>
              <a:t>  Dinesh Reddy C</a:t>
            </a:r>
          </a:p>
          <a:p>
            <a:pPr>
              <a:spcBef>
                <a:spcPts val="300"/>
              </a:spcBef>
            </a:pPr>
            <a:r>
              <a:rPr lang="en-US" sz="4400" b="0" dirty="0"/>
              <a:t>Roll No. 224G1A3218</a:t>
            </a:r>
          </a:p>
        </p:txBody>
      </p:sp>
      <p:sp>
        <p:nvSpPr>
          <p:cNvPr id="10" name="Subtitle 11">
            <a:extLst>
              <a:ext uri="{FF2B5EF4-FFF2-40B4-BE49-F238E27FC236}">
                <a16:creationId xmlns:a16="http://schemas.microsoft.com/office/drawing/2014/main" id="{98A2AEDC-6ABD-AE72-3B69-7B3C633A2C75}"/>
              </a:ext>
            </a:extLst>
          </p:cNvPr>
          <p:cNvSpPr txBox="1">
            <a:spLocks/>
          </p:cNvSpPr>
          <p:nvPr/>
        </p:nvSpPr>
        <p:spPr>
          <a:xfrm>
            <a:off x="8432328" y="17526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Akash R</a:t>
            </a:r>
          </a:p>
          <a:p>
            <a:pPr>
              <a:spcBef>
                <a:spcPts val="300"/>
              </a:spcBef>
            </a:pPr>
            <a:r>
              <a:rPr lang="en-US" sz="1200" b="0" dirty="0"/>
              <a:t>Roll No. 224G1A3206</a:t>
            </a:r>
          </a:p>
        </p:txBody>
      </p:sp>
      <p:sp>
        <p:nvSpPr>
          <p:cNvPr id="11" name="Subtitle 11">
            <a:extLst>
              <a:ext uri="{FF2B5EF4-FFF2-40B4-BE49-F238E27FC236}">
                <a16:creationId xmlns:a16="http://schemas.microsoft.com/office/drawing/2014/main" id="{D5CAF6E7-12FF-45AE-DA53-18D755E487C0}"/>
              </a:ext>
            </a:extLst>
          </p:cNvPr>
          <p:cNvSpPr txBox="1">
            <a:spLocks/>
          </p:cNvSpPr>
          <p:nvPr/>
        </p:nvSpPr>
        <p:spPr>
          <a:xfrm>
            <a:off x="919785" y="1807527"/>
            <a:ext cx="2676135" cy="584534"/>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3800" b="0" dirty="0">
                <a:effectLst>
                  <a:outerShdw blurRad="38100" dist="38100" dir="2700000" algn="tl">
                    <a:srgbClr val="000000">
                      <a:alpha val="43137"/>
                    </a:srgbClr>
                  </a:outerShdw>
                </a:effectLst>
              </a:rPr>
              <a:t>Lakshmi Moksha B</a:t>
            </a:r>
          </a:p>
          <a:p>
            <a:pPr>
              <a:spcBef>
                <a:spcPts val="300"/>
              </a:spcBef>
            </a:pPr>
            <a:r>
              <a:rPr lang="en-US" sz="1800" b="0" dirty="0"/>
              <a:t>Roll No. 224G1A3246</a:t>
            </a:r>
          </a:p>
        </p:txBody>
      </p:sp>
      <p:sp>
        <p:nvSpPr>
          <p:cNvPr id="15" name="Rectangle: Rounded Corners 14">
            <a:extLst>
              <a:ext uri="{FF2B5EF4-FFF2-40B4-BE49-F238E27FC236}">
                <a16:creationId xmlns:a16="http://schemas.microsoft.com/office/drawing/2014/main" id="{537BB18A-8638-8901-DA80-0B72965E9E9F}"/>
              </a:ext>
            </a:extLst>
          </p:cNvPr>
          <p:cNvSpPr/>
          <p:nvPr/>
        </p:nvSpPr>
        <p:spPr>
          <a:xfrm>
            <a:off x="755008" y="335270"/>
            <a:ext cx="10656331" cy="926426"/>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3200" b="1" dirty="0" err="1">
                <a:latin typeface="Times New Roman" panose="02020603050405020304" pitchFamily="18" charset="0"/>
                <a:cs typeface="Times New Roman" panose="02020603050405020304" pitchFamily="18" charset="0"/>
              </a:rPr>
              <a:t>Analyzing</a:t>
            </a:r>
            <a:r>
              <a:rPr lang="en-IN" sz="3200" b="1" dirty="0">
                <a:latin typeface="Times New Roman" panose="02020603050405020304" pitchFamily="18" charset="0"/>
                <a:cs typeface="Times New Roman" panose="02020603050405020304" pitchFamily="18" charset="0"/>
              </a:rPr>
              <a:t> Cyber Attacks In WSNs using Ensemble Techniques</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B39DEE4E-8296-1802-785C-44E357AA9A5F}"/>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9" name="Picture 18">
            <a:extLst>
              <a:ext uri="{FF2B5EF4-FFF2-40B4-BE49-F238E27FC236}">
                <a16:creationId xmlns:a16="http://schemas.microsoft.com/office/drawing/2014/main" id="{3051423C-FC39-F56E-3279-3CED3A757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AA6D-7637-5E88-CF28-4D2EF60270E3}"/>
              </a:ext>
            </a:extLst>
          </p:cNvPr>
          <p:cNvSpPr>
            <a:spLocks noGrp="1"/>
          </p:cNvSpPr>
          <p:nvPr>
            <p:ph type="title"/>
          </p:nvPr>
        </p:nvSpPr>
        <p:spPr>
          <a:xfrm>
            <a:off x="-2" y="232759"/>
            <a:ext cx="12192000" cy="714892"/>
          </a:xfrm>
        </p:spPr>
        <p:txBody>
          <a:bodyPr/>
          <a:lstStyle/>
          <a:p>
            <a:r>
              <a:rPr lang="en-US" sz="3600" dirty="0"/>
              <a:t>A</a:t>
            </a:r>
            <a:r>
              <a:rPr lang="en-IN" sz="3600" dirty="0" err="1"/>
              <a:t>nalyzing</a:t>
            </a:r>
            <a:r>
              <a:rPr lang="en-IN" sz="3600" dirty="0"/>
              <a:t> Cyber Attacks In WSN using Ensemble Techniques</a:t>
            </a:r>
          </a:p>
        </p:txBody>
      </p:sp>
      <p:sp>
        <p:nvSpPr>
          <p:cNvPr id="3" name="Content Placeholder 2">
            <a:extLst>
              <a:ext uri="{FF2B5EF4-FFF2-40B4-BE49-F238E27FC236}">
                <a16:creationId xmlns:a16="http://schemas.microsoft.com/office/drawing/2014/main" id="{6524DFE5-F7A5-9ADB-AFD3-08EBD7A4FB1F}"/>
              </a:ext>
            </a:extLst>
          </p:cNvPr>
          <p:cNvSpPr>
            <a:spLocks noGrp="1"/>
          </p:cNvSpPr>
          <p:nvPr>
            <p:ph idx="1"/>
          </p:nvPr>
        </p:nvSpPr>
        <p:spPr>
          <a:xfrm>
            <a:off x="199505" y="1097279"/>
            <a:ext cx="11779135" cy="5394960"/>
          </a:xfrm>
        </p:spPr>
        <p:txBody>
          <a:bodyPr/>
          <a:lstStyle/>
          <a:p>
            <a:r>
              <a:rPr lang="en-US" dirty="0"/>
              <a:t>Review – 0 comments</a:t>
            </a:r>
          </a:p>
          <a:p>
            <a:pPr lvl="1">
              <a:buFont typeface="Arial" panose="020B0604020202020204" pitchFamily="34" charset="0"/>
              <a:buChar char="•"/>
            </a:pPr>
            <a:r>
              <a:rPr lang="en-US" sz="2800" dirty="0"/>
              <a:t>Improve clarity of problem statement, abstract, and system description</a:t>
            </a:r>
          </a:p>
          <a:p>
            <a:pPr lvl="1">
              <a:buFont typeface="Arial" panose="020B0604020202020204" pitchFamily="34" charset="0"/>
              <a:buChar char="•"/>
            </a:pPr>
            <a:r>
              <a:rPr lang="en-US" sz="2800" dirty="0"/>
              <a:t>Strengthen literature survey by clearly identifying the research gap</a:t>
            </a:r>
          </a:p>
          <a:p>
            <a:pPr lvl="1">
              <a:buFont typeface="Arial" panose="020B0604020202020204" pitchFamily="34" charset="0"/>
              <a:buChar char="•"/>
            </a:pPr>
            <a:r>
              <a:rPr lang="en-US" sz="2800" dirty="0"/>
              <a:t>Include simulation to support project concept and analysis</a:t>
            </a:r>
          </a:p>
          <a:p>
            <a:pPr lvl="1">
              <a:buFont typeface="Arial" panose="020B0604020202020204" pitchFamily="34" charset="0"/>
              <a:buChar char="•"/>
            </a:pPr>
            <a:endParaRPr lang="en-US" dirty="0"/>
          </a:p>
          <a:p>
            <a:r>
              <a:rPr lang="en-US" dirty="0"/>
              <a:t>Review – 1 comments</a:t>
            </a:r>
          </a:p>
          <a:p>
            <a:pPr lvl="1">
              <a:buFont typeface="Arial" panose="020B0604020202020204" pitchFamily="34" charset="0"/>
              <a:buChar char="•"/>
            </a:pPr>
            <a:r>
              <a:rPr lang="en-IN" sz="2800" dirty="0"/>
              <a:t>Proceed with COOJA simulation</a:t>
            </a:r>
            <a:endParaRPr lang="en-US" sz="2800" dirty="0"/>
          </a:p>
          <a:p>
            <a:pPr lvl="1">
              <a:buFont typeface="Arial" panose="020B0604020202020204" pitchFamily="34" charset="0"/>
              <a:buChar char="•"/>
            </a:pPr>
            <a:r>
              <a:rPr lang="en-US" sz="2800" dirty="0"/>
              <a:t>Demonstrate practical WSN network behavior.</a:t>
            </a:r>
          </a:p>
          <a:p>
            <a:pPr lvl="1">
              <a:buFont typeface="Arial" panose="020B0604020202020204" pitchFamily="34" charset="0"/>
              <a:buChar char="•"/>
            </a:pPr>
            <a:r>
              <a:rPr lang="en-IN" sz="2800" dirty="0" err="1"/>
              <a:t>Analyze</a:t>
            </a:r>
            <a:r>
              <a:rPr lang="en-IN" sz="2800" dirty="0"/>
              <a:t> cyber attack </a:t>
            </a:r>
            <a:r>
              <a:rPr lang="en-IN" sz="2800" dirty="0" err="1"/>
              <a:t>behavior</a:t>
            </a:r>
            <a:r>
              <a:rPr lang="en-IN" sz="2800" dirty="0"/>
              <a:t> using simulation results</a:t>
            </a:r>
          </a:p>
          <a:p>
            <a:pPr lvl="1">
              <a:buFont typeface="Arial" panose="020B0604020202020204" pitchFamily="34" charset="0"/>
              <a:buChar char="•"/>
            </a:pPr>
            <a:endParaRPr lang="en-US" dirty="0"/>
          </a:p>
        </p:txBody>
      </p:sp>
    </p:spTree>
    <p:extLst>
      <p:ext uri="{BB962C8B-B14F-4D97-AF65-F5344CB8AC3E}">
        <p14:creationId xmlns:p14="http://schemas.microsoft.com/office/powerpoint/2010/main" val="148535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a:xfrm>
            <a:off x="199506" y="1097279"/>
            <a:ext cx="5582730" cy="5394960"/>
          </a:xfrm>
        </p:spPr>
        <p:txBody>
          <a:bodyPr>
            <a:normAutofit/>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Problem Statement</a:t>
            </a:r>
          </a:p>
          <a:p>
            <a:pPr marL="462280" indent="-462280">
              <a:buBlip>
                <a:blip r:embed="rId2">
                  <a:extLst>
                    <a:ext uri="{96DAC541-7B7A-43D3-8B79-37D633B846F1}">
                      <asvg:svgBlip xmlns:asvg="http://schemas.microsoft.com/office/drawing/2016/SVG/main" r:embed="rId3"/>
                    </a:ext>
                  </a:extLst>
                </a:blip>
              </a:buBlip>
            </a:pPr>
            <a:r>
              <a:rPr lang="en-US" dirty="0"/>
              <a:t>Objectives of Project</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Proposed work </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 and Design</a:t>
            </a:r>
          </a:p>
          <a:p>
            <a:pPr marL="462280" indent="-462280">
              <a:buBlip>
                <a:blip r:embed="rId2">
                  <a:extLst>
                    <a:ext uri="{96DAC541-7B7A-43D3-8B79-37D633B846F1}">
                      <asvg:svgBlip xmlns:asvg="http://schemas.microsoft.com/office/drawing/2016/SVG/main" r:embed="rId3"/>
                    </a:ext>
                  </a:extLst>
                </a:blip>
              </a:buBlip>
            </a:pPr>
            <a:r>
              <a:rPr lang="en-IN" dirty="0"/>
              <a:t>Requirements</a:t>
            </a:r>
          </a:p>
          <a:p>
            <a:pPr marL="0" indent="0">
              <a:buNone/>
            </a:pPr>
            <a:endParaRPr lang="en-US" dirty="0"/>
          </a:p>
          <a:p>
            <a:pPr marL="0" indent="0">
              <a:buNone/>
            </a:pPr>
            <a:endParaRPr lang="en-IN" dirty="0"/>
          </a:p>
        </p:txBody>
      </p:sp>
      <p:sp>
        <p:nvSpPr>
          <p:cNvPr id="4" name="Content Placeholder 2">
            <a:extLst>
              <a:ext uri="{FF2B5EF4-FFF2-40B4-BE49-F238E27FC236}">
                <a16:creationId xmlns:a16="http://schemas.microsoft.com/office/drawing/2014/main" id="{338C5E98-DA32-4F7A-9C04-3684B2B6F0A4}"/>
              </a:ext>
            </a:extLst>
          </p:cNvPr>
          <p:cNvSpPr txBox="1">
            <a:spLocks/>
          </p:cNvSpPr>
          <p:nvPr/>
        </p:nvSpPr>
        <p:spPr>
          <a:xfrm>
            <a:off x="5878647" y="1097279"/>
            <a:ext cx="5582730" cy="5394960"/>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Modules</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UML Diagrams</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Data Flow Diagram</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Screenshots (Project Output)</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References</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GitHub Link</a:t>
            </a:r>
          </a:p>
          <a:p>
            <a:pPr marL="0" indent="0">
              <a:buNone/>
            </a:pPr>
            <a:endParaRPr lang="en-US" dirty="0"/>
          </a:p>
          <a:p>
            <a:pPr marL="0" indent="0">
              <a:buFont typeface="Wingdings" panose="05000000000000000000" pitchFamily="2" charset="2"/>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IN" dirty="0"/>
              <a:t>Abstract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317812"/>
            <a:ext cx="11779135" cy="5174427"/>
          </a:xfrm>
        </p:spPr>
        <p:txBody>
          <a:bodyPr>
            <a:normAutofit/>
          </a:bodyPr>
          <a:lstStyle/>
          <a:p>
            <a:pPr marL="0" indent="0">
              <a:buNone/>
            </a:pPr>
            <a:r>
              <a:rPr lang="en-US" sz="2400" dirty="0"/>
              <a:t>Cyber security plays a vital role in protecting Wireless Sensor Networks (WSNs), which are widely used in industrial monitoring, environmental sensing, and smart applications. Due to wireless communication and limited computational resources, WSNs are highly vulnerable to various cyber-attacks. Many existing security solutions mainly focus on detecting attacks and fail to accurately classify different attack types. This project proposes an ensemble-based cyber attack detection and classification system using machine learning and deep learning models such as Stacking, </a:t>
            </a:r>
            <a:r>
              <a:rPr lang="en-US" sz="2400" dirty="0" err="1"/>
              <a:t>XGBoost</a:t>
            </a:r>
            <a:r>
              <a:rPr lang="en-US" sz="2400" dirty="0"/>
              <a:t>, AdaBoost, MLP, and Autoencoder. The system analyzes network behavior using the WSN-DS dataset to detect and classify cyber-attacks effectively. Simulation is performed using the COOJA simulator to analyze node communication behavior and validate the system performance. The proposed system improves detection accuracy, reliability, and security of Wireless Sensor Networks.</a:t>
            </a:r>
          </a:p>
          <a:p>
            <a:pPr marL="0" indent="0">
              <a:buNone/>
            </a:pPr>
            <a:endParaRPr lang="en-IN" sz="2400" dirty="0"/>
          </a:p>
        </p:txBody>
      </p:sp>
    </p:spTree>
    <p:extLst>
      <p:ext uri="{BB962C8B-B14F-4D97-AF65-F5344CB8AC3E}">
        <p14:creationId xmlns:p14="http://schemas.microsoft.com/office/powerpoint/2010/main" val="125588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IN" dirty="0"/>
              <a:t>Problem Statement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18822" y="690282"/>
            <a:ext cx="11779135" cy="5282004"/>
          </a:xfrm>
        </p:spPr>
        <p:txBody>
          <a:bodyPr>
            <a:noAutofit/>
          </a:bodyPr>
          <a:lstStyle/>
          <a:p>
            <a:pPr marL="0" indent="0">
              <a:buNone/>
            </a:pPr>
            <a:endParaRPr lang="en-US" dirty="0"/>
          </a:p>
          <a:p>
            <a:r>
              <a:rPr lang="en-US" sz="2400" dirty="0"/>
              <a:t>Wireless Sensor Networks (WSNs) are widely used in industrial, environmental, and smart applications</a:t>
            </a:r>
          </a:p>
          <a:p>
            <a:r>
              <a:rPr lang="en-US" sz="2400" dirty="0"/>
              <a:t>Due to wireless communication and limited computational resources, WSNs are vulnerable to cyber-attacks</a:t>
            </a:r>
          </a:p>
          <a:p>
            <a:r>
              <a:rPr lang="en-US" sz="2400" dirty="0"/>
              <a:t>Attacks such as Flooding, Blackhole, </a:t>
            </a:r>
            <a:r>
              <a:rPr lang="en-US" sz="2400" dirty="0" err="1"/>
              <a:t>Grayhole</a:t>
            </a:r>
            <a:r>
              <a:rPr lang="en-US" sz="2400" dirty="0"/>
              <a:t>, and TDMA can disrupt network performance and data reliability</a:t>
            </a:r>
          </a:p>
          <a:p>
            <a:r>
              <a:rPr lang="en-US" sz="2400" dirty="0"/>
              <a:t>Existing security systems mainly detect attacks but may not clearly classify different attack types</a:t>
            </a:r>
          </a:p>
          <a:p>
            <a:r>
              <a:rPr lang="en-US" sz="2400" dirty="0"/>
              <a:t>Single machine learning models may not effectively handle complex and diverse attack patterns</a:t>
            </a:r>
          </a:p>
          <a:p>
            <a:r>
              <a:rPr lang="en-US" sz="2400" dirty="0"/>
              <a:t>There is a need for an efficient and intelligent system to detect and classify multiple cyber-attacks in WSNs</a:t>
            </a:r>
          </a:p>
          <a:p>
            <a:endParaRPr lang="en-US" dirty="0"/>
          </a:p>
        </p:txBody>
      </p:sp>
    </p:spTree>
    <p:extLst>
      <p:ext uri="{BB962C8B-B14F-4D97-AF65-F5344CB8AC3E}">
        <p14:creationId xmlns:p14="http://schemas.microsoft.com/office/powerpoint/2010/main" val="3028668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IN" dirty="0"/>
              <a:t>Objectives of Project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116105"/>
            <a:ext cx="11779135" cy="5376133"/>
          </a:xfrm>
        </p:spPr>
        <p:txBody>
          <a:bodyPr>
            <a:normAutofit/>
          </a:bodyPr>
          <a:lstStyle/>
          <a:p>
            <a:pPr marL="0" indent="0">
              <a:buNone/>
            </a:pPr>
            <a:endParaRPr lang="en-US" sz="2400" dirty="0"/>
          </a:p>
          <a:p>
            <a:r>
              <a:rPr lang="en-US" dirty="0"/>
              <a:t>To detect cyber-attacks in Wireless Sensor Networks using machine learning techniques.</a:t>
            </a:r>
          </a:p>
          <a:p>
            <a:r>
              <a:rPr lang="en-US" dirty="0"/>
              <a:t>To classify different types of cyber-attacks such as Flooding, Blackhole, </a:t>
            </a:r>
            <a:r>
              <a:rPr lang="en-US" dirty="0" err="1"/>
              <a:t>Grayhole</a:t>
            </a:r>
            <a:r>
              <a:rPr lang="en-US" dirty="0"/>
              <a:t>, and TDMA attacks.</a:t>
            </a:r>
          </a:p>
          <a:p>
            <a:r>
              <a:rPr lang="en-US" dirty="0"/>
              <a:t>To improve detection accuracy using ensemble and deep learning models.</a:t>
            </a:r>
          </a:p>
          <a:p>
            <a:r>
              <a:rPr lang="en-US" dirty="0"/>
              <a:t>To analyze network behavior using the WSN-DS dataset.</a:t>
            </a:r>
          </a:p>
          <a:p>
            <a:r>
              <a:rPr lang="en-US" dirty="0"/>
              <a:t>To validate system performance using COOJA simulation</a:t>
            </a:r>
          </a:p>
          <a:p>
            <a:endParaRPr lang="en-IN" sz="7400" dirty="0"/>
          </a:p>
        </p:txBody>
      </p:sp>
    </p:spTree>
    <p:extLst>
      <p:ext uri="{BB962C8B-B14F-4D97-AF65-F5344CB8AC3E}">
        <p14:creationId xmlns:p14="http://schemas.microsoft.com/office/powerpoint/2010/main" val="1532225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US" dirty="0"/>
              <a:t>Literature Survey for first objective</a:t>
            </a:r>
            <a:endParaRPr lang="en-IN" dirty="0"/>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304365"/>
            <a:ext cx="11779135" cy="5187873"/>
          </a:xfrm>
        </p:spPr>
        <p:txBody>
          <a:bodyPr>
            <a:normAutofit/>
          </a:bodyPr>
          <a:lstStyle/>
          <a:p>
            <a:pPr marL="0" indent="0">
              <a:buNone/>
            </a:pPr>
            <a:r>
              <a:rPr lang="en-US" sz="2400" dirty="0"/>
              <a:t>Objective 1: To Improve Cyber Attack Detection in Wireless Sensor Networks</a:t>
            </a:r>
          </a:p>
          <a:p>
            <a:pPr marL="0" indent="0">
              <a:buNone/>
            </a:pPr>
            <a:endParaRPr lang="en-US" sz="2400" dirty="0"/>
          </a:p>
          <a:p>
            <a:r>
              <a:rPr lang="en-US" sz="2400" dirty="0"/>
              <a:t>Al-</a:t>
            </a:r>
            <a:r>
              <a:rPr lang="en-US" sz="2400" dirty="0" err="1"/>
              <a:t>Quayed</a:t>
            </a:r>
            <a:r>
              <a:rPr lang="en-US" sz="2400" dirty="0"/>
              <a:t> et al. (2023) proposed a cyber security framework for WSNs using MLP and Autoencoder models.</a:t>
            </a:r>
          </a:p>
          <a:p>
            <a:r>
              <a:rPr lang="en-US" sz="2400" dirty="0"/>
              <a:t>Their system detected attacks such as Blackhole, </a:t>
            </a:r>
            <a:r>
              <a:rPr lang="en-US" sz="2400" dirty="0" err="1"/>
              <a:t>Grayhole</a:t>
            </a:r>
            <a:r>
              <a:rPr lang="en-US" sz="2400" dirty="0"/>
              <a:t>, Flooding, and Scheduling attacks by learning network behavior patterns.</a:t>
            </a:r>
          </a:p>
          <a:p>
            <a:r>
              <a:rPr lang="en-US" sz="2400" dirty="0"/>
              <a:t>The results showed deep learning models can effectively identify abnormal network activities.</a:t>
            </a:r>
          </a:p>
          <a:p>
            <a:r>
              <a:rPr lang="en-US" sz="2400" dirty="0"/>
              <a:t>However, the system mainly focuses on attack detection and may not always provide consistent classification of different attack types.</a:t>
            </a:r>
          </a:p>
          <a:p>
            <a:r>
              <a:rPr lang="en-US" sz="2400" dirty="0"/>
              <a:t>This work supports improving cyber attack detection in Wireless Sensor Networks.</a:t>
            </a:r>
            <a:endParaRPr lang="en-IN" sz="7400" dirty="0"/>
          </a:p>
        </p:txBody>
      </p:sp>
    </p:spTree>
    <p:extLst>
      <p:ext uri="{BB962C8B-B14F-4D97-AF65-F5344CB8AC3E}">
        <p14:creationId xmlns:p14="http://schemas.microsoft.com/office/powerpoint/2010/main" val="4170366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US" dirty="0"/>
              <a:t>Literature Survey for second objective</a:t>
            </a:r>
            <a:endParaRPr lang="en-IN" dirty="0"/>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317812"/>
            <a:ext cx="11779135" cy="5174426"/>
          </a:xfrm>
        </p:spPr>
        <p:txBody>
          <a:bodyPr>
            <a:normAutofit/>
          </a:bodyPr>
          <a:lstStyle/>
          <a:p>
            <a:pPr marL="0" indent="0">
              <a:buNone/>
            </a:pPr>
            <a:r>
              <a:rPr lang="en-US" sz="2400" dirty="0"/>
              <a:t>Objective 2: To Improve Cyber Attack Detection and Classification Using Machine Learning Techniques</a:t>
            </a:r>
          </a:p>
          <a:p>
            <a:pPr marL="0" indent="0">
              <a:buNone/>
            </a:pPr>
            <a:endParaRPr lang="en-US" sz="2400" dirty="0"/>
          </a:p>
          <a:p>
            <a:r>
              <a:rPr lang="en-US" sz="2400" dirty="0"/>
              <a:t>Karthikeyan et al. (2025) proposed a machine learning-based cyber attack detection system for WSNs.</a:t>
            </a:r>
          </a:p>
          <a:p>
            <a:r>
              <a:rPr lang="en-US" sz="2400" dirty="0"/>
              <a:t>Their system analyzed network traffic behavior and used ML techniques to detect cyber-attacks.</a:t>
            </a:r>
          </a:p>
          <a:p>
            <a:r>
              <a:rPr lang="en-US" sz="2400" dirty="0"/>
              <a:t>The results showed better detection accuracy compared to traditional detection methods.</a:t>
            </a:r>
          </a:p>
          <a:p>
            <a:r>
              <a:rPr lang="en-US" sz="2400" dirty="0"/>
              <a:t>However, the system mainly uses individual machine learning models and does not clearly classify different types of cyber-attacks.</a:t>
            </a:r>
          </a:p>
          <a:p>
            <a:r>
              <a:rPr lang="en-US" sz="2400" dirty="0"/>
              <a:t>This research supports improving cyber attack detection and classification using advanced learning techniques</a:t>
            </a:r>
          </a:p>
          <a:p>
            <a:pPr marL="0" indent="0">
              <a:buNone/>
            </a:pPr>
            <a:endParaRPr lang="en-IN" sz="7400" dirty="0"/>
          </a:p>
        </p:txBody>
      </p:sp>
      <p:sp>
        <p:nvSpPr>
          <p:cNvPr id="4" name="Rectangle 1">
            <a:extLst>
              <a:ext uri="{FF2B5EF4-FFF2-40B4-BE49-F238E27FC236}">
                <a16:creationId xmlns:a16="http://schemas.microsoft.com/office/drawing/2014/main" id="{AAA061F5-5C24-4DF7-A899-CA0FD8E2F8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Karthikeyan et al. (2025) proposed a machine learning-based cyber attack detection system for WSNs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6728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US" dirty="0"/>
              <a:t>Proposed work</a:t>
            </a:r>
            <a:endParaRPr lang="en-IN" dirty="0"/>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169894"/>
            <a:ext cx="11779135" cy="5322344"/>
          </a:xfrm>
        </p:spPr>
        <p:txBody>
          <a:bodyPr>
            <a:normAutofit/>
          </a:bodyPr>
          <a:lstStyle/>
          <a:p>
            <a:r>
              <a:rPr lang="en-US" sz="2400" dirty="0"/>
              <a:t>Design and develop a cyber attack detection and classification system for Wireless Sensor Networks.</a:t>
            </a:r>
          </a:p>
          <a:p>
            <a:r>
              <a:rPr lang="en-US" sz="2400" dirty="0"/>
              <a:t>Use ensemble and deep learning models such as Stacking, </a:t>
            </a:r>
            <a:r>
              <a:rPr lang="en-US" sz="2400" dirty="0" err="1"/>
              <a:t>XGBoost</a:t>
            </a:r>
            <a:r>
              <a:rPr lang="en-US" sz="2400" dirty="0"/>
              <a:t>, AdaBoost, MLP, and Autoencoder.</a:t>
            </a:r>
          </a:p>
          <a:p>
            <a:r>
              <a:rPr lang="en-US" sz="2400" dirty="0"/>
              <a:t>Detect and classify different cyber-attacks such as Flooding, Blackhole, </a:t>
            </a:r>
            <a:r>
              <a:rPr lang="en-US" sz="2400" dirty="0" err="1"/>
              <a:t>Grayhole</a:t>
            </a:r>
            <a:r>
              <a:rPr lang="en-US" sz="2400" dirty="0"/>
              <a:t>, and TDMA attacks.</a:t>
            </a:r>
          </a:p>
          <a:p>
            <a:r>
              <a:rPr lang="en-US" sz="2400" dirty="0"/>
              <a:t>Analyze network behavior using the WSN-DS dataset.</a:t>
            </a:r>
          </a:p>
          <a:p>
            <a:r>
              <a:rPr lang="en-US" sz="2400" dirty="0"/>
              <a:t>Improve detection accuracy and classification performance compared to single ML models.</a:t>
            </a:r>
          </a:p>
          <a:p>
            <a:r>
              <a:rPr lang="en-US" sz="2400" dirty="0"/>
              <a:t>Provide prevention methods and mitigation suggestions after detecting attacks.</a:t>
            </a:r>
          </a:p>
          <a:p>
            <a:r>
              <a:rPr lang="en-US" sz="2400" dirty="0"/>
              <a:t>Validate system behavior using COOJA simulation.</a:t>
            </a:r>
            <a:endParaRPr lang="en-IN" sz="2400" dirty="0"/>
          </a:p>
        </p:txBody>
      </p:sp>
    </p:spTree>
    <p:extLst>
      <p:ext uri="{BB962C8B-B14F-4D97-AF65-F5344CB8AC3E}">
        <p14:creationId xmlns:p14="http://schemas.microsoft.com/office/powerpoint/2010/main" val="205653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a:xfrm>
            <a:off x="199505" y="1277471"/>
            <a:ext cx="11779135" cy="5069541"/>
          </a:xfrm>
        </p:spPr>
        <p:txBody>
          <a:bodyPr>
            <a:normAutofit/>
          </a:bodyPr>
          <a:lstStyle/>
          <a:p>
            <a:r>
              <a:rPr lang="en-US" sz="2400" dirty="0"/>
              <a:t>Cyber security is important for protecting networks, communication systems, and data from cyber-attacks and unauthorized access</a:t>
            </a:r>
            <a:r>
              <a:rPr lang="en-US" sz="2400" dirty="0">
                <a:sym typeface="+mn-ea"/>
              </a:rPr>
              <a:t>.</a:t>
            </a:r>
          </a:p>
          <a:p>
            <a:r>
              <a:rPr lang="en-US" sz="2400" dirty="0"/>
              <a:t>Wireless Sensor Networks (WSNs) consist of sensor nodes that collect and transmit data wirelessly to a base station</a:t>
            </a:r>
            <a:r>
              <a:rPr lang="en-US" sz="2400" dirty="0">
                <a:sym typeface="+mn-ea"/>
              </a:rPr>
              <a:t>.</a:t>
            </a:r>
          </a:p>
          <a:p>
            <a:r>
              <a:rPr lang="en-US" sz="2400" dirty="0"/>
              <a:t>WSNs are widely used in industrial monitoring, environmental monitoring, healthcare, military applications, and smart city systems</a:t>
            </a:r>
            <a:r>
              <a:rPr lang="en-US" sz="2400" dirty="0">
                <a:sym typeface="+mn-ea"/>
              </a:rPr>
              <a:t>.</a:t>
            </a:r>
          </a:p>
          <a:p>
            <a:r>
              <a:rPr lang="en-US" sz="2400" dirty="0"/>
              <a:t>Due to wireless communication and limited battery, memory, and processing power, WSNs are highly vulnerable to cyber-attacks</a:t>
            </a:r>
            <a:r>
              <a:rPr lang="en-US" sz="2400" dirty="0">
                <a:sym typeface="+mn-ea"/>
              </a:rPr>
              <a:t>.</a:t>
            </a:r>
          </a:p>
          <a:p>
            <a:r>
              <a:rPr lang="en-US" sz="2400" dirty="0"/>
              <a:t>Attacks such as Flooding, Blackhole, </a:t>
            </a:r>
            <a:r>
              <a:rPr lang="en-US" sz="2400" dirty="0" err="1"/>
              <a:t>Grayhole</a:t>
            </a:r>
            <a:r>
              <a:rPr lang="en-US" sz="2400" dirty="0"/>
              <a:t>, and TDMA scheduling attacks can disrupt network communication and affect data reliability</a:t>
            </a:r>
            <a:r>
              <a:rPr lang="en-US" sz="2400" dirty="0">
                <a:sym typeface="+mn-ea"/>
              </a:rPr>
              <a:t>.</a:t>
            </a:r>
          </a:p>
          <a:p>
            <a:r>
              <a:rPr lang="en-US" sz="2400" dirty="0"/>
              <a:t>Machine learning, deep learning, and ensemble learning techniques help in detecting and classifying cyber-attacks by analyzing network behavior</a:t>
            </a:r>
            <a:r>
              <a:rPr lang="en-US" sz="2400" dirty="0">
                <a:sym typeface="+mn-ea"/>
              </a:rPr>
              <a:t>.</a:t>
            </a:r>
            <a:endParaRPr lang="en-US" sz="2400" dirty="0"/>
          </a:p>
        </p:txBody>
      </p:sp>
      <p:sp>
        <p:nvSpPr>
          <p:cNvPr id="4" name="Rectangle 1">
            <a:extLst>
              <a:ext uri="{FF2B5EF4-FFF2-40B4-BE49-F238E27FC236}">
                <a16:creationId xmlns:a16="http://schemas.microsoft.com/office/drawing/2014/main" id="{15E65DA8-2AB4-4204-B0AC-C50B869EA72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r>
              <a:rPr lang="en-US" dirty="0"/>
              <a:t>Existing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199505" y="947651"/>
            <a:ext cx="11779135" cy="5544588"/>
          </a:xfrm>
        </p:spPr>
        <p:txBody>
          <a:bodyPr>
            <a:normAutofit/>
          </a:bodyPr>
          <a:lstStyle/>
          <a:p>
            <a:pPr marL="0" indent="0">
              <a:buNone/>
            </a:pPr>
            <a:endParaRPr lang="en-US" sz="2400" dirty="0"/>
          </a:p>
          <a:p>
            <a:r>
              <a:rPr lang="en-US" sz="2400" dirty="0"/>
              <a:t>Existing cyber security systems for Wireless Sensor Networks mainly use individual machine learning or deep learning models to detect abnormal network behavior.</a:t>
            </a:r>
          </a:p>
          <a:p>
            <a:r>
              <a:rPr lang="en-US" sz="2400" dirty="0"/>
              <a:t>These systems analyze network parameters like packet transmission, node communication and energy usage to identify possible cyber-attacks.</a:t>
            </a:r>
          </a:p>
          <a:p>
            <a:r>
              <a:rPr lang="en-US" sz="2400" dirty="0"/>
              <a:t>Many existing approaches mainly focus on detecting the presence of attacks and may not clearly classify different types of cyber-attacks.</a:t>
            </a:r>
          </a:p>
          <a:p>
            <a:r>
              <a:rPr lang="en-US" sz="2400" dirty="0"/>
              <a:t>Detection performance of single models may vary based on attack type and network conditions.</a:t>
            </a:r>
          </a:p>
          <a:p>
            <a:r>
              <a:rPr lang="en-US" sz="2400" dirty="0"/>
              <a:t>Individual models may not effectively handle complex and diverse cyber attack patterns.</a:t>
            </a:r>
          </a:p>
          <a:p>
            <a:r>
              <a:rPr lang="en-US" sz="2400" dirty="0"/>
              <a:t>Most existing systems focus only on detection and do not provide proper prevention or mitigation methods after attack detection.</a:t>
            </a:r>
            <a:endParaRPr lang="en-IN" sz="2400" dirty="0"/>
          </a:p>
        </p:txBody>
      </p:sp>
    </p:spTree>
    <p:extLst>
      <p:ext uri="{BB962C8B-B14F-4D97-AF65-F5344CB8AC3E}">
        <p14:creationId xmlns:p14="http://schemas.microsoft.com/office/powerpoint/2010/main" val="1520325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r>
              <a:rPr lang="en-US" dirty="0"/>
              <a:t>Proposed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199505" y="820271"/>
            <a:ext cx="11779135" cy="5671968"/>
          </a:xfrm>
        </p:spPr>
        <p:txBody>
          <a:bodyPr>
            <a:normAutofit/>
          </a:bodyPr>
          <a:lstStyle/>
          <a:p>
            <a:pPr marL="0" indent="0">
              <a:buNone/>
            </a:pPr>
            <a:endParaRPr lang="en-US" sz="2400" dirty="0"/>
          </a:p>
          <a:p>
            <a:r>
              <a:rPr lang="en-US" sz="2400" dirty="0"/>
              <a:t>The proposed system is designed to detect, classify, and prevent cyber-attacks in Wireless Sensor Networks using advanced learning techniques.</a:t>
            </a:r>
          </a:p>
          <a:p>
            <a:r>
              <a:rPr lang="en-US" sz="2400" dirty="0"/>
              <a:t>The system uses ensemble and deep learning models such as Stacking, </a:t>
            </a:r>
            <a:r>
              <a:rPr lang="en-US" sz="2400" dirty="0" err="1"/>
              <a:t>XGBoost</a:t>
            </a:r>
            <a:r>
              <a:rPr lang="en-US" sz="2400" dirty="0"/>
              <a:t>, AdaBoost, MLP, and Autoencoder for better detection performance.</a:t>
            </a:r>
          </a:p>
          <a:p>
            <a:r>
              <a:rPr lang="en-US" sz="2400" dirty="0"/>
              <a:t>The system can detect and classify multiple cyber-attacks such as Flooding, Blackhole, </a:t>
            </a:r>
            <a:r>
              <a:rPr lang="en-US" sz="2400" dirty="0" err="1"/>
              <a:t>Grayhole</a:t>
            </a:r>
            <a:r>
              <a:rPr lang="en-US" sz="2400" dirty="0"/>
              <a:t>, and TDMA scheduling attacks.</a:t>
            </a:r>
          </a:p>
          <a:p>
            <a:r>
              <a:rPr lang="en-US" sz="2400" dirty="0"/>
              <a:t>Ensemble learning improves detection accuracy and helps handle complex and diverse attack patterns compared to single models.</a:t>
            </a:r>
          </a:p>
          <a:p>
            <a:r>
              <a:rPr lang="en-US" sz="2400" dirty="0"/>
              <a:t>The system analyzes network behavior using the WSN-DS dataset for training and testing.</a:t>
            </a:r>
          </a:p>
          <a:p>
            <a:r>
              <a:rPr lang="en-US" sz="2400" dirty="0"/>
              <a:t>The system also provides prevention and mitigation suggestions after detecting cyber-attacks and is validated using COOJA simulation.</a:t>
            </a:r>
          </a:p>
          <a:p>
            <a:pPr marL="0" indent="0">
              <a:buNone/>
            </a:pPr>
            <a:endParaRPr lang="en-US" sz="2400" dirty="0"/>
          </a:p>
        </p:txBody>
      </p:sp>
    </p:spTree>
    <p:extLst>
      <p:ext uri="{BB962C8B-B14F-4D97-AF65-F5344CB8AC3E}">
        <p14:creationId xmlns:p14="http://schemas.microsoft.com/office/powerpoint/2010/main" val="1722225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Planning &amp; Design</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IN" sz="2600" b="1" dirty="0"/>
              <a:t>Planning:</a:t>
            </a:r>
          </a:p>
          <a:p>
            <a:r>
              <a:rPr lang="en-US" sz="2400" dirty="0"/>
              <a:t>The project is planned to develop a cyber attack detection, classification, and prevention system for Wireless Sensor Networks.</a:t>
            </a:r>
          </a:p>
          <a:p>
            <a:r>
              <a:rPr lang="en-US" sz="2400" dirty="0"/>
              <a:t>The WSN-DS dataset is selected for training and testing the machine learning and deep learning models.</a:t>
            </a:r>
          </a:p>
          <a:p>
            <a:r>
              <a:rPr lang="en-US" sz="2400" dirty="0"/>
              <a:t>Multiple models such as Stacking, </a:t>
            </a:r>
            <a:r>
              <a:rPr lang="en-US" sz="2400" dirty="0" err="1"/>
              <a:t>XGBoost</a:t>
            </a:r>
            <a:r>
              <a:rPr lang="en-US" sz="2400" dirty="0"/>
              <a:t>, AdaBoost, MLP, and Autoencoder are selected for cyber attack detection and classification</a:t>
            </a:r>
            <a:r>
              <a:rPr lang="en-US" dirty="0"/>
              <a:t>.</a:t>
            </a:r>
          </a:p>
          <a:p>
            <a:r>
              <a:rPr lang="en-US" sz="2400" dirty="0"/>
              <a:t>COOJA simulator is planned to simulate Wireless Sensor Network node communication and cyber attack behavior.</a:t>
            </a:r>
          </a:p>
          <a:p>
            <a:r>
              <a:rPr lang="en-US" sz="2400" dirty="0"/>
              <a:t>The system aims to improve cyber attack detection accuracy and overall network security.</a:t>
            </a:r>
            <a:endParaRPr lang="en-IN" sz="2400" dirty="0"/>
          </a:p>
        </p:txBody>
      </p:sp>
    </p:spTree>
    <p:extLst>
      <p:ext uri="{BB962C8B-B14F-4D97-AF65-F5344CB8AC3E}">
        <p14:creationId xmlns:p14="http://schemas.microsoft.com/office/powerpoint/2010/main" val="621041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Planning &amp; Design</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US" sz="2600" b="1" dirty="0"/>
              <a:t>Design:</a:t>
            </a:r>
          </a:p>
          <a:p>
            <a:r>
              <a:rPr lang="en-US" sz="2400" dirty="0"/>
              <a:t>The system is designed to take network traffic data as input from the Wireless Sensor Network environment</a:t>
            </a:r>
            <a:r>
              <a:rPr lang="en-IN" sz="2400" dirty="0"/>
              <a:t>.</a:t>
            </a:r>
          </a:p>
          <a:p>
            <a:r>
              <a:rPr lang="en-US" sz="2400" dirty="0"/>
              <a:t>The input data is processed using machine learning, deep learning, and ensemble learning models</a:t>
            </a:r>
            <a:r>
              <a:rPr lang="en-IN" dirty="0"/>
              <a:t>.</a:t>
            </a:r>
          </a:p>
          <a:p>
            <a:r>
              <a:rPr lang="en-US" sz="2400" dirty="0"/>
              <a:t>The system is designed to detect and classify different cyber-attacks based on network behavior patterns</a:t>
            </a:r>
            <a:r>
              <a:rPr lang="en-IN" dirty="0"/>
              <a:t>.</a:t>
            </a:r>
          </a:p>
          <a:p>
            <a:r>
              <a:rPr lang="en-US" sz="2400" dirty="0"/>
              <a:t>The system provides prevention and mitigation methods after detecting cyber-attacks</a:t>
            </a:r>
            <a:r>
              <a:rPr lang="en-IN" sz="2400" dirty="0"/>
              <a:t>.</a:t>
            </a:r>
          </a:p>
          <a:p>
            <a:r>
              <a:rPr lang="en-US" sz="2400" dirty="0"/>
              <a:t>COOJA simulation is used to analyze real-time node communication and attack behavior</a:t>
            </a:r>
            <a:r>
              <a:rPr lang="en-IN" sz="2400" dirty="0"/>
              <a:t>.</a:t>
            </a:r>
          </a:p>
          <a:p>
            <a:r>
              <a:rPr lang="en-US" sz="2400" dirty="0"/>
              <a:t>The final output provides attack detection results, attack classification, and prevention support.</a:t>
            </a:r>
            <a:endParaRPr lang="en-IN" sz="2400" dirty="0"/>
          </a:p>
        </p:txBody>
      </p:sp>
    </p:spTree>
    <p:extLst>
      <p:ext uri="{BB962C8B-B14F-4D97-AF65-F5344CB8AC3E}">
        <p14:creationId xmlns:p14="http://schemas.microsoft.com/office/powerpoint/2010/main" val="2636141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Requirements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US" sz="2600" b="1" dirty="0"/>
              <a:t>Functional Requirements:</a:t>
            </a:r>
          </a:p>
          <a:p>
            <a:r>
              <a:rPr lang="en-US" sz="2400" dirty="0"/>
              <a:t>The system should allow users to upload WSN network dataset files for analysis.</a:t>
            </a:r>
          </a:p>
          <a:p>
            <a:r>
              <a:rPr lang="en-US" sz="2400" dirty="0"/>
              <a:t>The system should allow selection of different machine learning models for cyber attack detection.</a:t>
            </a:r>
          </a:p>
          <a:p>
            <a:r>
              <a:rPr lang="en-US" sz="2400" dirty="0"/>
              <a:t>The system should detect cyber-attacks based on network traffic data.</a:t>
            </a:r>
          </a:p>
          <a:p>
            <a:r>
              <a:rPr lang="en-US" sz="2400" dirty="0"/>
              <a:t>The system should classify detected cyber-attacks into specific attack types.</a:t>
            </a:r>
          </a:p>
          <a:p>
            <a:r>
              <a:rPr lang="en-US" sz="2400" dirty="0"/>
              <a:t>The system should provide prevention and mitigation suggestions after attack detection.</a:t>
            </a:r>
          </a:p>
          <a:p>
            <a:r>
              <a:rPr lang="en-US" sz="2400" dirty="0"/>
              <a:t>The system should display prediction results and forensic analysis information to the user.</a:t>
            </a:r>
            <a:endParaRPr lang="en-IN" sz="2400" dirty="0"/>
          </a:p>
        </p:txBody>
      </p:sp>
    </p:spTree>
    <p:extLst>
      <p:ext uri="{BB962C8B-B14F-4D97-AF65-F5344CB8AC3E}">
        <p14:creationId xmlns:p14="http://schemas.microsoft.com/office/powerpoint/2010/main" val="168218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Requirements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US" sz="2600" b="1" dirty="0"/>
              <a:t>Non-Functional Requirements:</a:t>
            </a:r>
          </a:p>
          <a:p>
            <a:r>
              <a:rPr lang="en-US" sz="2400" dirty="0"/>
              <a:t>The system should provide high detection accuracy for cyber attack identification.</a:t>
            </a:r>
          </a:p>
          <a:p>
            <a:r>
              <a:rPr lang="en-US" sz="2400" dirty="0"/>
              <a:t>The system should ensure reliable and consistent performance during analysis.</a:t>
            </a:r>
          </a:p>
          <a:p>
            <a:r>
              <a:rPr lang="en-US" sz="2400" dirty="0"/>
              <a:t>The system should provide fast processing and response time for prediction results.</a:t>
            </a:r>
          </a:p>
          <a:p>
            <a:r>
              <a:rPr lang="en-US" sz="2400" dirty="0"/>
              <a:t>The system should ensure data security and safe handling of uploaded datasets.</a:t>
            </a:r>
          </a:p>
          <a:p>
            <a:r>
              <a:rPr lang="en-US" sz="2400" dirty="0"/>
              <a:t>The system should provide a user-friendly interface for easy interaction.</a:t>
            </a:r>
          </a:p>
          <a:p>
            <a:r>
              <a:rPr lang="en-US" sz="2400" dirty="0"/>
              <a:t>The system should be scalable to handle large WSN datasets and multiple users.</a:t>
            </a:r>
            <a:endParaRPr lang="en-IN" sz="2400" dirty="0"/>
          </a:p>
        </p:txBody>
      </p:sp>
    </p:spTree>
    <p:extLst>
      <p:ext uri="{BB962C8B-B14F-4D97-AF65-F5344CB8AC3E}">
        <p14:creationId xmlns:p14="http://schemas.microsoft.com/office/powerpoint/2010/main" val="120312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Modules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206432" y="1097279"/>
            <a:ext cx="5575803" cy="5394960"/>
          </a:xfrm>
        </p:spPr>
        <p:txBody>
          <a:bodyPr>
            <a:normAutofit lnSpcReduction="10000"/>
          </a:bodyPr>
          <a:lstStyle/>
          <a:p>
            <a:pPr marL="0" indent="0">
              <a:buNone/>
            </a:pPr>
            <a:r>
              <a:rPr lang="en-US" sz="2600" b="1" dirty="0"/>
              <a:t>User Modules:</a:t>
            </a:r>
          </a:p>
          <a:p>
            <a:r>
              <a:rPr lang="en-US" sz="2400" b="1" dirty="0"/>
              <a:t>Registration &amp; Login: </a:t>
            </a:r>
            <a:r>
              <a:rPr lang="en-US" sz="2400" dirty="0"/>
              <a:t>Users can register and log in securely to access the system.</a:t>
            </a:r>
          </a:p>
          <a:p>
            <a:r>
              <a:rPr lang="en-IN" sz="2400" b="1" dirty="0"/>
              <a:t>Dataset Upload</a:t>
            </a:r>
            <a:r>
              <a:rPr lang="en-US" sz="2400" b="1" dirty="0"/>
              <a:t>: </a:t>
            </a:r>
            <a:r>
              <a:rPr lang="en-US" sz="2400" dirty="0"/>
              <a:t>Users can upload WSN network dataset files for cyber attack analysis.</a:t>
            </a:r>
          </a:p>
          <a:p>
            <a:r>
              <a:rPr lang="en-IN" sz="2400" b="1" dirty="0"/>
              <a:t>Model Selection &amp; Prediction</a:t>
            </a:r>
            <a:r>
              <a:rPr lang="en-US" sz="2400" b="1" dirty="0"/>
              <a:t>:</a:t>
            </a:r>
            <a:r>
              <a:rPr lang="en-US" sz="2400" dirty="0"/>
              <a:t>Users can select machine learning models and perform cyber attack detection. </a:t>
            </a:r>
          </a:p>
          <a:p>
            <a:r>
              <a:rPr lang="en-IN" sz="2400" b="1" dirty="0"/>
              <a:t>Attack </a:t>
            </a:r>
            <a:r>
              <a:rPr lang="en-IN" sz="2400" b="1" dirty="0" err="1"/>
              <a:t>DetectionResults</a:t>
            </a:r>
            <a:r>
              <a:rPr lang="en-US" sz="2400" b="1" dirty="0"/>
              <a:t>:</a:t>
            </a:r>
            <a:r>
              <a:rPr lang="en-US" sz="2400" dirty="0"/>
              <a:t>Users can view detected attack type, severity level, and analysis results.</a:t>
            </a:r>
          </a:p>
          <a:p>
            <a:r>
              <a:rPr lang="en-IN" sz="2400" b="1" dirty="0"/>
              <a:t>Prevention &amp; Forensic Report</a:t>
            </a:r>
            <a:r>
              <a:rPr lang="en-US" sz="2400" b="1" dirty="0"/>
              <a:t>: </a:t>
            </a:r>
            <a:r>
              <a:rPr lang="en-US" sz="2400" dirty="0"/>
              <a:t>Users can view prevention methods and forensic analysis details.</a:t>
            </a:r>
            <a:endParaRPr lang="en-IN" sz="2400" dirty="0"/>
          </a:p>
        </p:txBody>
      </p:sp>
      <p:sp>
        <p:nvSpPr>
          <p:cNvPr id="8" name="Content Placeholder 2">
            <a:extLst>
              <a:ext uri="{FF2B5EF4-FFF2-40B4-BE49-F238E27FC236}">
                <a16:creationId xmlns:a16="http://schemas.microsoft.com/office/drawing/2014/main" id="{0D19E6F1-3326-42C1-8B0F-B43D729E345D}"/>
              </a:ext>
            </a:extLst>
          </p:cNvPr>
          <p:cNvSpPr txBox="1">
            <a:spLocks/>
          </p:cNvSpPr>
          <p:nvPr/>
        </p:nvSpPr>
        <p:spPr>
          <a:xfrm>
            <a:off x="5993150" y="1123276"/>
            <a:ext cx="5992418" cy="5394960"/>
          </a:xfrm>
          <a:prstGeom prst="rect">
            <a:avLst/>
          </a:prstGeom>
        </p:spPr>
        <p:txBody>
          <a:bodyPr vert="horz" lIns="91440" tIns="45720" rIns="91440" bIns="45720" rtlCol="0">
            <a:normAutofit fontScale="92500"/>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600" b="1" dirty="0"/>
              <a:t>System Modules:</a:t>
            </a:r>
          </a:p>
          <a:p>
            <a:r>
              <a:rPr lang="en-IN" sz="2400" b="1" dirty="0"/>
              <a:t>Attack Detection Module</a:t>
            </a:r>
            <a:r>
              <a:rPr lang="en-US" sz="2400" b="1" dirty="0"/>
              <a:t>: </a:t>
            </a:r>
            <a:r>
              <a:rPr lang="en-US" sz="2400" dirty="0"/>
              <a:t>Uses machine learning, deep learning, and ensemble models to detect cyber attacks.</a:t>
            </a:r>
          </a:p>
          <a:p>
            <a:r>
              <a:rPr lang="en-IN" sz="2400" b="1" dirty="0"/>
              <a:t>Attack Classification Module</a:t>
            </a:r>
            <a:r>
              <a:rPr lang="en-US" sz="2400" b="1" dirty="0"/>
              <a:t>: </a:t>
            </a:r>
            <a:r>
              <a:rPr lang="en-US" sz="2400" dirty="0"/>
              <a:t>Classifies detected attacks into specific cyber attack types.</a:t>
            </a:r>
          </a:p>
          <a:p>
            <a:r>
              <a:rPr lang="en-IN" sz="2400" b="1" dirty="0"/>
              <a:t>Prevention Suggestion Module</a:t>
            </a:r>
            <a:r>
              <a:rPr lang="en-US" sz="2400" b="1" dirty="0"/>
              <a:t>: </a:t>
            </a:r>
            <a:r>
              <a:rPr lang="en-US" sz="2400" dirty="0"/>
              <a:t>Generates prevention and mitigation methods for detected attacks. </a:t>
            </a:r>
          </a:p>
          <a:p>
            <a:r>
              <a:rPr lang="en-IN" sz="2400" b="1" dirty="0"/>
              <a:t>Forensic Logging Module</a:t>
            </a:r>
            <a:r>
              <a:rPr lang="en-US" sz="2400" b="1" dirty="0"/>
              <a:t>: </a:t>
            </a:r>
            <a:r>
              <a:rPr lang="en-US" sz="2400" dirty="0"/>
              <a:t>Stores attack details, severity level, and mitigation data for analysis.</a:t>
            </a:r>
          </a:p>
          <a:p>
            <a:r>
              <a:rPr lang="en-IN" sz="2400" b="1" dirty="0"/>
              <a:t>Result Visualization Module </a:t>
            </a:r>
            <a:r>
              <a:rPr lang="en-US" sz="2400" b="1" dirty="0"/>
              <a:t>: </a:t>
            </a:r>
            <a:r>
              <a:rPr lang="en-US" sz="2400" dirty="0"/>
              <a:t>Displays attack results, severity levels, and analysis reports in a user-friendly format.</a:t>
            </a:r>
            <a:endParaRPr lang="en-IN" sz="2400" dirty="0"/>
          </a:p>
        </p:txBody>
      </p:sp>
    </p:spTree>
    <p:extLst>
      <p:ext uri="{BB962C8B-B14F-4D97-AF65-F5344CB8AC3E}">
        <p14:creationId xmlns:p14="http://schemas.microsoft.com/office/powerpoint/2010/main" val="200627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UML Diagrams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199506" y="1097279"/>
            <a:ext cx="4305260" cy="5394960"/>
          </a:xfrm>
        </p:spPr>
        <p:txBody>
          <a:bodyPr>
            <a:normAutofit fontScale="92500"/>
          </a:bodyPr>
          <a:lstStyle/>
          <a:p>
            <a:pPr marL="0" indent="0">
              <a:buNone/>
            </a:pPr>
            <a:r>
              <a:rPr lang="en-US" sz="2600" b="1" dirty="0"/>
              <a:t>Use Case Diagram:</a:t>
            </a:r>
          </a:p>
          <a:p>
            <a:r>
              <a:rPr lang="en-US" sz="2400" dirty="0"/>
              <a:t>The UML Use Case Diagram shows the interaction between the user and the cyber attack detection and prevention system.. </a:t>
            </a:r>
          </a:p>
          <a:p>
            <a:r>
              <a:rPr lang="en-US" sz="2400" dirty="0"/>
              <a:t>The user can register, log in, upload WSN dataset, and select machine learning models for attack detection.</a:t>
            </a:r>
          </a:p>
          <a:p>
            <a:r>
              <a:rPr lang="en-US" sz="2400" dirty="0"/>
              <a:t>The system detects and classifies cyberattacks and provides prevention suggestions.</a:t>
            </a:r>
          </a:p>
          <a:p>
            <a:r>
              <a:rPr lang="en-US" sz="2400" dirty="0"/>
              <a:t>The system also stores attack details in forensic logs for monitoring and analysis.</a:t>
            </a:r>
            <a:endParaRPr lang="en-IN" sz="2400" dirty="0"/>
          </a:p>
        </p:txBody>
      </p:sp>
      <p:pic>
        <p:nvPicPr>
          <p:cNvPr id="4" name="Picture 3">
            <a:extLst>
              <a:ext uri="{FF2B5EF4-FFF2-40B4-BE49-F238E27FC236}">
                <a16:creationId xmlns:a16="http://schemas.microsoft.com/office/drawing/2014/main" id="{E7FE8267-CFFA-4817-930D-538322E567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073462" y="1528109"/>
            <a:ext cx="6267450"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226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Data Flow Diagram</a:t>
            </a:r>
            <a:endParaRPr lang="en-IN" dirty="0"/>
          </a:p>
        </p:txBody>
      </p:sp>
      <p:pic>
        <p:nvPicPr>
          <p:cNvPr id="7" name="Picture 6">
            <a:extLst>
              <a:ext uri="{FF2B5EF4-FFF2-40B4-BE49-F238E27FC236}">
                <a16:creationId xmlns:a16="http://schemas.microsoft.com/office/drawing/2014/main" id="{3365C996-109C-4105-8FE2-B76AB5446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3529" y="947651"/>
            <a:ext cx="7941487" cy="5294325"/>
          </a:xfrm>
          <a:prstGeom prst="rect">
            <a:avLst/>
          </a:prstGeom>
        </p:spPr>
      </p:pic>
    </p:spTree>
    <p:extLst>
      <p:ext uri="{BB962C8B-B14F-4D97-AF65-F5344CB8AC3E}">
        <p14:creationId xmlns:p14="http://schemas.microsoft.com/office/powerpoint/2010/main" val="2706814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Data Flow Diagram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endParaRPr lang="en-US" sz="2400" dirty="0"/>
          </a:p>
          <a:p>
            <a:r>
              <a:rPr lang="en-US" sz="2400" dirty="0"/>
              <a:t>The diagram shows how data flows between the user, system processing unit, and data storage components..</a:t>
            </a:r>
          </a:p>
          <a:p>
            <a:r>
              <a:rPr lang="en-US" sz="2400" dirty="0"/>
              <a:t>The user performs actions such as login, dataset upload, and machine learning model selection.</a:t>
            </a:r>
          </a:p>
          <a:p>
            <a:r>
              <a:rPr lang="en-US" sz="2400" dirty="0"/>
              <a:t>The system processes the uploaded dataset using trained machine learning models to detect cyber attacks.</a:t>
            </a:r>
          </a:p>
          <a:p>
            <a:r>
              <a:rPr lang="en-US" sz="2400" dirty="0"/>
              <a:t>The system classifies detected attacks and generates prevention suggestions and forensic reports.</a:t>
            </a:r>
          </a:p>
          <a:p>
            <a:r>
              <a:rPr lang="en-US" sz="2400" dirty="0"/>
              <a:t>Important data such as user information, dataset files, ML models, and forensic logs are stored in separate data storage modules.</a:t>
            </a:r>
          </a:p>
          <a:p>
            <a:r>
              <a:rPr lang="en-US" sz="2400" dirty="0"/>
              <a:t>The system sends detection results, attack classification details, and prevention suggestions back to the user.</a:t>
            </a:r>
            <a:endParaRPr lang="en-IN" sz="2400" dirty="0"/>
          </a:p>
        </p:txBody>
      </p:sp>
    </p:spTree>
    <p:extLst>
      <p:ext uri="{BB962C8B-B14F-4D97-AF65-F5344CB8AC3E}">
        <p14:creationId xmlns:p14="http://schemas.microsoft.com/office/powerpoint/2010/main" val="3503315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Sample Code</a:t>
            </a:r>
            <a:endParaRPr lang="en-IN" dirty="0"/>
          </a:p>
        </p:txBody>
      </p:sp>
      <p:pic>
        <p:nvPicPr>
          <p:cNvPr id="5" name="Content Placeholder 4">
            <a:extLst>
              <a:ext uri="{FF2B5EF4-FFF2-40B4-BE49-F238E27FC236}">
                <a16:creationId xmlns:a16="http://schemas.microsoft.com/office/drawing/2014/main" id="{1BC34293-79A9-4C79-B1B5-3A8D18F828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3284" y="1096963"/>
            <a:ext cx="9592732" cy="5395912"/>
          </a:xfrm>
        </p:spPr>
      </p:pic>
    </p:spTree>
    <p:extLst>
      <p:ext uri="{BB962C8B-B14F-4D97-AF65-F5344CB8AC3E}">
        <p14:creationId xmlns:p14="http://schemas.microsoft.com/office/powerpoint/2010/main" val="498158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Sample Code</a:t>
            </a:r>
            <a:endParaRPr lang="en-IN" dirty="0"/>
          </a:p>
        </p:txBody>
      </p:sp>
      <p:pic>
        <p:nvPicPr>
          <p:cNvPr id="5" name="Content Placeholder 4">
            <a:extLst>
              <a:ext uri="{FF2B5EF4-FFF2-40B4-BE49-F238E27FC236}">
                <a16:creationId xmlns:a16="http://schemas.microsoft.com/office/drawing/2014/main" id="{C4F347F7-B632-4C4E-A97B-E76C226ABD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3284" y="1096963"/>
            <a:ext cx="9592732" cy="5395912"/>
          </a:xfrm>
        </p:spPr>
      </p:pic>
    </p:spTree>
    <p:extLst>
      <p:ext uri="{BB962C8B-B14F-4D97-AF65-F5344CB8AC3E}">
        <p14:creationId xmlns:p14="http://schemas.microsoft.com/office/powerpoint/2010/main" val="863378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17714"/>
            <a:ext cx="12192000" cy="686394"/>
          </a:xfrm>
        </p:spPr>
        <p:txBody>
          <a:bodyPr/>
          <a:lstStyle/>
          <a:p>
            <a:r>
              <a:rPr lang="en-US" dirty="0"/>
              <a:t>Output Screens</a:t>
            </a:r>
            <a:br>
              <a:rPr lang="en-IN" b="1" dirty="0"/>
            </a:br>
            <a:endParaRPr lang="en-IN" sz="2400" b="1" dirty="0">
              <a:solidFill>
                <a:schemeClr val="tx1"/>
              </a:solidFill>
              <a:effectLst/>
            </a:endParaRPr>
          </a:p>
        </p:txBody>
      </p:sp>
      <p:pic>
        <p:nvPicPr>
          <p:cNvPr id="4" name="Picture 3">
            <a:extLst>
              <a:ext uri="{FF2B5EF4-FFF2-40B4-BE49-F238E27FC236}">
                <a16:creationId xmlns:a16="http://schemas.microsoft.com/office/drawing/2014/main" id="{FC9C0D0D-A9BB-433A-A9E2-787BFFD6C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5498" y="1481760"/>
            <a:ext cx="8721002" cy="4905564"/>
          </a:xfrm>
          <a:prstGeom prst="rect">
            <a:avLst/>
          </a:prstGeom>
        </p:spPr>
      </p:pic>
      <p:sp>
        <p:nvSpPr>
          <p:cNvPr id="5" name="TextBox 4">
            <a:extLst>
              <a:ext uri="{FF2B5EF4-FFF2-40B4-BE49-F238E27FC236}">
                <a16:creationId xmlns:a16="http://schemas.microsoft.com/office/drawing/2014/main" id="{C4855857-8FE4-4DBC-96B9-6E659B577782}"/>
              </a:ext>
            </a:extLst>
          </p:cNvPr>
          <p:cNvSpPr txBox="1"/>
          <p:nvPr/>
        </p:nvSpPr>
        <p:spPr>
          <a:xfrm>
            <a:off x="493486" y="1020095"/>
            <a:ext cx="11205027" cy="461665"/>
          </a:xfrm>
          <a:prstGeom prst="rect">
            <a:avLst/>
          </a:prstGeom>
          <a:noFill/>
        </p:spPr>
        <p:txBody>
          <a:bodyPr wrap="square" rtlCol="0">
            <a:spAutoFit/>
          </a:bodyPr>
          <a:lstStyle/>
          <a:p>
            <a:pPr algn="ctr"/>
            <a:r>
              <a:rPr lang="en-IN" sz="2400" b="1" dirty="0">
                <a:solidFill>
                  <a:schemeClr val="tx1"/>
                </a:solidFill>
                <a:effectLst/>
                <a:latin typeface="Times New Roman" panose="02020603050405020304" pitchFamily="18" charset="0"/>
                <a:cs typeface="Times New Roman" panose="02020603050405020304" pitchFamily="18" charset="0"/>
              </a:rPr>
              <a:t>Homepage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690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17714"/>
            <a:ext cx="12192000" cy="686394"/>
          </a:xfrm>
        </p:spPr>
        <p:txBody>
          <a:bodyPr/>
          <a:lstStyle/>
          <a:p>
            <a:r>
              <a:rPr lang="en-US" dirty="0"/>
              <a:t>Output Screens</a:t>
            </a:r>
            <a:br>
              <a:rPr lang="en-IN" b="1" dirty="0"/>
            </a:br>
            <a:endParaRPr lang="en-IN" sz="2400" b="1" dirty="0">
              <a:solidFill>
                <a:schemeClr val="tx1"/>
              </a:solidFill>
              <a:effectLst/>
            </a:endParaRPr>
          </a:p>
        </p:txBody>
      </p:sp>
      <p:pic>
        <p:nvPicPr>
          <p:cNvPr id="4" name="Picture 3">
            <a:extLst>
              <a:ext uri="{FF2B5EF4-FFF2-40B4-BE49-F238E27FC236}">
                <a16:creationId xmlns:a16="http://schemas.microsoft.com/office/drawing/2014/main" id="{FC9C0D0D-A9BB-433A-A9E2-787BFFD6C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5498" y="1481760"/>
            <a:ext cx="8721002" cy="4905563"/>
          </a:xfrm>
          <a:prstGeom prst="rect">
            <a:avLst/>
          </a:prstGeom>
        </p:spPr>
      </p:pic>
      <p:sp>
        <p:nvSpPr>
          <p:cNvPr id="5" name="TextBox 4">
            <a:extLst>
              <a:ext uri="{FF2B5EF4-FFF2-40B4-BE49-F238E27FC236}">
                <a16:creationId xmlns:a16="http://schemas.microsoft.com/office/drawing/2014/main" id="{C4855857-8FE4-4DBC-96B9-6E659B577782}"/>
              </a:ext>
            </a:extLst>
          </p:cNvPr>
          <p:cNvSpPr txBox="1"/>
          <p:nvPr/>
        </p:nvSpPr>
        <p:spPr>
          <a:xfrm>
            <a:off x="493486" y="1020095"/>
            <a:ext cx="11205027"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About </a:t>
            </a:r>
            <a:r>
              <a:rPr lang="en-IN" sz="2400" b="1" dirty="0">
                <a:solidFill>
                  <a:schemeClr val="tx1"/>
                </a:solidFill>
                <a:effectLst/>
                <a:latin typeface="Times New Roman" panose="02020603050405020304" pitchFamily="18" charset="0"/>
                <a:cs typeface="Times New Roman" panose="02020603050405020304" pitchFamily="18" charset="0"/>
              </a:rPr>
              <a:t>page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4268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4721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a:t>
            </a:r>
            <a:r>
              <a:rPr lang="en-IN" sz="2400" b="1" dirty="0" err="1">
                <a:latin typeface="Times New Roman" panose="02020603050405020304" pitchFamily="18" charset="0"/>
                <a:cs typeface="Times New Roman" panose="02020603050405020304" pitchFamily="18" charset="0"/>
              </a:rPr>
              <a:t>ignup</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Create user account by providing the details</a:t>
            </a:r>
          </a:p>
        </p:txBody>
      </p:sp>
      <p:pic>
        <p:nvPicPr>
          <p:cNvPr id="10" name="Picture 9">
            <a:extLst>
              <a:ext uri="{FF2B5EF4-FFF2-40B4-BE49-F238E27FC236}">
                <a16:creationId xmlns:a16="http://schemas.microsoft.com/office/drawing/2014/main" id="{7D92BF64-A9F9-42F3-ABAA-E96389192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462" y="1597747"/>
            <a:ext cx="8696218" cy="4891623"/>
          </a:xfrm>
          <a:prstGeom prst="rect">
            <a:avLst/>
          </a:prstGeom>
        </p:spPr>
      </p:pic>
    </p:spTree>
    <p:extLst>
      <p:ext uri="{BB962C8B-B14F-4D97-AF65-F5344CB8AC3E}">
        <p14:creationId xmlns:p14="http://schemas.microsoft.com/office/powerpoint/2010/main" val="115669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1" y="217714"/>
            <a:ext cx="12192000" cy="675768"/>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b="1" dirty="0">
                <a:latin typeface="Times New Roman"/>
                <a:cs typeface="Times New Roman"/>
              </a:rPr>
              <a:t>Login page</a:t>
            </a:r>
            <a:endParaRPr lang="en-US" sz="2400" dirty="0">
              <a:latin typeface="Times New Roman"/>
              <a:cs typeface="Times New Roman"/>
            </a:endParaRPr>
          </a:p>
        </p:txBody>
      </p:sp>
      <p:pic>
        <p:nvPicPr>
          <p:cNvPr id="4" name="Picture 3">
            <a:extLst>
              <a:ext uri="{FF2B5EF4-FFF2-40B4-BE49-F238E27FC236}">
                <a16:creationId xmlns:a16="http://schemas.microsoft.com/office/drawing/2014/main" id="{214ACF94-75BD-43A8-BC68-9D8628F20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66" y="1481760"/>
            <a:ext cx="8923667" cy="5019563"/>
          </a:xfrm>
          <a:prstGeom prst="rect">
            <a:avLst/>
          </a:prstGeom>
        </p:spPr>
      </p:pic>
    </p:spTree>
    <p:extLst>
      <p:ext uri="{BB962C8B-B14F-4D97-AF65-F5344CB8AC3E}">
        <p14:creationId xmlns:p14="http://schemas.microsoft.com/office/powerpoint/2010/main" val="3067959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4721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8965" y="1020095"/>
            <a:ext cx="11205027" cy="461665"/>
          </a:xfrm>
          <a:prstGeom prst="rect">
            <a:avLst/>
          </a:prstGeom>
          <a:noFill/>
        </p:spPr>
        <p:txBody>
          <a:bodyPr wrap="square" rtlCol="0">
            <a:spAutoFit/>
          </a:bodyPr>
          <a:lstStyle/>
          <a:p>
            <a:pPr marL="8145" algn="ctr">
              <a:spcBef>
                <a:spcPts val="64"/>
              </a:spcBef>
            </a:pPr>
            <a:r>
              <a:rPr lang="en-IN" sz="2400" b="1" dirty="0">
                <a:latin typeface="Times New Roman"/>
                <a:cs typeface="Times New Roman"/>
              </a:rPr>
              <a:t>Contact Page</a:t>
            </a:r>
            <a:endParaRPr lang="en-IN" sz="2400" dirty="0">
              <a:latin typeface="Times New Roman"/>
              <a:cs typeface="Times New Roman"/>
            </a:endParaRPr>
          </a:p>
        </p:txBody>
      </p:sp>
      <p:pic>
        <p:nvPicPr>
          <p:cNvPr id="4" name="Picture 3">
            <a:extLst>
              <a:ext uri="{FF2B5EF4-FFF2-40B4-BE49-F238E27FC236}">
                <a16:creationId xmlns:a16="http://schemas.microsoft.com/office/drawing/2014/main" id="{98E3F2BA-E128-490E-8D8C-B59E47872D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144" y="1597747"/>
            <a:ext cx="8541998" cy="4804874"/>
          </a:xfrm>
          <a:prstGeom prst="rect">
            <a:avLst/>
          </a:prstGeom>
        </p:spPr>
      </p:pic>
    </p:spTree>
    <p:extLst>
      <p:ext uri="{BB962C8B-B14F-4D97-AF65-F5344CB8AC3E}">
        <p14:creationId xmlns:p14="http://schemas.microsoft.com/office/powerpoint/2010/main" val="3765431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51478"/>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Datasets uploading page</a:t>
            </a:r>
          </a:p>
        </p:txBody>
      </p:sp>
      <p:pic>
        <p:nvPicPr>
          <p:cNvPr id="6" name="Picture 5">
            <a:extLst>
              <a:ext uri="{FF2B5EF4-FFF2-40B4-BE49-F238E27FC236}">
                <a16:creationId xmlns:a16="http://schemas.microsoft.com/office/drawing/2014/main" id="{644FBB4C-1191-43B8-A2A6-4287D73A8D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656" y="1481760"/>
            <a:ext cx="9110688" cy="5124762"/>
          </a:xfrm>
          <a:prstGeom prst="rect">
            <a:avLst/>
          </a:prstGeom>
        </p:spPr>
      </p:pic>
    </p:spTree>
    <p:extLst>
      <p:ext uri="{BB962C8B-B14F-4D97-AF65-F5344CB8AC3E}">
        <p14:creationId xmlns:p14="http://schemas.microsoft.com/office/powerpoint/2010/main" val="1063595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51478"/>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Prevention methods and attack classification</a:t>
            </a:r>
          </a:p>
        </p:txBody>
      </p:sp>
      <p:pic>
        <p:nvPicPr>
          <p:cNvPr id="3" name="Picture 2">
            <a:extLst>
              <a:ext uri="{FF2B5EF4-FFF2-40B4-BE49-F238E27FC236}">
                <a16:creationId xmlns:a16="http://schemas.microsoft.com/office/drawing/2014/main" id="{69F27892-0F83-4EF9-801A-4A446C28ED16}"/>
              </a:ext>
            </a:extLst>
          </p:cNvPr>
          <p:cNvPicPr>
            <a:picLocks noChangeAspect="1"/>
          </p:cNvPicPr>
          <p:nvPr/>
        </p:nvPicPr>
        <p:blipFill>
          <a:blip r:embed="rId2"/>
          <a:stretch>
            <a:fillRect/>
          </a:stretch>
        </p:blipFill>
        <p:spPr>
          <a:xfrm>
            <a:off x="1999673" y="1634836"/>
            <a:ext cx="8345054" cy="4655128"/>
          </a:xfrm>
          <a:prstGeom prst="rect">
            <a:avLst/>
          </a:prstGeom>
        </p:spPr>
      </p:pic>
    </p:spTree>
    <p:extLst>
      <p:ext uri="{BB962C8B-B14F-4D97-AF65-F5344CB8AC3E}">
        <p14:creationId xmlns:p14="http://schemas.microsoft.com/office/powerpoint/2010/main" val="2811399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IN" sz="2400" b="1" spc="-13" dirty="0">
                <a:latin typeface="Times New Roman"/>
                <a:cs typeface="Times New Roman"/>
              </a:rPr>
              <a:t>View Data Page</a:t>
            </a:r>
            <a:r>
              <a:rPr lang="en-US" sz="2400" spc="-13" dirty="0">
                <a:latin typeface="Times New Roman"/>
                <a:cs typeface="Times New Roman"/>
              </a:rPr>
              <a:t> </a:t>
            </a:r>
            <a:endParaRPr lang="en-US" sz="2400" dirty="0">
              <a:latin typeface="Times New Roman"/>
              <a:cs typeface="Times New Roman"/>
            </a:endParaRPr>
          </a:p>
        </p:txBody>
      </p:sp>
      <p:pic>
        <p:nvPicPr>
          <p:cNvPr id="4" name="Picture 3">
            <a:extLst>
              <a:ext uri="{FF2B5EF4-FFF2-40B4-BE49-F238E27FC236}">
                <a16:creationId xmlns:a16="http://schemas.microsoft.com/office/drawing/2014/main" id="{20CA01B0-8E7B-456A-843A-67E5AC04B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412" y="1481760"/>
            <a:ext cx="9015176" cy="5071037"/>
          </a:xfrm>
          <a:prstGeom prst="rect">
            <a:avLst/>
          </a:prstGeom>
        </p:spPr>
      </p:pic>
    </p:spTree>
    <p:extLst>
      <p:ext uri="{BB962C8B-B14F-4D97-AF65-F5344CB8AC3E}">
        <p14:creationId xmlns:p14="http://schemas.microsoft.com/office/powerpoint/2010/main" val="7659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b="1" dirty="0">
                <a:latin typeface="Times New Roman"/>
                <a:cs typeface="Times New Roman"/>
              </a:rPr>
              <a:t>Algorithm Accuracy Page</a:t>
            </a:r>
            <a:endParaRPr lang="en-US" sz="2400" dirty="0">
              <a:latin typeface="Times New Roman"/>
              <a:cs typeface="Times New Roman"/>
            </a:endParaRPr>
          </a:p>
        </p:txBody>
      </p:sp>
      <p:pic>
        <p:nvPicPr>
          <p:cNvPr id="6" name="Picture 5">
            <a:extLst>
              <a:ext uri="{FF2B5EF4-FFF2-40B4-BE49-F238E27FC236}">
                <a16:creationId xmlns:a16="http://schemas.microsoft.com/office/drawing/2014/main" id="{2E9BC4A8-FA59-46B1-9621-FC42EE3C3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503" y="1481760"/>
            <a:ext cx="9122992" cy="5131683"/>
          </a:xfrm>
          <a:prstGeom prst="rect">
            <a:avLst/>
          </a:prstGeom>
        </p:spPr>
      </p:pic>
    </p:spTree>
    <p:extLst>
      <p:ext uri="{BB962C8B-B14F-4D97-AF65-F5344CB8AC3E}">
        <p14:creationId xmlns:p14="http://schemas.microsoft.com/office/powerpoint/2010/main" val="824169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Prediction Page</a:t>
            </a:r>
          </a:p>
        </p:txBody>
      </p:sp>
      <p:pic>
        <p:nvPicPr>
          <p:cNvPr id="4" name="Picture 3">
            <a:extLst>
              <a:ext uri="{FF2B5EF4-FFF2-40B4-BE49-F238E27FC236}">
                <a16:creationId xmlns:a16="http://schemas.microsoft.com/office/drawing/2014/main" id="{21063AC1-26D6-4560-A27A-FAD1E46A3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985" y="1481760"/>
            <a:ext cx="9071399" cy="5102662"/>
          </a:xfrm>
          <a:prstGeom prst="rect">
            <a:avLst/>
          </a:prstGeom>
        </p:spPr>
      </p:pic>
    </p:spTree>
    <p:extLst>
      <p:ext uri="{BB962C8B-B14F-4D97-AF65-F5344CB8AC3E}">
        <p14:creationId xmlns:p14="http://schemas.microsoft.com/office/powerpoint/2010/main" val="2462995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Dashboard</a:t>
            </a:r>
          </a:p>
        </p:txBody>
      </p:sp>
      <p:pic>
        <p:nvPicPr>
          <p:cNvPr id="4" name="Picture 3">
            <a:extLst>
              <a:ext uri="{FF2B5EF4-FFF2-40B4-BE49-F238E27FC236}">
                <a16:creationId xmlns:a16="http://schemas.microsoft.com/office/drawing/2014/main" id="{E2F0C66B-A699-4620-AFE1-37B11F103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7015" y="1481760"/>
            <a:ext cx="8757969" cy="4926358"/>
          </a:xfrm>
          <a:prstGeom prst="rect">
            <a:avLst/>
          </a:prstGeom>
        </p:spPr>
      </p:pic>
    </p:spTree>
    <p:extLst>
      <p:ext uri="{BB962C8B-B14F-4D97-AF65-F5344CB8AC3E}">
        <p14:creationId xmlns:p14="http://schemas.microsoft.com/office/powerpoint/2010/main" val="965912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Forensic Report</a:t>
            </a:r>
          </a:p>
        </p:txBody>
      </p:sp>
      <p:pic>
        <p:nvPicPr>
          <p:cNvPr id="6" name="Picture 5">
            <a:extLst>
              <a:ext uri="{FF2B5EF4-FFF2-40B4-BE49-F238E27FC236}">
                <a16:creationId xmlns:a16="http://schemas.microsoft.com/office/drawing/2014/main" id="{6BF2DBC9-96A6-42D6-84DC-5465C5900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785" y="1481760"/>
            <a:ext cx="8657799" cy="4870012"/>
          </a:xfrm>
          <a:prstGeom prst="rect">
            <a:avLst/>
          </a:prstGeom>
        </p:spPr>
      </p:pic>
    </p:spTree>
    <p:extLst>
      <p:ext uri="{BB962C8B-B14F-4D97-AF65-F5344CB8AC3E}">
        <p14:creationId xmlns:p14="http://schemas.microsoft.com/office/powerpoint/2010/main" val="958533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Chatbot</a:t>
            </a:r>
          </a:p>
        </p:txBody>
      </p:sp>
      <p:pic>
        <p:nvPicPr>
          <p:cNvPr id="6" name="Picture 5">
            <a:extLst>
              <a:ext uri="{FF2B5EF4-FFF2-40B4-BE49-F238E27FC236}">
                <a16:creationId xmlns:a16="http://schemas.microsoft.com/office/drawing/2014/main" id="{6BF2DBC9-96A6-42D6-84DC-5465C5900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785" y="1481760"/>
            <a:ext cx="8657799" cy="4870011"/>
          </a:xfrm>
          <a:prstGeom prst="rect">
            <a:avLst/>
          </a:prstGeom>
        </p:spPr>
      </p:pic>
    </p:spTree>
    <p:extLst>
      <p:ext uri="{BB962C8B-B14F-4D97-AF65-F5344CB8AC3E}">
        <p14:creationId xmlns:p14="http://schemas.microsoft.com/office/powerpoint/2010/main" val="4105593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fontScale="92500" lnSpcReduction="10000"/>
          </a:bodyPr>
          <a:lstStyle/>
          <a:p>
            <a:pPr marL="577850" indent="-577850">
              <a:buNone/>
            </a:pPr>
            <a:r>
              <a:rPr lang="en-US" sz="2600" dirty="0"/>
              <a:t>[1]. S. Karthikeyan, R. Kumar, and P. Rajesh, “Machine Learning-Based Cyber-Attack Detection in Wireless Sensor Networks,” </a:t>
            </a:r>
            <a:r>
              <a:rPr lang="en-US" sz="2600" i="1" dirty="0"/>
              <a:t>International Journal of Research in Engineering and Technology</a:t>
            </a:r>
            <a:r>
              <a:rPr lang="en-US" sz="2600" dirty="0"/>
              <a:t>, vol. 12, pp. 45–50, 2025.</a:t>
            </a:r>
          </a:p>
          <a:p>
            <a:pPr marL="577850" indent="-577850">
              <a:buNone/>
            </a:pPr>
            <a:r>
              <a:rPr lang="en-IN" sz="2600" dirty="0"/>
              <a:t>[2]. M. Al-</a:t>
            </a:r>
            <a:r>
              <a:rPr lang="en-IN" sz="2600" dirty="0" err="1"/>
              <a:t>Akhras</a:t>
            </a:r>
            <a:r>
              <a:rPr lang="en-IN" sz="2600" dirty="0"/>
              <a:t>, M. Al-</a:t>
            </a:r>
            <a:r>
              <a:rPr lang="en-IN" sz="2600" dirty="0" err="1"/>
              <a:t>Kasasbeh</a:t>
            </a:r>
            <a:r>
              <a:rPr lang="en-IN" sz="2600" dirty="0"/>
              <a:t>, and I. </a:t>
            </a:r>
            <a:r>
              <a:rPr lang="en-IN" sz="2600" dirty="0" err="1"/>
              <a:t>Almomani</a:t>
            </a:r>
            <a:r>
              <a:rPr lang="en-IN" sz="2600" dirty="0"/>
              <a:t>, “Evaluation of Machine Learning Algorithms for Intrusion Detection in Wireless Sensor Networks,” </a:t>
            </a:r>
            <a:r>
              <a:rPr lang="en-IN" sz="2600" i="1" dirty="0"/>
              <a:t>International Journal of Advanced Computer Science and Applications</a:t>
            </a:r>
            <a:r>
              <a:rPr lang="en-IN" sz="2600" dirty="0"/>
              <a:t>, vol. 12, pp. 300–308, 2021.</a:t>
            </a:r>
          </a:p>
          <a:p>
            <a:pPr marL="577850" indent="-577850">
              <a:buNone/>
            </a:pPr>
            <a:r>
              <a:rPr lang="en-US" sz="2600" dirty="0"/>
              <a:t>[3]. A. A. Al-</a:t>
            </a:r>
            <a:r>
              <a:rPr lang="en-US" sz="2600" dirty="0" err="1"/>
              <a:t>Quayed</a:t>
            </a:r>
            <a:r>
              <a:rPr lang="en-US" sz="2600" dirty="0"/>
              <a:t>, M. Al-</a:t>
            </a:r>
            <a:r>
              <a:rPr lang="en-US" sz="2600" dirty="0" err="1"/>
              <a:t>Hubaishi</a:t>
            </a:r>
            <a:r>
              <a:rPr lang="en-US" sz="2600" dirty="0"/>
              <a:t>, and S. A. Khan, “A Situation-Based Predictive Approach for Cybersecurity Intrusion Detection and Prevention Using Machine Learning and Deep Learning Algorithms in Wireless Sensor Networks of Industry 4.0,” </a:t>
            </a:r>
            <a:r>
              <a:rPr lang="en-US" sz="2600" i="1" dirty="0"/>
              <a:t>IEEE Access</a:t>
            </a:r>
            <a:r>
              <a:rPr lang="en-US" sz="2600" dirty="0"/>
              <a:t>, vol. 12, pp. 1–15, 2024.</a:t>
            </a:r>
          </a:p>
          <a:p>
            <a:pPr marL="577850" indent="-577850">
              <a:buNone/>
            </a:pPr>
            <a:r>
              <a:rPr lang="en-IN" sz="2600" dirty="0"/>
              <a:t>[4]. </a:t>
            </a:r>
            <a:r>
              <a:rPr lang="en-US" sz="2600" dirty="0"/>
              <a:t>R. </a:t>
            </a:r>
            <a:r>
              <a:rPr lang="en-US" sz="2600" dirty="0" err="1"/>
              <a:t>Hawi</a:t>
            </a:r>
            <a:r>
              <a:rPr lang="en-US" sz="2600" dirty="0"/>
              <a:t>, J. Karam, and H. Nassar, “Unveiling the Hidden Threat: How Wireless Networks Fuel Serious Cyber Attacks,” </a:t>
            </a:r>
            <a:r>
              <a:rPr lang="en-US" sz="2600" i="1" dirty="0"/>
              <a:t>Journal of Information Security and Applications</a:t>
            </a:r>
            <a:r>
              <a:rPr lang="en-US" sz="2600" dirty="0"/>
              <a:t>, vol. 78, pp. 1–10, 2024</a:t>
            </a:r>
            <a:r>
              <a:rPr lang="en-US" sz="2400" dirty="0"/>
              <a:t>.</a:t>
            </a:r>
          </a:p>
          <a:p>
            <a:pPr marL="577850" indent="-577850">
              <a:buNone/>
            </a:pPr>
            <a:r>
              <a:rPr lang="en-IN" sz="2600" dirty="0"/>
              <a:t>[5]. </a:t>
            </a:r>
            <a:r>
              <a:rPr lang="en-US" sz="2600" dirty="0"/>
              <a:t>T. </a:t>
            </a:r>
            <a:r>
              <a:rPr lang="en-US" sz="2600" dirty="0" err="1"/>
              <a:t>Zhukabayeva</a:t>
            </a:r>
            <a:r>
              <a:rPr lang="en-US" sz="2600" dirty="0"/>
              <a:t>, A. </a:t>
            </a:r>
            <a:r>
              <a:rPr lang="en-US" sz="2600" dirty="0" err="1"/>
              <a:t>Buja</a:t>
            </a:r>
            <a:r>
              <a:rPr lang="en-US" sz="2600" dirty="0"/>
              <a:t>, and M. </a:t>
            </a:r>
            <a:r>
              <a:rPr lang="en-US" sz="2600" dirty="0" err="1"/>
              <a:t>Pacolli</a:t>
            </a:r>
            <a:r>
              <a:rPr lang="en-US" sz="2600" dirty="0"/>
              <a:t>, “Detecting Network Security Incidents in Wireless Sensor Networks Using Machine Learning,” </a:t>
            </a:r>
            <a:r>
              <a:rPr lang="en-US" sz="2600" i="1" dirty="0"/>
              <a:t>Indonesian Journal of Electrical Engineering and Computer Science</a:t>
            </a:r>
            <a:r>
              <a:rPr lang="en-US" sz="2600" dirty="0"/>
              <a:t>, vol. 37, no. 3, pp. 1650–1660, Mar. 2025. </a:t>
            </a:r>
            <a:endParaRPr lang="en-IN" sz="2600" dirty="0"/>
          </a:p>
        </p:txBody>
      </p:sp>
      <p:sp>
        <p:nvSpPr>
          <p:cNvPr id="5" name="Rectangle 4">
            <a:extLst>
              <a:ext uri="{FF2B5EF4-FFF2-40B4-BE49-F238E27FC236}">
                <a16:creationId xmlns:a16="http://schemas.microsoft.com/office/drawing/2014/main" id="{2EBF2478-BFA7-4CC8-8FFC-7496B1D79DCA}"/>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GitHub Link</a:t>
            </a:r>
          </a:p>
        </p:txBody>
      </p:sp>
      <p:sp>
        <p:nvSpPr>
          <p:cNvPr id="3" name="Content Placeholder 2"/>
          <p:cNvSpPr>
            <a:spLocks noGrp="1"/>
          </p:cNvSpPr>
          <p:nvPr>
            <p:ph idx="1"/>
          </p:nvPr>
        </p:nvSpPr>
        <p:spPr/>
        <p:txBody>
          <a:bodyPr>
            <a:normAutofit/>
          </a:bodyPr>
          <a:lstStyle/>
          <a:p>
            <a:pPr marL="577850" indent="-577850">
              <a:buNone/>
            </a:pPr>
            <a:r>
              <a:rPr lang="en-US" sz="2400" dirty="0">
                <a:latin typeface="Times New Roman"/>
                <a:cs typeface="Times New Roman"/>
              </a:rPr>
              <a:t>GITHUB link: </a:t>
            </a:r>
          </a:p>
          <a:p>
            <a:pPr marL="577850" indent="-577850">
              <a:buNone/>
            </a:pPr>
            <a:r>
              <a:rPr lang="en-US" sz="2400" dirty="0">
                <a:latin typeface="Times New Roman"/>
                <a:cs typeface="Times New Roman"/>
              </a:rPr>
              <a:t>            </a:t>
            </a:r>
            <a:r>
              <a:rPr lang="en-US" sz="2400" dirty="0">
                <a:latin typeface="Times New Roman"/>
                <a:cs typeface="Times New Roman"/>
                <a:hlinkClick r:id="rId2"/>
              </a:rPr>
              <a:t>https://github.com/LakshmiMoksha/CSD-2025-2026-Batch-A-10</a:t>
            </a:r>
            <a:endParaRPr lang="en-IN" sz="2400" dirty="0"/>
          </a:p>
        </p:txBody>
      </p:sp>
      <p:pic>
        <p:nvPicPr>
          <p:cNvPr id="4" name="Picture 3">
            <a:extLst>
              <a:ext uri="{FF2B5EF4-FFF2-40B4-BE49-F238E27FC236}">
                <a16:creationId xmlns:a16="http://schemas.microsoft.com/office/drawing/2014/main" id="{8A6C91DD-3E11-4ECC-888E-49A9C2FE5215}"/>
              </a:ext>
            </a:extLst>
          </p:cNvPr>
          <p:cNvPicPr>
            <a:picLocks noChangeAspect="1"/>
          </p:cNvPicPr>
          <p:nvPr/>
        </p:nvPicPr>
        <p:blipFill>
          <a:blip r:embed="rId3"/>
          <a:stretch>
            <a:fillRect/>
          </a:stretch>
        </p:blipFill>
        <p:spPr>
          <a:xfrm>
            <a:off x="2623128" y="2028768"/>
            <a:ext cx="7592291" cy="4270664"/>
          </a:xfrm>
          <a:prstGeom prst="rect">
            <a:avLst/>
          </a:prstGeom>
        </p:spPr>
      </p:pic>
    </p:spTree>
    <p:extLst>
      <p:ext uri="{BB962C8B-B14F-4D97-AF65-F5344CB8AC3E}">
        <p14:creationId xmlns:p14="http://schemas.microsoft.com/office/powerpoint/2010/main" val="2812413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TotalTime>
  <Words>2237</Words>
  <Application>Microsoft Office PowerPoint</Application>
  <PresentationFormat>Widescreen</PresentationFormat>
  <Paragraphs>208</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Courier New</vt:lpstr>
      <vt:lpstr>Times New Roman</vt:lpstr>
      <vt:lpstr>Wingdings</vt:lpstr>
      <vt:lpstr>Custom Design</vt:lpstr>
      <vt:lpstr>PowerPoint Presentation</vt:lpstr>
      <vt:lpstr>Analyzing Cyber Attacks In WSN using Ensemble Techniques</vt:lpstr>
      <vt:lpstr>Contents</vt:lpstr>
      <vt:lpstr>Abstract</vt:lpstr>
      <vt:lpstr>Problem Statement</vt:lpstr>
      <vt:lpstr>Objectives of Project</vt:lpstr>
      <vt:lpstr>Literature Survey for first objective</vt:lpstr>
      <vt:lpstr>Literature Survey for second objective</vt:lpstr>
      <vt:lpstr>Proposed work</vt:lpstr>
      <vt:lpstr>Introduction</vt:lpstr>
      <vt:lpstr>Existing System</vt:lpstr>
      <vt:lpstr>Proposed System</vt:lpstr>
      <vt:lpstr>Planning &amp; Design</vt:lpstr>
      <vt:lpstr>Planning &amp; Design</vt:lpstr>
      <vt:lpstr>Requirements</vt:lpstr>
      <vt:lpstr>Requirements</vt:lpstr>
      <vt:lpstr>Modules</vt:lpstr>
      <vt:lpstr>UML Diagrams</vt:lpstr>
      <vt:lpstr>Data Flow Diagram</vt:lpstr>
      <vt:lpstr>Data Flow Diagram</vt:lpstr>
      <vt:lpstr>Sample Code</vt:lpstr>
      <vt:lpstr>Sample Code</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References</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lakshmi moksha</cp:lastModifiedBy>
  <cp:revision>186</cp:revision>
  <dcterms:created xsi:type="dcterms:W3CDTF">2019-06-11T05:35:00Z</dcterms:created>
  <dcterms:modified xsi:type="dcterms:W3CDTF">2026-02-05T06:39:51Z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